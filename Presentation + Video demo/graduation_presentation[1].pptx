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8"/>
  </p:notesMasterIdLst>
  <p:sldIdLst>
    <p:sldId id="301" r:id="rId2"/>
    <p:sldId id="266" r:id="rId3"/>
    <p:sldId id="303" r:id="rId4"/>
    <p:sldId id="257" r:id="rId5"/>
    <p:sldId id="256" r:id="rId6"/>
    <p:sldId id="267" r:id="rId7"/>
    <p:sldId id="300" r:id="rId8"/>
    <p:sldId id="287" r:id="rId9"/>
    <p:sldId id="304" r:id="rId10"/>
    <p:sldId id="305" r:id="rId11"/>
    <p:sldId id="306" r:id="rId12"/>
    <p:sldId id="307" r:id="rId13"/>
    <p:sldId id="308" r:id="rId14"/>
    <p:sldId id="309" r:id="rId15"/>
    <p:sldId id="261" r:id="rId16"/>
    <p:sldId id="262" r:id="rId17"/>
    <p:sldId id="289" r:id="rId18"/>
    <p:sldId id="290" r:id="rId19"/>
    <p:sldId id="291" r:id="rId20"/>
    <p:sldId id="292" r:id="rId21"/>
    <p:sldId id="288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268" r:id="rId30"/>
    <p:sldId id="269" r:id="rId31"/>
    <p:sldId id="270" r:id="rId32"/>
    <p:sldId id="264" r:id="rId33"/>
    <p:sldId id="271" r:id="rId34"/>
    <p:sldId id="272" r:id="rId35"/>
    <p:sldId id="273" r:id="rId36"/>
    <p:sldId id="274" r:id="rId37"/>
    <p:sldId id="275" r:id="rId38"/>
    <p:sldId id="276" r:id="rId39"/>
    <p:sldId id="277" r:id="rId40"/>
    <p:sldId id="278" r:id="rId41"/>
    <p:sldId id="279" r:id="rId42"/>
    <p:sldId id="280" r:id="rId43"/>
    <p:sldId id="281" r:id="rId44"/>
    <p:sldId id="282" r:id="rId45"/>
    <p:sldId id="302" r:id="rId46"/>
    <p:sldId id="265" r:id="rId47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ACBB"/>
    <a:srgbClr val="62F1F9"/>
    <a:srgbClr val="058FFF"/>
    <a:srgbClr val="09B3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48" d="100"/>
          <a:sy n="48" d="100"/>
        </p:scale>
        <p:origin x="636" y="3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E03EBB-8FDF-4800-BE2A-5BE2DFF73D59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D71315-0561-45B5-A84E-2C4DD1AB285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D71315-0561-45B5-A84E-2C4DD1AB2859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293114" y="565634"/>
            <a:ext cx="397341" cy="2899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293114" y="657737"/>
            <a:ext cx="397341" cy="2899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7690481" y="8660782"/>
            <a:ext cx="597517" cy="59751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26407" y="518308"/>
            <a:ext cx="1085850" cy="208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png"/><Relationship Id="rId7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5" Type="http://schemas.microsoft.com/office/2007/relationships/hdphoto" Target="../media/hdphoto1.wdp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46707" y="2095500"/>
            <a:ext cx="2394585" cy="2540000"/>
          </a:xfrm>
          <a:custGeom>
            <a:avLst/>
            <a:gdLst/>
            <a:ahLst/>
            <a:cxnLst/>
            <a:rect l="l" t="t" r="r" b="b"/>
            <a:pathLst>
              <a:path w="2394584" h="2540000">
                <a:moveTo>
                  <a:pt x="520433" y="1676400"/>
                </a:moveTo>
                <a:lnTo>
                  <a:pt x="487908" y="1625600"/>
                </a:lnTo>
                <a:lnTo>
                  <a:pt x="485673" y="1622907"/>
                </a:lnTo>
                <a:lnTo>
                  <a:pt x="493483" y="1638300"/>
                </a:lnTo>
                <a:lnTo>
                  <a:pt x="520433" y="1676400"/>
                </a:lnTo>
                <a:close/>
              </a:path>
              <a:path w="2394584" h="2540000">
                <a:moveTo>
                  <a:pt x="1557820" y="1084160"/>
                </a:moveTo>
                <a:lnTo>
                  <a:pt x="1554886" y="1070051"/>
                </a:lnTo>
                <a:lnTo>
                  <a:pt x="1547126" y="1058519"/>
                </a:lnTo>
                <a:lnTo>
                  <a:pt x="1535696" y="1050747"/>
                </a:lnTo>
                <a:lnTo>
                  <a:pt x="1521726" y="1047902"/>
                </a:lnTo>
                <a:lnTo>
                  <a:pt x="1471714" y="1047902"/>
                </a:lnTo>
                <a:lnTo>
                  <a:pt x="1471714" y="925068"/>
                </a:lnTo>
                <a:lnTo>
                  <a:pt x="1467319" y="875017"/>
                </a:lnTo>
                <a:lnTo>
                  <a:pt x="1454518" y="827887"/>
                </a:lnTo>
                <a:lnTo>
                  <a:pt x="1434122" y="784466"/>
                </a:lnTo>
                <a:lnTo>
                  <a:pt x="1406893" y="745553"/>
                </a:lnTo>
                <a:lnTo>
                  <a:pt x="1400111" y="738708"/>
                </a:lnTo>
                <a:lnTo>
                  <a:pt x="1400111" y="925068"/>
                </a:lnTo>
                <a:lnTo>
                  <a:pt x="1400111" y="1047902"/>
                </a:lnTo>
                <a:lnTo>
                  <a:pt x="1273009" y="1047902"/>
                </a:lnTo>
                <a:lnTo>
                  <a:pt x="1273009" y="1299311"/>
                </a:lnTo>
                <a:lnTo>
                  <a:pt x="1270215" y="1320901"/>
                </a:lnTo>
                <a:lnTo>
                  <a:pt x="1261821" y="1340205"/>
                </a:lnTo>
                <a:lnTo>
                  <a:pt x="1248727" y="1356347"/>
                </a:lnTo>
                <a:lnTo>
                  <a:pt x="1231811" y="1368463"/>
                </a:lnTo>
                <a:lnTo>
                  <a:pt x="1231811" y="1463751"/>
                </a:lnTo>
                <a:lnTo>
                  <a:pt x="1228991" y="1477860"/>
                </a:lnTo>
                <a:lnTo>
                  <a:pt x="1221295" y="1489379"/>
                </a:lnTo>
                <a:lnTo>
                  <a:pt x="1209878" y="1497152"/>
                </a:lnTo>
                <a:lnTo>
                  <a:pt x="1195920" y="1500009"/>
                </a:lnTo>
                <a:lnTo>
                  <a:pt x="1181950" y="1497152"/>
                </a:lnTo>
                <a:lnTo>
                  <a:pt x="1170533" y="1489379"/>
                </a:lnTo>
                <a:lnTo>
                  <a:pt x="1162837" y="1477860"/>
                </a:lnTo>
                <a:lnTo>
                  <a:pt x="1160018" y="1463751"/>
                </a:lnTo>
                <a:lnTo>
                  <a:pt x="1160018" y="1368463"/>
                </a:lnTo>
                <a:lnTo>
                  <a:pt x="1143088" y="1356347"/>
                </a:lnTo>
                <a:lnTo>
                  <a:pt x="1129957" y="1340205"/>
                </a:lnTo>
                <a:lnTo>
                  <a:pt x="1121460" y="1320901"/>
                </a:lnTo>
                <a:lnTo>
                  <a:pt x="1118438" y="1299311"/>
                </a:lnTo>
                <a:lnTo>
                  <a:pt x="1124521" y="1268895"/>
                </a:lnTo>
                <a:lnTo>
                  <a:pt x="1141120" y="1244092"/>
                </a:lnTo>
                <a:lnTo>
                  <a:pt x="1165682" y="1227378"/>
                </a:lnTo>
                <a:lnTo>
                  <a:pt x="1195717" y="1221257"/>
                </a:lnTo>
                <a:lnTo>
                  <a:pt x="1225702" y="1227378"/>
                </a:lnTo>
                <a:lnTo>
                  <a:pt x="1250289" y="1244092"/>
                </a:lnTo>
                <a:lnTo>
                  <a:pt x="1266888" y="1268895"/>
                </a:lnTo>
                <a:lnTo>
                  <a:pt x="1273009" y="1299311"/>
                </a:lnTo>
                <a:lnTo>
                  <a:pt x="1273009" y="1047902"/>
                </a:lnTo>
                <a:lnTo>
                  <a:pt x="991717" y="1047902"/>
                </a:lnTo>
                <a:lnTo>
                  <a:pt x="991717" y="925068"/>
                </a:lnTo>
                <a:lnTo>
                  <a:pt x="997115" y="877836"/>
                </a:lnTo>
                <a:lnTo>
                  <a:pt x="1012507" y="834440"/>
                </a:lnTo>
                <a:lnTo>
                  <a:pt x="1036637" y="796150"/>
                </a:lnTo>
                <a:lnTo>
                  <a:pt x="1068273" y="764184"/>
                </a:lnTo>
                <a:lnTo>
                  <a:pt x="1106195" y="739813"/>
                </a:lnTo>
                <a:lnTo>
                  <a:pt x="1149146" y="724281"/>
                </a:lnTo>
                <a:lnTo>
                  <a:pt x="1195920" y="718820"/>
                </a:lnTo>
                <a:lnTo>
                  <a:pt x="1242682" y="724281"/>
                </a:lnTo>
                <a:lnTo>
                  <a:pt x="1285633" y="739813"/>
                </a:lnTo>
                <a:lnTo>
                  <a:pt x="1323555" y="764184"/>
                </a:lnTo>
                <a:lnTo>
                  <a:pt x="1355191" y="796150"/>
                </a:lnTo>
                <a:lnTo>
                  <a:pt x="1379321" y="834440"/>
                </a:lnTo>
                <a:lnTo>
                  <a:pt x="1394714" y="877836"/>
                </a:lnTo>
                <a:lnTo>
                  <a:pt x="1400111" y="925068"/>
                </a:lnTo>
                <a:lnTo>
                  <a:pt x="1400111" y="738708"/>
                </a:lnTo>
                <a:lnTo>
                  <a:pt x="1380439" y="718820"/>
                </a:lnTo>
                <a:lnTo>
                  <a:pt x="1373632" y="711936"/>
                </a:lnTo>
                <a:lnTo>
                  <a:pt x="1335112" y="684415"/>
                </a:lnTo>
                <a:lnTo>
                  <a:pt x="1292136" y="663778"/>
                </a:lnTo>
                <a:lnTo>
                  <a:pt x="1245476" y="650811"/>
                </a:lnTo>
                <a:lnTo>
                  <a:pt x="1195920" y="646315"/>
                </a:lnTo>
                <a:lnTo>
                  <a:pt x="1146365" y="650811"/>
                </a:lnTo>
                <a:lnTo>
                  <a:pt x="1099693" y="663778"/>
                </a:lnTo>
                <a:lnTo>
                  <a:pt x="1056716" y="684415"/>
                </a:lnTo>
                <a:lnTo>
                  <a:pt x="1018184" y="711936"/>
                </a:lnTo>
                <a:lnTo>
                  <a:pt x="984897" y="745553"/>
                </a:lnTo>
                <a:lnTo>
                  <a:pt x="957656" y="784466"/>
                </a:lnTo>
                <a:lnTo>
                  <a:pt x="937221" y="827887"/>
                </a:lnTo>
                <a:lnTo>
                  <a:pt x="924382" y="875017"/>
                </a:lnTo>
                <a:lnTo>
                  <a:pt x="919924" y="925068"/>
                </a:lnTo>
                <a:lnTo>
                  <a:pt x="919924" y="1047902"/>
                </a:lnTo>
                <a:lnTo>
                  <a:pt x="870102" y="1047902"/>
                </a:lnTo>
                <a:lnTo>
                  <a:pt x="856132" y="1050747"/>
                </a:lnTo>
                <a:lnTo>
                  <a:pt x="844727" y="1058519"/>
                </a:lnTo>
                <a:lnTo>
                  <a:pt x="837031" y="1070051"/>
                </a:lnTo>
                <a:lnTo>
                  <a:pt x="834199" y="1084160"/>
                </a:lnTo>
                <a:lnTo>
                  <a:pt x="834199" y="1600847"/>
                </a:lnTo>
                <a:lnTo>
                  <a:pt x="837006" y="1614754"/>
                </a:lnTo>
                <a:lnTo>
                  <a:pt x="844702" y="1626285"/>
                </a:lnTo>
                <a:lnTo>
                  <a:pt x="856132" y="1634058"/>
                </a:lnTo>
                <a:lnTo>
                  <a:pt x="870102" y="1636915"/>
                </a:lnTo>
                <a:lnTo>
                  <a:pt x="1521929" y="1636915"/>
                </a:lnTo>
                <a:lnTo>
                  <a:pt x="1555000" y="1614754"/>
                </a:lnTo>
                <a:lnTo>
                  <a:pt x="1557820" y="1500009"/>
                </a:lnTo>
                <a:lnTo>
                  <a:pt x="1557820" y="1221257"/>
                </a:lnTo>
                <a:lnTo>
                  <a:pt x="1557820" y="1084160"/>
                </a:lnTo>
                <a:close/>
              </a:path>
              <a:path w="2394584" h="2540000">
                <a:moveTo>
                  <a:pt x="2186013" y="584200"/>
                </a:moveTo>
                <a:lnTo>
                  <a:pt x="2185098" y="533400"/>
                </a:lnTo>
                <a:lnTo>
                  <a:pt x="2183219" y="482600"/>
                </a:lnTo>
                <a:lnTo>
                  <a:pt x="2181796" y="457200"/>
                </a:lnTo>
                <a:lnTo>
                  <a:pt x="2180996" y="445274"/>
                </a:lnTo>
                <a:lnTo>
                  <a:pt x="2182749" y="482600"/>
                </a:lnTo>
                <a:lnTo>
                  <a:pt x="2183955" y="533400"/>
                </a:lnTo>
                <a:lnTo>
                  <a:pt x="2183981" y="584200"/>
                </a:lnTo>
                <a:lnTo>
                  <a:pt x="2182838" y="635000"/>
                </a:lnTo>
                <a:lnTo>
                  <a:pt x="2180513" y="698500"/>
                </a:lnTo>
                <a:lnTo>
                  <a:pt x="2177008" y="749300"/>
                </a:lnTo>
                <a:lnTo>
                  <a:pt x="2172322" y="800100"/>
                </a:lnTo>
                <a:lnTo>
                  <a:pt x="2166455" y="850900"/>
                </a:lnTo>
                <a:lnTo>
                  <a:pt x="2159406" y="901700"/>
                </a:lnTo>
                <a:lnTo>
                  <a:pt x="2151176" y="952500"/>
                </a:lnTo>
                <a:lnTo>
                  <a:pt x="2141766" y="1003300"/>
                </a:lnTo>
                <a:lnTo>
                  <a:pt x="2131174" y="1054100"/>
                </a:lnTo>
                <a:lnTo>
                  <a:pt x="2119401" y="1104900"/>
                </a:lnTo>
                <a:lnTo>
                  <a:pt x="2106434" y="1155700"/>
                </a:lnTo>
                <a:lnTo>
                  <a:pt x="2092286" y="1206500"/>
                </a:lnTo>
                <a:lnTo>
                  <a:pt x="2076945" y="1244600"/>
                </a:lnTo>
                <a:lnTo>
                  <a:pt x="2061222" y="1295400"/>
                </a:lnTo>
                <a:lnTo>
                  <a:pt x="2044293" y="1346200"/>
                </a:lnTo>
                <a:lnTo>
                  <a:pt x="2026183" y="1384300"/>
                </a:lnTo>
                <a:lnTo>
                  <a:pt x="2006917" y="1435100"/>
                </a:lnTo>
                <a:lnTo>
                  <a:pt x="1986508" y="1473200"/>
                </a:lnTo>
                <a:lnTo>
                  <a:pt x="1964969" y="1524000"/>
                </a:lnTo>
                <a:lnTo>
                  <a:pt x="1942338" y="1562100"/>
                </a:lnTo>
                <a:lnTo>
                  <a:pt x="1918601" y="1612900"/>
                </a:lnTo>
                <a:lnTo>
                  <a:pt x="1893811" y="1651000"/>
                </a:lnTo>
                <a:lnTo>
                  <a:pt x="1867979" y="1689100"/>
                </a:lnTo>
                <a:lnTo>
                  <a:pt x="1841106" y="1739900"/>
                </a:lnTo>
                <a:lnTo>
                  <a:pt x="1813217" y="1778000"/>
                </a:lnTo>
                <a:lnTo>
                  <a:pt x="1784350" y="1816100"/>
                </a:lnTo>
                <a:lnTo>
                  <a:pt x="1754492" y="1854200"/>
                </a:lnTo>
                <a:lnTo>
                  <a:pt x="1723694" y="1892300"/>
                </a:lnTo>
                <a:lnTo>
                  <a:pt x="1691957" y="1930400"/>
                </a:lnTo>
                <a:lnTo>
                  <a:pt x="1659305" y="1968500"/>
                </a:lnTo>
                <a:lnTo>
                  <a:pt x="1625739" y="2006600"/>
                </a:lnTo>
                <a:lnTo>
                  <a:pt x="1591310" y="2044700"/>
                </a:lnTo>
                <a:lnTo>
                  <a:pt x="1556016" y="2070100"/>
                </a:lnTo>
                <a:lnTo>
                  <a:pt x="1519872" y="2108200"/>
                </a:lnTo>
                <a:lnTo>
                  <a:pt x="1482915" y="2133600"/>
                </a:lnTo>
                <a:lnTo>
                  <a:pt x="1445145" y="2171700"/>
                </a:lnTo>
                <a:lnTo>
                  <a:pt x="1406601" y="2197100"/>
                </a:lnTo>
                <a:lnTo>
                  <a:pt x="1367282" y="2235200"/>
                </a:lnTo>
                <a:lnTo>
                  <a:pt x="1327213" y="2260600"/>
                </a:lnTo>
                <a:lnTo>
                  <a:pt x="1266139" y="2298700"/>
                </a:lnTo>
                <a:lnTo>
                  <a:pt x="1203159" y="2336800"/>
                </a:lnTo>
                <a:lnTo>
                  <a:pt x="1160310" y="2311400"/>
                </a:lnTo>
                <a:lnTo>
                  <a:pt x="1076363" y="2260600"/>
                </a:lnTo>
                <a:lnTo>
                  <a:pt x="994803" y="2209800"/>
                </a:lnTo>
                <a:lnTo>
                  <a:pt x="954951" y="2171700"/>
                </a:lnTo>
                <a:lnTo>
                  <a:pt x="915758" y="2146300"/>
                </a:lnTo>
                <a:lnTo>
                  <a:pt x="877201" y="2108200"/>
                </a:lnTo>
                <a:lnTo>
                  <a:pt x="839317" y="2082800"/>
                </a:lnTo>
                <a:lnTo>
                  <a:pt x="802119" y="2044700"/>
                </a:lnTo>
                <a:lnTo>
                  <a:pt x="765606" y="2019300"/>
                </a:lnTo>
                <a:lnTo>
                  <a:pt x="729805" y="1981200"/>
                </a:lnTo>
                <a:lnTo>
                  <a:pt x="694728" y="1943100"/>
                </a:lnTo>
                <a:lnTo>
                  <a:pt x="660387" y="1905000"/>
                </a:lnTo>
                <a:lnTo>
                  <a:pt x="626795" y="1866900"/>
                </a:lnTo>
                <a:lnTo>
                  <a:pt x="593966" y="1828800"/>
                </a:lnTo>
                <a:lnTo>
                  <a:pt x="561898" y="1790700"/>
                </a:lnTo>
                <a:lnTo>
                  <a:pt x="530631" y="1752600"/>
                </a:lnTo>
                <a:lnTo>
                  <a:pt x="500164" y="1714500"/>
                </a:lnTo>
                <a:lnTo>
                  <a:pt x="470522" y="1676400"/>
                </a:lnTo>
                <a:lnTo>
                  <a:pt x="441693" y="1638300"/>
                </a:lnTo>
                <a:lnTo>
                  <a:pt x="413727" y="1600200"/>
                </a:lnTo>
                <a:lnTo>
                  <a:pt x="386600" y="1549400"/>
                </a:lnTo>
                <a:lnTo>
                  <a:pt x="360349" y="1511300"/>
                </a:lnTo>
                <a:lnTo>
                  <a:pt x="334429" y="1473200"/>
                </a:lnTo>
                <a:lnTo>
                  <a:pt x="309422" y="1422400"/>
                </a:lnTo>
                <a:lnTo>
                  <a:pt x="285330" y="1384300"/>
                </a:lnTo>
                <a:lnTo>
                  <a:pt x="262178" y="1333500"/>
                </a:lnTo>
                <a:lnTo>
                  <a:pt x="239966" y="1282700"/>
                </a:lnTo>
                <a:lnTo>
                  <a:pt x="218706" y="1244600"/>
                </a:lnTo>
                <a:lnTo>
                  <a:pt x="198399" y="1193800"/>
                </a:lnTo>
                <a:lnTo>
                  <a:pt x="179082" y="1143000"/>
                </a:lnTo>
                <a:lnTo>
                  <a:pt x="160743" y="1104900"/>
                </a:lnTo>
                <a:lnTo>
                  <a:pt x="143395" y="1054100"/>
                </a:lnTo>
                <a:lnTo>
                  <a:pt x="127050" y="1003300"/>
                </a:lnTo>
                <a:lnTo>
                  <a:pt x="111734" y="952500"/>
                </a:lnTo>
                <a:lnTo>
                  <a:pt x="97434" y="901700"/>
                </a:lnTo>
                <a:lnTo>
                  <a:pt x="84162" y="863600"/>
                </a:lnTo>
                <a:lnTo>
                  <a:pt x="71945" y="812800"/>
                </a:lnTo>
                <a:lnTo>
                  <a:pt x="60769" y="762000"/>
                </a:lnTo>
                <a:lnTo>
                  <a:pt x="50673" y="711200"/>
                </a:lnTo>
                <a:lnTo>
                  <a:pt x="41656" y="660400"/>
                </a:lnTo>
                <a:lnTo>
                  <a:pt x="33718" y="609600"/>
                </a:lnTo>
                <a:lnTo>
                  <a:pt x="26873" y="558800"/>
                </a:lnTo>
                <a:lnTo>
                  <a:pt x="21132" y="508000"/>
                </a:lnTo>
                <a:lnTo>
                  <a:pt x="16522" y="457200"/>
                </a:lnTo>
                <a:lnTo>
                  <a:pt x="13030" y="406400"/>
                </a:lnTo>
                <a:lnTo>
                  <a:pt x="10680" y="355600"/>
                </a:lnTo>
                <a:lnTo>
                  <a:pt x="9474" y="304800"/>
                </a:lnTo>
                <a:lnTo>
                  <a:pt x="5626" y="355600"/>
                </a:lnTo>
                <a:lnTo>
                  <a:pt x="2768" y="406400"/>
                </a:lnTo>
                <a:lnTo>
                  <a:pt x="901" y="457200"/>
                </a:lnTo>
                <a:lnTo>
                  <a:pt x="0" y="495300"/>
                </a:lnTo>
                <a:lnTo>
                  <a:pt x="88" y="546100"/>
                </a:lnTo>
                <a:lnTo>
                  <a:pt x="1168" y="596900"/>
                </a:lnTo>
                <a:lnTo>
                  <a:pt x="3213" y="647700"/>
                </a:lnTo>
                <a:lnTo>
                  <a:pt x="6223" y="698500"/>
                </a:lnTo>
                <a:lnTo>
                  <a:pt x="10223" y="749300"/>
                </a:lnTo>
                <a:lnTo>
                  <a:pt x="15189" y="800100"/>
                </a:lnTo>
                <a:lnTo>
                  <a:pt x="21120" y="838200"/>
                </a:lnTo>
                <a:lnTo>
                  <a:pt x="28016" y="889000"/>
                </a:lnTo>
                <a:lnTo>
                  <a:pt x="35890" y="939800"/>
                </a:lnTo>
                <a:lnTo>
                  <a:pt x="44716" y="990600"/>
                </a:lnTo>
                <a:lnTo>
                  <a:pt x="54508" y="1041400"/>
                </a:lnTo>
                <a:lnTo>
                  <a:pt x="65265" y="1079500"/>
                </a:lnTo>
                <a:lnTo>
                  <a:pt x="76974" y="1130300"/>
                </a:lnTo>
                <a:lnTo>
                  <a:pt x="89649" y="1181100"/>
                </a:lnTo>
                <a:lnTo>
                  <a:pt x="103276" y="1219200"/>
                </a:lnTo>
                <a:lnTo>
                  <a:pt x="117843" y="1270000"/>
                </a:lnTo>
                <a:lnTo>
                  <a:pt x="133375" y="1320800"/>
                </a:lnTo>
                <a:lnTo>
                  <a:pt x="149860" y="1358900"/>
                </a:lnTo>
                <a:lnTo>
                  <a:pt x="167284" y="1409700"/>
                </a:lnTo>
                <a:lnTo>
                  <a:pt x="185648" y="1447800"/>
                </a:lnTo>
                <a:lnTo>
                  <a:pt x="204965" y="1498600"/>
                </a:lnTo>
                <a:lnTo>
                  <a:pt x="225234" y="1536700"/>
                </a:lnTo>
                <a:lnTo>
                  <a:pt x="246430" y="1587500"/>
                </a:lnTo>
                <a:lnTo>
                  <a:pt x="268566" y="1625600"/>
                </a:lnTo>
                <a:lnTo>
                  <a:pt x="291642" y="1663700"/>
                </a:lnTo>
                <a:lnTo>
                  <a:pt x="315645" y="1714500"/>
                </a:lnTo>
                <a:lnTo>
                  <a:pt x="340588" y="1752600"/>
                </a:lnTo>
                <a:lnTo>
                  <a:pt x="366458" y="1790700"/>
                </a:lnTo>
                <a:lnTo>
                  <a:pt x="393268" y="1828800"/>
                </a:lnTo>
                <a:lnTo>
                  <a:pt x="420992" y="1866900"/>
                </a:lnTo>
                <a:lnTo>
                  <a:pt x="449656" y="1917700"/>
                </a:lnTo>
                <a:lnTo>
                  <a:pt x="479234" y="1955800"/>
                </a:lnTo>
                <a:lnTo>
                  <a:pt x="509739" y="1993900"/>
                </a:lnTo>
                <a:lnTo>
                  <a:pt x="541159" y="2019300"/>
                </a:lnTo>
                <a:lnTo>
                  <a:pt x="573506" y="2057400"/>
                </a:lnTo>
                <a:lnTo>
                  <a:pt x="606755" y="2095500"/>
                </a:lnTo>
                <a:lnTo>
                  <a:pt x="640930" y="2133600"/>
                </a:lnTo>
                <a:lnTo>
                  <a:pt x="676021" y="2171700"/>
                </a:lnTo>
                <a:lnTo>
                  <a:pt x="712025" y="2197100"/>
                </a:lnTo>
                <a:lnTo>
                  <a:pt x="748931" y="2235200"/>
                </a:lnTo>
                <a:lnTo>
                  <a:pt x="786739" y="2260600"/>
                </a:lnTo>
                <a:lnTo>
                  <a:pt x="825461" y="2298700"/>
                </a:lnTo>
                <a:lnTo>
                  <a:pt x="867803" y="2336800"/>
                </a:lnTo>
                <a:lnTo>
                  <a:pt x="910932" y="2362200"/>
                </a:lnTo>
                <a:lnTo>
                  <a:pt x="954798" y="2400300"/>
                </a:lnTo>
                <a:lnTo>
                  <a:pt x="1044663" y="2451100"/>
                </a:lnTo>
                <a:lnTo>
                  <a:pt x="1090599" y="2476500"/>
                </a:lnTo>
                <a:lnTo>
                  <a:pt x="1126464" y="2501900"/>
                </a:lnTo>
                <a:lnTo>
                  <a:pt x="1148638" y="2514600"/>
                </a:lnTo>
                <a:lnTo>
                  <a:pt x="1174051" y="2527300"/>
                </a:lnTo>
                <a:lnTo>
                  <a:pt x="1203642" y="2540000"/>
                </a:lnTo>
                <a:lnTo>
                  <a:pt x="1203782" y="2540000"/>
                </a:lnTo>
                <a:lnTo>
                  <a:pt x="1244422" y="2514600"/>
                </a:lnTo>
                <a:lnTo>
                  <a:pt x="1284478" y="2476500"/>
                </a:lnTo>
                <a:lnTo>
                  <a:pt x="1323911" y="2451100"/>
                </a:lnTo>
                <a:lnTo>
                  <a:pt x="1362684" y="2413000"/>
                </a:lnTo>
                <a:lnTo>
                  <a:pt x="1400784" y="2387600"/>
                </a:lnTo>
                <a:lnTo>
                  <a:pt x="1438148" y="2349500"/>
                </a:lnTo>
                <a:lnTo>
                  <a:pt x="1476121" y="2311400"/>
                </a:lnTo>
                <a:lnTo>
                  <a:pt x="1513281" y="2273300"/>
                </a:lnTo>
                <a:lnTo>
                  <a:pt x="1549615" y="2235200"/>
                </a:lnTo>
                <a:lnTo>
                  <a:pt x="1585125" y="2197100"/>
                </a:lnTo>
                <a:lnTo>
                  <a:pt x="1619783" y="2159000"/>
                </a:lnTo>
                <a:lnTo>
                  <a:pt x="1653552" y="2120900"/>
                </a:lnTo>
                <a:lnTo>
                  <a:pt x="1686445" y="2082800"/>
                </a:lnTo>
                <a:lnTo>
                  <a:pt x="1718437" y="2032000"/>
                </a:lnTo>
                <a:lnTo>
                  <a:pt x="1749488" y="1993900"/>
                </a:lnTo>
                <a:lnTo>
                  <a:pt x="1779612" y="1955800"/>
                </a:lnTo>
                <a:lnTo>
                  <a:pt x="1808772" y="1905000"/>
                </a:lnTo>
                <a:lnTo>
                  <a:pt x="1836953" y="1866900"/>
                </a:lnTo>
                <a:lnTo>
                  <a:pt x="1864144" y="1816100"/>
                </a:lnTo>
                <a:lnTo>
                  <a:pt x="1888947" y="1778000"/>
                </a:lnTo>
                <a:lnTo>
                  <a:pt x="1912759" y="1727200"/>
                </a:lnTo>
                <a:lnTo>
                  <a:pt x="1935556" y="1689100"/>
                </a:lnTo>
                <a:lnTo>
                  <a:pt x="1957349" y="1638300"/>
                </a:lnTo>
                <a:lnTo>
                  <a:pt x="1978152" y="1600200"/>
                </a:lnTo>
                <a:lnTo>
                  <a:pt x="1997951" y="1549400"/>
                </a:lnTo>
                <a:lnTo>
                  <a:pt x="2016760" y="1511300"/>
                </a:lnTo>
                <a:lnTo>
                  <a:pt x="2034565" y="1460500"/>
                </a:lnTo>
                <a:lnTo>
                  <a:pt x="2051380" y="1409700"/>
                </a:lnTo>
                <a:lnTo>
                  <a:pt x="2067204" y="1371600"/>
                </a:lnTo>
                <a:lnTo>
                  <a:pt x="2082025" y="1320800"/>
                </a:lnTo>
                <a:lnTo>
                  <a:pt x="2095855" y="1270000"/>
                </a:lnTo>
                <a:lnTo>
                  <a:pt x="2108708" y="1219200"/>
                </a:lnTo>
                <a:lnTo>
                  <a:pt x="2120557" y="1181100"/>
                </a:lnTo>
                <a:lnTo>
                  <a:pt x="2131415" y="1130300"/>
                </a:lnTo>
                <a:lnTo>
                  <a:pt x="2141296" y="1079500"/>
                </a:lnTo>
                <a:lnTo>
                  <a:pt x="2150186" y="1028700"/>
                </a:lnTo>
                <a:lnTo>
                  <a:pt x="2158098" y="977900"/>
                </a:lnTo>
                <a:lnTo>
                  <a:pt x="2165019" y="927100"/>
                </a:lnTo>
                <a:lnTo>
                  <a:pt x="2170963" y="876300"/>
                </a:lnTo>
                <a:lnTo>
                  <a:pt x="2175916" y="838200"/>
                </a:lnTo>
                <a:lnTo>
                  <a:pt x="2179891" y="787400"/>
                </a:lnTo>
                <a:lnTo>
                  <a:pt x="2182888" y="736600"/>
                </a:lnTo>
                <a:lnTo>
                  <a:pt x="2184908" y="685800"/>
                </a:lnTo>
                <a:lnTo>
                  <a:pt x="2185949" y="635000"/>
                </a:lnTo>
                <a:lnTo>
                  <a:pt x="2186013" y="584200"/>
                </a:lnTo>
                <a:close/>
              </a:path>
              <a:path w="2394584" h="2540000">
                <a:moveTo>
                  <a:pt x="2383421" y="292061"/>
                </a:moveTo>
                <a:lnTo>
                  <a:pt x="2339403" y="279400"/>
                </a:lnTo>
                <a:lnTo>
                  <a:pt x="2249855" y="228600"/>
                </a:lnTo>
                <a:lnTo>
                  <a:pt x="2204529" y="215900"/>
                </a:lnTo>
                <a:lnTo>
                  <a:pt x="2158860" y="190500"/>
                </a:lnTo>
                <a:lnTo>
                  <a:pt x="2112848" y="177800"/>
                </a:lnTo>
                <a:lnTo>
                  <a:pt x="2066531" y="152400"/>
                </a:lnTo>
                <a:lnTo>
                  <a:pt x="1878380" y="101600"/>
                </a:lnTo>
                <a:lnTo>
                  <a:pt x="1589163" y="25400"/>
                </a:lnTo>
                <a:lnTo>
                  <a:pt x="1540332" y="25400"/>
                </a:lnTo>
                <a:lnTo>
                  <a:pt x="1491361" y="12700"/>
                </a:lnTo>
                <a:lnTo>
                  <a:pt x="1442262" y="12700"/>
                </a:lnTo>
                <a:lnTo>
                  <a:pt x="1393063" y="0"/>
                </a:lnTo>
                <a:lnTo>
                  <a:pt x="997915" y="0"/>
                </a:lnTo>
                <a:lnTo>
                  <a:pt x="948753" y="12700"/>
                </a:lnTo>
                <a:lnTo>
                  <a:pt x="899718" y="12700"/>
                </a:lnTo>
                <a:lnTo>
                  <a:pt x="802055" y="38100"/>
                </a:lnTo>
                <a:lnTo>
                  <a:pt x="753452" y="38100"/>
                </a:lnTo>
                <a:lnTo>
                  <a:pt x="418985" y="127000"/>
                </a:lnTo>
                <a:lnTo>
                  <a:pt x="372198" y="152400"/>
                </a:lnTo>
                <a:lnTo>
                  <a:pt x="279488" y="177800"/>
                </a:lnTo>
                <a:lnTo>
                  <a:pt x="233616" y="203200"/>
                </a:lnTo>
                <a:lnTo>
                  <a:pt x="188061" y="215900"/>
                </a:lnTo>
                <a:lnTo>
                  <a:pt x="98018" y="266700"/>
                </a:lnTo>
                <a:lnTo>
                  <a:pt x="53543" y="279400"/>
                </a:lnTo>
                <a:lnTo>
                  <a:pt x="9474" y="304800"/>
                </a:lnTo>
                <a:lnTo>
                  <a:pt x="14744" y="355600"/>
                </a:lnTo>
                <a:lnTo>
                  <a:pt x="20853" y="406400"/>
                </a:lnTo>
                <a:lnTo>
                  <a:pt x="27813" y="457200"/>
                </a:lnTo>
                <a:lnTo>
                  <a:pt x="35623" y="508000"/>
                </a:lnTo>
                <a:lnTo>
                  <a:pt x="44284" y="558800"/>
                </a:lnTo>
                <a:lnTo>
                  <a:pt x="53797" y="609600"/>
                </a:lnTo>
                <a:lnTo>
                  <a:pt x="64147" y="647700"/>
                </a:lnTo>
                <a:lnTo>
                  <a:pt x="75349" y="698500"/>
                </a:lnTo>
                <a:lnTo>
                  <a:pt x="87401" y="749300"/>
                </a:lnTo>
                <a:lnTo>
                  <a:pt x="100304" y="800100"/>
                </a:lnTo>
                <a:lnTo>
                  <a:pt x="114071" y="850900"/>
                </a:lnTo>
                <a:lnTo>
                  <a:pt x="128676" y="901700"/>
                </a:lnTo>
                <a:lnTo>
                  <a:pt x="144132" y="939800"/>
                </a:lnTo>
                <a:lnTo>
                  <a:pt x="160451" y="990600"/>
                </a:lnTo>
                <a:lnTo>
                  <a:pt x="177609" y="1041400"/>
                </a:lnTo>
                <a:lnTo>
                  <a:pt x="195630" y="1079500"/>
                </a:lnTo>
                <a:lnTo>
                  <a:pt x="214515" y="1130300"/>
                </a:lnTo>
                <a:lnTo>
                  <a:pt x="234238" y="1181100"/>
                </a:lnTo>
                <a:lnTo>
                  <a:pt x="254825" y="1219200"/>
                </a:lnTo>
                <a:lnTo>
                  <a:pt x="276275" y="1270000"/>
                </a:lnTo>
                <a:lnTo>
                  <a:pt x="298577" y="1308100"/>
                </a:lnTo>
                <a:lnTo>
                  <a:pt x="321729" y="1358900"/>
                </a:lnTo>
                <a:lnTo>
                  <a:pt x="345744" y="1397000"/>
                </a:lnTo>
                <a:lnTo>
                  <a:pt x="370624" y="1447800"/>
                </a:lnTo>
                <a:lnTo>
                  <a:pt x="396354" y="1485900"/>
                </a:lnTo>
                <a:lnTo>
                  <a:pt x="425843" y="1536700"/>
                </a:lnTo>
                <a:lnTo>
                  <a:pt x="456374" y="1587500"/>
                </a:lnTo>
                <a:lnTo>
                  <a:pt x="485673" y="1622907"/>
                </a:lnTo>
                <a:lnTo>
                  <a:pt x="467715" y="1587500"/>
                </a:lnTo>
                <a:lnTo>
                  <a:pt x="443141" y="1536700"/>
                </a:lnTo>
                <a:lnTo>
                  <a:pt x="419785" y="1498600"/>
                </a:lnTo>
                <a:lnTo>
                  <a:pt x="397662" y="1447800"/>
                </a:lnTo>
                <a:lnTo>
                  <a:pt x="376809" y="1397000"/>
                </a:lnTo>
                <a:lnTo>
                  <a:pt x="357251" y="1358900"/>
                </a:lnTo>
                <a:lnTo>
                  <a:pt x="338988" y="1308100"/>
                </a:lnTo>
                <a:lnTo>
                  <a:pt x="322072" y="1257300"/>
                </a:lnTo>
                <a:lnTo>
                  <a:pt x="306412" y="1206500"/>
                </a:lnTo>
                <a:lnTo>
                  <a:pt x="291934" y="1155700"/>
                </a:lnTo>
                <a:lnTo>
                  <a:pt x="278650" y="1104900"/>
                </a:lnTo>
                <a:lnTo>
                  <a:pt x="266534" y="1054100"/>
                </a:lnTo>
                <a:lnTo>
                  <a:pt x="255612" y="1003300"/>
                </a:lnTo>
                <a:lnTo>
                  <a:pt x="245872" y="952500"/>
                </a:lnTo>
                <a:lnTo>
                  <a:pt x="237299" y="901700"/>
                </a:lnTo>
                <a:lnTo>
                  <a:pt x="229920" y="850900"/>
                </a:lnTo>
                <a:lnTo>
                  <a:pt x="223710" y="800100"/>
                </a:lnTo>
                <a:lnTo>
                  <a:pt x="218694" y="749300"/>
                </a:lnTo>
                <a:lnTo>
                  <a:pt x="214845" y="698500"/>
                </a:lnTo>
                <a:lnTo>
                  <a:pt x="212178" y="647700"/>
                </a:lnTo>
                <a:lnTo>
                  <a:pt x="210680" y="596900"/>
                </a:lnTo>
                <a:lnTo>
                  <a:pt x="210604" y="584200"/>
                </a:lnTo>
                <a:lnTo>
                  <a:pt x="210375" y="546100"/>
                </a:lnTo>
                <a:lnTo>
                  <a:pt x="211226" y="495300"/>
                </a:lnTo>
                <a:lnTo>
                  <a:pt x="213245" y="445274"/>
                </a:lnTo>
                <a:lnTo>
                  <a:pt x="301967" y="393700"/>
                </a:lnTo>
                <a:lnTo>
                  <a:pt x="439191" y="317500"/>
                </a:lnTo>
                <a:lnTo>
                  <a:pt x="485940" y="304800"/>
                </a:lnTo>
                <a:lnTo>
                  <a:pt x="533158" y="279400"/>
                </a:lnTo>
                <a:lnTo>
                  <a:pt x="580796" y="266700"/>
                </a:lnTo>
                <a:lnTo>
                  <a:pt x="628827" y="241300"/>
                </a:lnTo>
                <a:lnTo>
                  <a:pt x="1024318" y="139700"/>
                </a:lnTo>
                <a:lnTo>
                  <a:pt x="1074737" y="139700"/>
                </a:lnTo>
                <a:lnTo>
                  <a:pt x="1125283" y="127000"/>
                </a:lnTo>
                <a:lnTo>
                  <a:pt x="1175918" y="127000"/>
                </a:lnTo>
                <a:lnTo>
                  <a:pt x="1224953" y="114300"/>
                </a:lnTo>
                <a:lnTo>
                  <a:pt x="1372654" y="114300"/>
                </a:lnTo>
                <a:lnTo>
                  <a:pt x="1422006" y="101600"/>
                </a:lnTo>
                <a:lnTo>
                  <a:pt x="1471383" y="101600"/>
                </a:lnTo>
                <a:lnTo>
                  <a:pt x="1520748" y="114300"/>
                </a:lnTo>
                <a:lnTo>
                  <a:pt x="1668653" y="114300"/>
                </a:lnTo>
                <a:lnTo>
                  <a:pt x="1717802" y="127000"/>
                </a:lnTo>
                <a:lnTo>
                  <a:pt x="1766836" y="127000"/>
                </a:lnTo>
                <a:lnTo>
                  <a:pt x="1815731" y="139700"/>
                </a:lnTo>
                <a:lnTo>
                  <a:pt x="1864461" y="139700"/>
                </a:lnTo>
                <a:lnTo>
                  <a:pt x="2245918" y="241300"/>
                </a:lnTo>
                <a:lnTo>
                  <a:pt x="2292210" y="266700"/>
                </a:lnTo>
                <a:lnTo>
                  <a:pt x="2383421" y="292061"/>
                </a:lnTo>
                <a:close/>
              </a:path>
              <a:path w="2394584" h="2540000">
                <a:moveTo>
                  <a:pt x="2394356" y="546100"/>
                </a:moveTo>
                <a:lnTo>
                  <a:pt x="2394305" y="533400"/>
                </a:lnTo>
                <a:lnTo>
                  <a:pt x="2394216" y="508000"/>
                </a:lnTo>
                <a:lnTo>
                  <a:pt x="2394166" y="495300"/>
                </a:lnTo>
                <a:lnTo>
                  <a:pt x="2393010" y="445274"/>
                </a:lnTo>
                <a:lnTo>
                  <a:pt x="2392959" y="443776"/>
                </a:lnTo>
                <a:lnTo>
                  <a:pt x="2392400" y="430504"/>
                </a:lnTo>
                <a:lnTo>
                  <a:pt x="2390851" y="393700"/>
                </a:lnTo>
                <a:lnTo>
                  <a:pt x="2387714" y="342900"/>
                </a:lnTo>
                <a:lnTo>
                  <a:pt x="2383612" y="292100"/>
                </a:lnTo>
                <a:lnTo>
                  <a:pt x="2383485" y="292074"/>
                </a:lnTo>
                <a:lnTo>
                  <a:pt x="2039442" y="203200"/>
                </a:lnTo>
                <a:lnTo>
                  <a:pt x="1989645" y="203200"/>
                </a:lnTo>
                <a:lnTo>
                  <a:pt x="1889658" y="177800"/>
                </a:lnTo>
                <a:lnTo>
                  <a:pt x="1839468" y="177800"/>
                </a:lnTo>
                <a:lnTo>
                  <a:pt x="1789074" y="165100"/>
                </a:lnTo>
                <a:lnTo>
                  <a:pt x="1738604" y="165100"/>
                </a:lnTo>
                <a:lnTo>
                  <a:pt x="1688084" y="152400"/>
                </a:lnTo>
                <a:lnTo>
                  <a:pt x="1283385" y="152400"/>
                </a:lnTo>
                <a:lnTo>
                  <a:pt x="1232941" y="165100"/>
                </a:lnTo>
                <a:lnTo>
                  <a:pt x="1132319" y="165100"/>
                </a:lnTo>
                <a:lnTo>
                  <a:pt x="1082154" y="177800"/>
                </a:lnTo>
                <a:lnTo>
                  <a:pt x="1032116" y="177800"/>
                </a:lnTo>
                <a:lnTo>
                  <a:pt x="833437" y="228600"/>
                </a:lnTo>
                <a:lnTo>
                  <a:pt x="784212" y="228600"/>
                </a:lnTo>
                <a:lnTo>
                  <a:pt x="686371" y="254000"/>
                </a:lnTo>
                <a:lnTo>
                  <a:pt x="637794" y="279400"/>
                </a:lnTo>
                <a:lnTo>
                  <a:pt x="493585" y="317500"/>
                </a:lnTo>
                <a:lnTo>
                  <a:pt x="446074" y="342900"/>
                </a:lnTo>
                <a:lnTo>
                  <a:pt x="398856" y="355600"/>
                </a:lnTo>
                <a:lnTo>
                  <a:pt x="351955" y="381000"/>
                </a:lnTo>
                <a:lnTo>
                  <a:pt x="305384" y="393700"/>
                </a:lnTo>
                <a:lnTo>
                  <a:pt x="214604" y="443776"/>
                </a:lnTo>
                <a:lnTo>
                  <a:pt x="306285" y="393700"/>
                </a:lnTo>
                <a:lnTo>
                  <a:pt x="400888" y="368300"/>
                </a:lnTo>
                <a:lnTo>
                  <a:pt x="448741" y="342900"/>
                </a:lnTo>
                <a:lnTo>
                  <a:pt x="594258" y="304800"/>
                </a:lnTo>
                <a:lnTo>
                  <a:pt x="643343" y="279400"/>
                </a:lnTo>
                <a:lnTo>
                  <a:pt x="692708" y="279400"/>
                </a:lnTo>
                <a:lnTo>
                  <a:pt x="892314" y="228600"/>
                </a:lnTo>
                <a:lnTo>
                  <a:pt x="942670" y="228600"/>
                </a:lnTo>
                <a:lnTo>
                  <a:pt x="993165" y="215900"/>
                </a:lnTo>
                <a:lnTo>
                  <a:pt x="1094498" y="215900"/>
                </a:lnTo>
                <a:lnTo>
                  <a:pt x="1145298" y="203200"/>
                </a:lnTo>
                <a:lnTo>
                  <a:pt x="1247013" y="203200"/>
                </a:lnTo>
                <a:lnTo>
                  <a:pt x="1297825" y="215900"/>
                </a:lnTo>
                <a:lnTo>
                  <a:pt x="1399197" y="215900"/>
                </a:lnTo>
                <a:lnTo>
                  <a:pt x="1449730" y="228600"/>
                </a:lnTo>
                <a:lnTo>
                  <a:pt x="1500124" y="228600"/>
                </a:lnTo>
                <a:lnTo>
                  <a:pt x="1600428" y="254000"/>
                </a:lnTo>
                <a:lnTo>
                  <a:pt x="1650301" y="254000"/>
                </a:lnTo>
                <a:lnTo>
                  <a:pt x="1847456" y="304800"/>
                </a:lnTo>
                <a:lnTo>
                  <a:pt x="1896059" y="330200"/>
                </a:lnTo>
                <a:lnTo>
                  <a:pt x="1992299" y="355600"/>
                </a:lnTo>
                <a:lnTo>
                  <a:pt x="2039899" y="381000"/>
                </a:lnTo>
                <a:lnTo>
                  <a:pt x="2087130" y="393700"/>
                </a:lnTo>
                <a:lnTo>
                  <a:pt x="2133955" y="419100"/>
                </a:lnTo>
                <a:lnTo>
                  <a:pt x="2180361" y="431800"/>
                </a:lnTo>
                <a:lnTo>
                  <a:pt x="2187168" y="482600"/>
                </a:lnTo>
                <a:lnTo>
                  <a:pt x="2192744" y="533400"/>
                </a:lnTo>
                <a:lnTo>
                  <a:pt x="2197112" y="584200"/>
                </a:lnTo>
                <a:lnTo>
                  <a:pt x="2200275" y="635000"/>
                </a:lnTo>
                <a:lnTo>
                  <a:pt x="2202230" y="685800"/>
                </a:lnTo>
                <a:lnTo>
                  <a:pt x="2202992" y="736600"/>
                </a:lnTo>
                <a:lnTo>
                  <a:pt x="2202878" y="749300"/>
                </a:lnTo>
                <a:lnTo>
                  <a:pt x="2202777" y="762000"/>
                </a:lnTo>
                <a:lnTo>
                  <a:pt x="2200935" y="838200"/>
                </a:lnTo>
                <a:lnTo>
                  <a:pt x="2198128" y="889000"/>
                </a:lnTo>
                <a:lnTo>
                  <a:pt x="2194141" y="939800"/>
                </a:lnTo>
                <a:lnTo>
                  <a:pt x="2188972" y="990600"/>
                </a:lnTo>
                <a:lnTo>
                  <a:pt x="2182634" y="1041400"/>
                </a:lnTo>
                <a:lnTo>
                  <a:pt x="2175141" y="1079500"/>
                </a:lnTo>
                <a:lnTo>
                  <a:pt x="2166467" y="1130300"/>
                </a:lnTo>
                <a:lnTo>
                  <a:pt x="2156650" y="1181100"/>
                </a:lnTo>
                <a:lnTo>
                  <a:pt x="2145665" y="1231900"/>
                </a:lnTo>
                <a:lnTo>
                  <a:pt x="2133536" y="1282700"/>
                </a:lnTo>
                <a:lnTo>
                  <a:pt x="2120265" y="1333500"/>
                </a:lnTo>
                <a:lnTo>
                  <a:pt x="2105850" y="1384300"/>
                </a:lnTo>
                <a:lnTo>
                  <a:pt x="2090305" y="1422400"/>
                </a:lnTo>
                <a:lnTo>
                  <a:pt x="2073617" y="1473200"/>
                </a:lnTo>
                <a:lnTo>
                  <a:pt x="2055812" y="1524000"/>
                </a:lnTo>
                <a:lnTo>
                  <a:pt x="2036876" y="1562100"/>
                </a:lnTo>
                <a:lnTo>
                  <a:pt x="2016823" y="1612900"/>
                </a:lnTo>
                <a:lnTo>
                  <a:pt x="1995665" y="1663700"/>
                </a:lnTo>
                <a:lnTo>
                  <a:pt x="1973376" y="1701800"/>
                </a:lnTo>
                <a:lnTo>
                  <a:pt x="1950986" y="1752600"/>
                </a:lnTo>
                <a:lnTo>
                  <a:pt x="1927479" y="1790700"/>
                </a:lnTo>
                <a:lnTo>
                  <a:pt x="1902904" y="1828800"/>
                </a:lnTo>
                <a:lnTo>
                  <a:pt x="1877301" y="1879600"/>
                </a:lnTo>
                <a:lnTo>
                  <a:pt x="1850682" y="1917700"/>
                </a:lnTo>
                <a:lnTo>
                  <a:pt x="1823085" y="1955800"/>
                </a:lnTo>
                <a:lnTo>
                  <a:pt x="1794548" y="1993900"/>
                </a:lnTo>
                <a:lnTo>
                  <a:pt x="1765109" y="2032000"/>
                </a:lnTo>
                <a:lnTo>
                  <a:pt x="1734769" y="2070100"/>
                </a:lnTo>
                <a:lnTo>
                  <a:pt x="1703590" y="2108200"/>
                </a:lnTo>
                <a:lnTo>
                  <a:pt x="1671599" y="2146300"/>
                </a:lnTo>
                <a:lnTo>
                  <a:pt x="1637284" y="2184400"/>
                </a:lnTo>
                <a:lnTo>
                  <a:pt x="1602066" y="2222500"/>
                </a:lnTo>
                <a:lnTo>
                  <a:pt x="1565960" y="2260600"/>
                </a:lnTo>
                <a:lnTo>
                  <a:pt x="1528978" y="2298700"/>
                </a:lnTo>
                <a:lnTo>
                  <a:pt x="1491145" y="2336800"/>
                </a:lnTo>
                <a:lnTo>
                  <a:pt x="1452486" y="2362200"/>
                </a:lnTo>
                <a:lnTo>
                  <a:pt x="1413014" y="2400300"/>
                </a:lnTo>
                <a:lnTo>
                  <a:pt x="1372755" y="2425700"/>
                </a:lnTo>
                <a:lnTo>
                  <a:pt x="1331734" y="2463800"/>
                </a:lnTo>
                <a:lnTo>
                  <a:pt x="1289977" y="2489200"/>
                </a:lnTo>
                <a:lnTo>
                  <a:pt x="1204290" y="2540000"/>
                </a:lnTo>
                <a:lnTo>
                  <a:pt x="1236294" y="2527300"/>
                </a:lnTo>
                <a:lnTo>
                  <a:pt x="1260119" y="2514600"/>
                </a:lnTo>
                <a:lnTo>
                  <a:pt x="1280617" y="2501900"/>
                </a:lnTo>
                <a:lnTo>
                  <a:pt x="1316342" y="2476500"/>
                </a:lnTo>
                <a:lnTo>
                  <a:pt x="1407172" y="2425700"/>
                </a:lnTo>
                <a:lnTo>
                  <a:pt x="1451584" y="2387600"/>
                </a:lnTo>
                <a:lnTo>
                  <a:pt x="1495285" y="2362200"/>
                </a:lnTo>
                <a:lnTo>
                  <a:pt x="1538236" y="2324100"/>
                </a:lnTo>
                <a:lnTo>
                  <a:pt x="1580413" y="2298700"/>
                </a:lnTo>
                <a:lnTo>
                  <a:pt x="1618945" y="2260600"/>
                </a:lnTo>
                <a:lnTo>
                  <a:pt x="1656562" y="2235200"/>
                </a:lnTo>
                <a:lnTo>
                  <a:pt x="1693252" y="2197100"/>
                </a:lnTo>
                <a:lnTo>
                  <a:pt x="1729041" y="2159000"/>
                </a:lnTo>
                <a:lnTo>
                  <a:pt x="1763903" y="2133600"/>
                </a:lnTo>
                <a:lnTo>
                  <a:pt x="1797837" y="2095500"/>
                </a:lnTo>
                <a:lnTo>
                  <a:pt x="1830870" y="2057400"/>
                </a:lnTo>
                <a:lnTo>
                  <a:pt x="1862963" y="2019300"/>
                </a:lnTo>
                <a:lnTo>
                  <a:pt x="1894141" y="1981200"/>
                </a:lnTo>
                <a:lnTo>
                  <a:pt x="1924380" y="1943100"/>
                </a:lnTo>
                <a:lnTo>
                  <a:pt x="1953704" y="1905000"/>
                </a:lnTo>
                <a:lnTo>
                  <a:pt x="1982089" y="1866900"/>
                </a:lnTo>
                <a:lnTo>
                  <a:pt x="2009546" y="1828800"/>
                </a:lnTo>
                <a:lnTo>
                  <a:pt x="2036076" y="1790700"/>
                </a:lnTo>
                <a:lnTo>
                  <a:pt x="2061667" y="1739900"/>
                </a:lnTo>
                <a:lnTo>
                  <a:pt x="2086330" y="1701800"/>
                </a:lnTo>
                <a:lnTo>
                  <a:pt x="2110054" y="1663700"/>
                </a:lnTo>
                <a:lnTo>
                  <a:pt x="2132838" y="1625600"/>
                </a:lnTo>
                <a:lnTo>
                  <a:pt x="2154682" y="1574800"/>
                </a:lnTo>
                <a:lnTo>
                  <a:pt x="2175573" y="1536700"/>
                </a:lnTo>
                <a:lnTo>
                  <a:pt x="2195538" y="1485900"/>
                </a:lnTo>
                <a:lnTo>
                  <a:pt x="2214549" y="1447800"/>
                </a:lnTo>
                <a:lnTo>
                  <a:pt x="2232622" y="1397000"/>
                </a:lnTo>
                <a:lnTo>
                  <a:pt x="2249741" y="1358900"/>
                </a:lnTo>
                <a:lnTo>
                  <a:pt x="2265908" y="1308100"/>
                </a:lnTo>
                <a:lnTo>
                  <a:pt x="2281136" y="1257300"/>
                </a:lnTo>
                <a:lnTo>
                  <a:pt x="2295398" y="1219200"/>
                </a:lnTo>
                <a:lnTo>
                  <a:pt x="2308720" y="1168400"/>
                </a:lnTo>
                <a:lnTo>
                  <a:pt x="2321077" y="1117600"/>
                </a:lnTo>
                <a:lnTo>
                  <a:pt x="2332482" y="1079500"/>
                </a:lnTo>
                <a:lnTo>
                  <a:pt x="2342934" y="1028700"/>
                </a:lnTo>
                <a:lnTo>
                  <a:pt x="2352421" y="977900"/>
                </a:lnTo>
                <a:lnTo>
                  <a:pt x="2360942" y="927100"/>
                </a:lnTo>
                <a:lnTo>
                  <a:pt x="2368499" y="889000"/>
                </a:lnTo>
                <a:lnTo>
                  <a:pt x="2375103" y="838200"/>
                </a:lnTo>
                <a:lnTo>
                  <a:pt x="2380729" y="787400"/>
                </a:lnTo>
                <a:lnTo>
                  <a:pt x="2385403" y="736600"/>
                </a:lnTo>
                <a:lnTo>
                  <a:pt x="2389098" y="685800"/>
                </a:lnTo>
                <a:lnTo>
                  <a:pt x="2391816" y="635000"/>
                </a:lnTo>
                <a:lnTo>
                  <a:pt x="2393581" y="596900"/>
                </a:lnTo>
                <a:lnTo>
                  <a:pt x="2394356" y="546100"/>
                </a:lnTo>
                <a:close/>
              </a:path>
            </a:pathLst>
          </a:custGeom>
          <a:solidFill>
            <a:srgbClr val="62F1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409598" y="5136545"/>
            <a:ext cx="12287602" cy="2984150"/>
          </a:xfrm>
          <a:prstGeom prst="rect">
            <a:avLst/>
          </a:prstGeom>
        </p:spPr>
        <p:txBody>
          <a:bodyPr vert="horz" wrap="square" lIns="0" tIns="13970" rIns="0" bIns="0" rtlCol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lang="en-US" sz="19300" err="1">
                <a:solidFill>
                  <a:srgbClr val="62F1F9"/>
                </a:solidFill>
                <a:latin typeface="Trebuchet MS" panose="020B0603020202020204"/>
                <a:cs typeface="Trebuchet MS" panose="020B0603020202020204"/>
              </a:rPr>
              <a:t>CyberLabs</a:t>
            </a:r>
            <a:endParaRPr lang="en-US" sz="19300" err="1">
              <a:solidFill>
                <a:srgbClr val="F2F2F2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889343" y="8841172"/>
            <a:ext cx="200025" cy="23304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200" spc="-95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01</a:t>
            </a:r>
            <a:endParaRPr sz="1200">
              <a:latin typeface="Arial Black" panose="020B0A04020102020204"/>
              <a:cs typeface="Arial Black" panose="020B0A04020102020204"/>
            </a:endParaRPr>
          </a:p>
        </p:txBody>
      </p:sp>
      <p:pic>
        <p:nvPicPr>
          <p:cNvPr id="4" name="Picture 3" descr="A blue and black logo&#10;&#10;AI-generated content may be incorrect.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39614" y="69783"/>
            <a:ext cx="1065783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black logo&#10;&#10;AI-generated content may be incorrect.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400" y="30079"/>
            <a:ext cx="1065783" cy="1143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799485" y="8877300"/>
            <a:ext cx="457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  <a:latin typeface="Arial Black" panose="020B0A04020102020204" pitchFamily="34" charset="0"/>
              </a:rPr>
              <a:t>02</a:t>
            </a:r>
          </a:p>
        </p:txBody>
      </p:sp>
      <p:pic>
        <p:nvPicPr>
          <p:cNvPr id="5" name="Picture 4" descr="A person in a hoodie using a computer&#10;&#10;AI-generated content may be incorrect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71625"/>
            <a:ext cx="8191500" cy="71437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extBox 5"/>
          <p:cNvSpPr txBox="1"/>
          <p:nvPr/>
        </p:nvSpPr>
        <p:spPr>
          <a:xfrm>
            <a:off x="9173227" y="3186864"/>
            <a:ext cx="7353302" cy="40934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742950" indent="-742950">
              <a:buAutoNum type="arabicPeriod"/>
            </a:pPr>
            <a:r>
              <a:rPr lang="en-US" sz="3600" dirty="0">
                <a:solidFill>
                  <a:schemeClr val="bg1"/>
                </a:solidFill>
                <a:latin typeface="Arial" panose="020B0604020202020204"/>
                <a:cs typeface="Arabic Typesetting" panose="03020402040406030203"/>
              </a:rPr>
              <a:t> About Us</a:t>
            </a:r>
            <a:endParaRPr lang="en-US" dirty="0">
              <a:solidFill>
                <a:schemeClr val="bg1"/>
              </a:solidFill>
            </a:endParaRPr>
          </a:p>
          <a:p>
            <a:pPr marL="742950" indent="-742950">
              <a:buAutoNum type="arabicPeriod"/>
            </a:pPr>
            <a:r>
              <a:rPr lang="en-US" sz="3600" dirty="0">
                <a:solidFill>
                  <a:schemeClr val="bg1"/>
                </a:solidFill>
                <a:latin typeface="Arial" panose="020B0604020202020204"/>
                <a:cs typeface="Arabic Typesetting" panose="03020402040406030203"/>
              </a:rPr>
              <a:t>Introduction </a:t>
            </a:r>
            <a:endParaRPr lang="en-US" dirty="0">
              <a:solidFill>
                <a:schemeClr val="bg1"/>
              </a:solidFill>
            </a:endParaRPr>
          </a:p>
          <a:p>
            <a:pPr marL="742950" indent="-742950">
              <a:buAutoNum type="arabicPeriod"/>
            </a:pPr>
            <a:r>
              <a:rPr lang="en-US" sz="3600" dirty="0" err="1">
                <a:solidFill>
                  <a:schemeClr val="bg1"/>
                </a:solidFill>
              </a:rPr>
              <a:t>CyberLabs</a:t>
            </a:r>
            <a:r>
              <a:rPr lang="en-US" sz="3600" dirty="0">
                <a:solidFill>
                  <a:schemeClr val="bg1"/>
                </a:solidFill>
              </a:rPr>
              <a:t> Frontend Tech Stack </a:t>
            </a:r>
            <a:endParaRPr lang="en-US" sz="3600" dirty="0">
              <a:solidFill>
                <a:schemeClr val="bg1"/>
              </a:solidFill>
              <a:latin typeface="Arial" panose="020B0604020202020204"/>
              <a:cs typeface="Arabic Typesetting" panose="03020402040406030203" pitchFamily="66" charset="-78"/>
            </a:endParaRPr>
          </a:p>
          <a:p>
            <a:pPr marL="742950" indent="-742950">
              <a:buAutoNum type="arabicPeriod"/>
            </a:pPr>
            <a:r>
              <a:rPr lang="en-US" sz="3600" dirty="0">
                <a:solidFill>
                  <a:schemeClr val="bg1"/>
                </a:solidFill>
                <a:latin typeface="Arial" panose="020B0604020202020204"/>
                <a:cs typeface="Arabic Typesetting" panose="03020402040406030203"/>
              </a:rPr>
              <a:t>Back-End Part </a:t>
            </a:r>
          </a:p>
          <a:p>
            <a:pPr marL="742950" indent="-742950">
              <a:buAutoNum type="arabicPeriod"/>
            </a:pPr>
            <a:r>
              <a:rPr lang="en-US" sz="3600" dirty="0">
                <a:solidFill>
                  <a:schemeClr val="bg1"/>
                </a:solidFill>
                <a:latin typeface="Arial" panose="020B0604020202020204"/>
                <a:cs typeface="Arabic Typesetting" panose="03020402040406030203"/>
              </a:rPr>
              <a:t>Cyber Security Labs </a:t>
            </a:r>
            <a:endParaRPr lang="en-US" sz="3600" dirty="0">
              <a:solidFill>
                <a:schemeClr val="bg1"/>
              </a:solidFill>
              <a:latin typeface="Arial" panose="020B0604020202020204"/>
              <a:cs typeface="Arabic Typesetting" panose="03020402040406030203" pitchFamily="66" charset="-78"/>
            </a:endParaRPr>
          </a:p>
          <a:p>
            <a:r>
              <a:rPr lang="en-US" sz="4400" dirty="0">
                <a:latin typeface="Arabic Typesetting" panose="03020402040406030203"/>
                <a:cs typeface="Arabic Typesetting" panose="03020402040406030203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39200" y="1571625"/>
            <a:ext cx="8945217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6600">
                <a:solidFill>
                  <a:srgbClr val="62F1F9"/>
                </a:solidFill>
                <a:latin typeface="Arial" panose="020B0604020202020204"/>
                <a:cs typeface="Arabic Typesetting" panose="03020402040406030203"/>
              </a:rPr>
              <a:t>Topics we will discuss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27464" y="7402814"/>
            <a:ext cx="952922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rgbClr val="62F1F9"/>
                </a:solidFill>
              </a:rPr>
              <a:t>Supervisor: Dr. Marwa Sharaf </a:t>
            </a:r>
            <a:r>
              <a:rPr lang="en-US" sz="4400" dirty="0" err="1">
                <a:solidFill>
                  <a:srgbClr val="62F1F9"/>
                </a:solidFill>
              </a:rPr>
              <a:t>Eldin</a:t>
            </a:r>
            <a:endParaRPr lang="en-US" sz="4400" dirty="0">
              <a:solidFill>
                <a:srgbClr val="62F1F9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black logo&#10;&#10;AI-generated content may be incorrect.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400" y="30079"/>
            <a:ext cx="1065783" cy="1143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799485" y="8877300"/>
            <a:ext cx="457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  <a:latin typeface="Arial Black" panose="020B0A04020102020204" pitchFamily="34" charset="0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5473065"/>
            <a:ext cx="8987155" cy="41541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571500" indent="-571500">
              <a:buFont typeface="Wingdings" panose="05000000000000000000" charset="0"/>
              <a:buChar char="Ø"/>
            </a:pPr>
            <a:r>
              <a:rPr lang="en-US" altLang="en-GB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 200,000 infected machines</a:t>
            </a:r>
          </a:p>
          <a:p>
            <a:pPr marL="571500" indent="-571500">
              <a:buFont typeface="Wingdings" panose="05000000000000000000" charset="0"/>
              <a:buChar char="Ø"/>
            </a:pPr>
            <a:endParaRPr lang="en-US" altLang="en-GB" sz="4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US" altLang="en-GB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 150 countries affected</a:t>
            </a:r>
          </a:p>
          <a:p>
            <a:pPr marL="571500" indent="-571500">
              <a:buFont typeface="Wingdings" panose="05000000000000000000" charset="0"/>
              <a:buChar char="Ø"/>
            </a:pPr>
            <a:endParaRPr lang="en-US" altLang="en-GB" sz="4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Wingdings" panose="05000000000000000000" charset="0"/>
              <a:buChar char="Ø"/>
            </a:pPr>
            <a:r>
              <a:rPr lang="en-US" altLang="en-GB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Estimated $4–8 billion </a:t>
            </a:r>
          </a:p>
          <a:p>
            <a:pPr marL="571500" indent="-571500">
              <a:buFont typeface="Wingdings" panose="05000000000000000000" charset="0"/>
              <a:buChar char="Ø"/>
            </a:pPr>
            <a:endParaRPr lang="en-US" altLang="en-GB" sz="4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707880" y="255270"/>
            <a:ext cx="7845425" cy="31381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1"/>
            <a:r>
              <a:rPr lang="en-US" altLang="en-GB" sz="6600" b="1">
                <a:solidFill>
                  <a:srgbClr val="62F1F9"/>
                </a:solidFill>
                <a:latin typeface="Arial" panose="020B0604020202020204"/>
                <a:cs typeface="Arabic Typesetting" panose="03020402040406030203"/>
              </a:rPr>
              <a:t> WannaCry Ransomware</a:t>
            </a:r>
          </a:p>
          <a:p>
            <a:pPr marL="457200" lvl="2" indent="457200"/>
            <a:r>
              <a:rPr lang="en-US" altLang="en-GB" sz="6600" b="1">
                <a:solidFill>
                  <a:srgbClr val="62F1F9"/>
                </a:solidFill>
                <a:latin typeface="Arial" panose="020B0604020202020204"/>
                <a:cs typeface="Arabic Typesetting" panose="03020402040406030203"/>
              </a:rPr>
              <a:t> (2017)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82150" y="4018280"/>
            <a:ext cx="854900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GB" sz="4800" b="0" dirty="0">
                <a:solidFill>
                  <a:srgbClr val="62F1F9"/>
                </a:solidFill>
              </a:rPr>
              <a:t>Ransomware  +  worm</a:t>
            </a:r>
          </a:p>
        </p:txBody>
      </p:sp>
      <p:pic>
        <p:nvPicPr>
          <p:cNvPr id="10" name="Picture 9" descr="WannaCry Ransomware (2017)"/>
          <p:cNvPicPr>
            <a:picLocks noChangeAspect="1"/>
          </p:cNvPicPr>
          <p:nvPr/>
        </p:nvPicPr>
        <p:blipFill>
          <a:blip r:embed="rId3"/>
          <a:srcRect b="10384"/>
          <a:stretch>
            <a:fillRect/>
          </a:stretch>
        </p:blipFill>
        <p:spPr>
          <a:xfrm>
            <a:off x="0" y="1517015"/>
            <a:ext cx="8347075" cy="69557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204964" y="1855162"/>
            <a:ext cx="8500848" cy="6724131"/>
            <a:chOff x="0" y="1886950"/>
            <a:chExt cx="9582410" cy="6513098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70040" y="2388184"/>
              <a:ext cx="6412370" cy="551063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886950"/>
              <a:ext cx="7737657" cy="6513098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9239279" y="2552700"/>
            <a:ext cx="5410200" cy="1088118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12700" marR="5080">
              <a:lnSpc>
                <a:spcPts val="7200"/>
              </a:lnSpc>
              <a:spcBef>
                <a:spcPts val="1285"/>
              </a:spcBef>
            </a:pPr>
            <a:r>
              <a:rPr lang="en-US" sz="6950" spc="-1720">
                <a:solidFill>
                  <a:srgbClr val="62F1F9"/>
                </a:solidFill>
                <a:latin typeface="Trebuchet MS" panose="020B0603020202020204"/>
                <a:cs typeface="Trebuchet MS" panose="020B0603020202020204"/>
              </a:rPr>
              <a:t> </a:t>
            </a:r>
            <a:endParaRPr sz="695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371779" y="7111291"/>
            <a:ext cx="1598930" cy="39754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20"/>
              </a:spcBef>
            </a:pP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361950">
              <a:lnSpc>
                <a:spcPct val="100000"/>
              </a:lnSpc>
            </a:pPr>
            <a:endParaRPr sz="12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907000" y="8877300"/>
            <a:ext cx="200025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200" spc="-9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0</a:t>
            </a:r>
            <a:r>
              <a:rPr lang="en-US" sz="1200" spc="-9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4</a:t>
            </a:r>
            <a:endParaRPr sz="1200" dirty="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21" name="Title 20"/>
          <p:cNvSpPr>
            <a:spLocks noGrp="1"/>
          </p:cNvSpPr>
          <p:nvPr>
            <p:ph type="ctrTitle"/>
          </p:nvPr>
        </p:nvSpPr>
        <p:spPr>
          <a:xfrm>
            <a:off x="5899760" y="520724"/>
            <a:ext cx="12056572" cy="1354217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sz="4400" b="1" dirty="0">
                <a:solidFill>
                  <a:srgbClr val="62F1F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br>
              <a:rPr lang="en-US" sz="4400" b="1" dirty="0">
                <a:solidFill>
                  <a:srgbClr val="62F1F9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4400" dirty="0"/>
          </a:p>
        </p:txBody>
      </p:sp>
      <p:sp>
        <p:nvSpPr>
          <p:cNvPr id="22" name="Subtitle 21"/>
          <p:cNvSpPr>
            <a:spLocks noGrp="1"/>
          </p:cNvSpPr>
          <p:nvPr>
            <p:ph type="subTitle" idx="4"/>
          </p:nvPr>
        </p:nvSpPr>
        <p:spPr>
          <a:xfrm>
            <a:off x="8867037" y="1855162"/>
            <a:ext cx="8534400" cy="7632859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sz="3600" dirty="0" err="1">
                <a:solidFill>
                  <a:srgbClr val="62F1F9"/>
                </a:solidFill>
                <a:latin typeface="Arial" panose="020B0604020202020204"/>
                <a:cs typeface="Arial" panose="020B0604020202020204"/>
              </a:rPr>
              <a:t>CyberLabs</a:t>
            </a:r>
            <a:r>
              <a:rPr lang="en-US" sz="3600" dirty="0">
                <a:solidFill>
                  <a:srgbClr val="62F1F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en-US" sz="3200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is an educational cybersecurity platform designed to bridge the gap between theoretical knowledge and practical skills.</a:t>
            </a:r>
          </a:p>
          <a:p>
            <a:endParaRPr lang="en-US" sz="3200" dirty="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  <a:p>
            <a:r>
              <a:rPr lang="en-US" sz="3200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 It offers structured, easy-to-understand theoretical content along side hands-on lab exercises that simulate real-world cybersecurity scenarios</a:t>
            </a:r>
            <a:r>
              <a:rPr lang="en-US" sz="3600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.</a:t>
            </a:r>
            <a:endParaRPr lang="ar-EG" sz="3600" dirty="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  <a:p>
            <a:endParaRPr lang="ar-EG" sz="3600" dirty="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  <a:p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platform is tailored for students, trainees, and beginners who seek to develop a solid foundation in cybersecurity by applying what they learn in an interactive and guided environment.</a:t>
            </a:r>
          </a:p>
          <a:p>
            <a:endParaRPr lang="en-US" sz="3600" dirty="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8" name="Picture 7" descr="A blue and black logo&#10;&#10;AI-generated content may be incorrect.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1229" y="58951"/>
            <a:ext cx="1065783" cy="1143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46707" y="2095500"/>
            <a:ext cx="2394585" cy="2540000"/>
          </a:xfrm>
          <a:custGeom>
            <a:avLst/>
            <a:gdLst/>
            <a:ahLst/>
            <a:cxnLst/>
            <a:rect l="l" t="t" r="r" b="b"/>
            <a:pathLst>
              <a:path w="2394584" h="2540000">
                <a:moveTo>
                  <a:pt x="520433" y="1676400"/>
                </a:moveTo>
                <a:lnTo>
                  <a:pt x="487908" y="1625600"/>
                </a:lnTo>
                <a:lnTo>
                  <a:pt x="485673" y="1622907"/>
                </a:lnTo>
                <a:lnTo>
                  <a:pt x="493483" y="1638300"/>
                </a:lnTo>
                <a:lnTo>
                  <a:pt x="520433" y="1676400"/>
                </a:lnTo>
                <a:close/>
              </a:path>
              <a:path w="2394584" h="2540000">
                <a:moveTo>
                  <a:pt x="1557820" y="1084160"/>
                </a:moveTo>
                <a:lnTo>
                  <a:pt x="1554886" y="1070051"/>
                </a:lnTo>
                <a:lnTo>
                  <a:pt x="1547126" y="1058519"/>
                </a:lnTo>
                <a:lnTo>
                  <a:pt x="1535696" y="1050747"/>
                </a:lnTo>
                <a:lnTo>
                  <a:pt x="1521726" y="1047902"/>
                </a:lnTo>
                <a:lnTo>
                  <a:pt x="1471714" y="1047902"/>
                </a:lnTo>
                <a:lnTo>
                  <a:pt x="1471714" y="925068"/>
                </a:lnTo>
                <a:lnTo>
                  <a:pt x="1467319" y="875017"/>
                </a:lnTo>
                <a:lnTo>
                  <a:pt x="1454518" y="827887"/>
                </a:lnTo>
                <a:lnTo>
                  <a:pt x="1434122" y="784466"/>
                </a:lnTo>
                <a:lnTo>
                  <a:pt x="1406893" y="745553"/>
                </a:lnTo>
                <a:lnTo>
                  <a:pt x="1400111" y="738708"/>
                </a:lnTo>
                <a:lnTo>
                  <a:pt x="1400111" y="925068"/>
                </a:lnTo>
                <a:lnTo>
                  <a:pt x="1400111" y="1047902"/>
                </a:lnTo>
                <a:lnTo>
                  <a:pt x="1273009" y="1047902"/>
                </a:lnTo>
                <a:lnTo>
                  <a:pt x="1273009" y="1299311"/>
                </a:lnTo>
                <a:lnTo>
                  <a:pt x="1270215" y="1320901"/>
                </a:lnTo>
                <a:lnTo>
                  <a:pt x="1261821" y="1340205"/>
                </a:lnTo>
                <a:lnTo>
                  <a:pt x="1248727" y="1356347"/>
                </a:lnTo>
                <a:lnTo>
                  <a:pt x="1231811" y="1368463"/>
                </a:lnTo>
                <a:lnTo>
                  <a:pt x="1231811" y="1463751"/>
                </a:lnTo>
                <a:lnTo>
                  <a:pt x="1228991" y="1477860"/>
                </a:lnTo>
                <a:lnTo>
                  <a:pt x="1221295" y="1489379"/>
                </a:lnTo>
                <a:lnTo>
                  <a:pt x="1209878" y="1497152"/>
                </a:lnTo>
                <a:lnTo>
                  <a:pt x="1195920" y="1500009"/>
                </a:lnTo>
                <a:lnTo>
                  <a:pt x="1181950" y="1497152"/>
                </a:lnTo>
                <a:lnTo>
                  <a:pt x="1170533" y="1489379"/>
                </a:lnTo>
                <a:lnTo>
                  <a:pt x="1162837" y="1477860"/>
                </a:lnTo>
                <a:lnTo>
                  <a:pt x="1160018" y="1463751"/>
                </a:lnTo>
                <a:lnTo>
                  <a:pt x="1160018" y="1368463"/>
                </a:lnTo>
                <a:lnTo>
                  <a:pt x="1143088" y="1356347"/>
                </a:lnTo>
                <a:lnTo>
                  <a:pt x="1129957" y="1340205"/>
                </a:lnTo>
                <a:lnTo>
                  <a:pt x="1121460" y="1320901"/>
                </a:lnTo>
                <a:lnTo>
                  <a:pt x="1118438" y="1299311"/>
                </a:lnTo>
                <a:lnTo>
                  <a:pt x="1124521" y="1268895"/>
                </a:lnTo>
                <a:lnTo>
                  <a:pt x="1141120" y="1244092"/>
                </a:lnTo>
                <a:lnTo>
                  <a:pt x="1165682" y="1227378"/>
                </a:lnTo>
                <a:lnTo>
                  <a:pt x="1195717" y="1221257"/>
                </a:lnTo>
                <a:lnTo>
                  <a:pt x="1225702" y="1227378"/>
                </a:lnTo>
                <a:lnTo>
                  <a:pt x="1250289" y="1244092"/>
                </a:lnTo>
                <a:lnTo>
                  <a:pt x="1266888" y="1268895"/>
                </a:lnTo>
                <a:lnTo>
                  <a:pt x="1273009" y="1299311"/>
                </a:lnTo>
                <a:lnTo>
                  <a:pt x="1273009" y="1047902"/>
                </a:lnTo>
                <a:lnTo>
                  <a:pt x="991717" y="1047902"/>
                </a:lnTo>
                <a:lnTo>
                  <a:pt x="991717" y="925068"/>
                </a:lnTo>
                <a:lnTo>
                  <a:pt x="997115" y="877836"/>
                </a:lnTo>
                <a:lnTo>
                  <a:pt x="1012507" y="834440"/>
                </a:lnTo>
                <a:lnTo>
                  <a:pt x="1036637" y="796150"/>
                </a:lnTo>
                <a:lnTo>
                  <a:pt x="1068273" y="764184"/>
                </a:lnTo>
                <a:lnTo>
                  <a:pt x="1106195" y="739813"/>
                </a:lnTo>
                <a:lnTo>
                  <a:pt x="1149146" y="724281"/>
                </a:lnTo>
                <a:lnTo>
                  <a:pt x="1195920" y="718820"/>
                </a:lnTo>
                <a:lnTo>
                  <a:pt x="1242682" y="724281"/>
                </a:lnTo>
                <a:lnTo>
                  <a:pt x="1285633" y="739813"/>
                </a:lnTo>
                <a:lnTo>
                  <a:pt x="1323555" y="764184"/>
                </a:lnTo>
                <a:lnTo>
                  <a:pt x="1355191" y="796150"/>
                </a:lnTo>
                <a:lnTo>
                  <a:pt x="1379321" y="834440"/>
                </a:lnTo>
                <a:lnTo>
                  <a:pt x="1394714" y="877836"/>
                </a:lnTo>
                <a:lnTo>
                  <a:pt x="1400111" y="925068"/>
                </a:lnTo>
                <a:lnTo>
                  <a:pt x="1400111" y="738708"/>
                </a:lnTo>
                <a:lnTo>
                  <a:pt x="1380439" y="718820"/>
                </a:lnTo>
                <a:lnTo>
                  <a:pt x="1373632" y="711936"/>
                </a:lnTo>
                <a:lnTo>
                  <a:pt x="1335112" y="684415"/>
                </a:lnTo>
                <a:lnTo>
                  <a:pt x="1292136" y="663778"/>
                </a:lnTo>
                <a:lnTo>
                  <a:pt x="1245476" y="650811"/>
                </a:lnTo>
                <a:lnTo>
                  <a:pt x="1195920" y="646315"/>
                </a:lnTo>
                <a:lnTo>
                  <a:pt x="1146365" y="650811"/>
                </a:lnTo>
                <a:lnTo>
                  <a:pt x="1099693" y="663778"/>
                </a:lnTo>
                <a:lnTo>
                  <a:pt x="1056716" y="684415"/>
                </a:lnTo>
                <a:lnTo>
                  <a:pt x="1018184" y="711936"/>
                </a:lnTo>
                <a:lnTo>
                  <a:pt x="984897" y="745553"/>
                </a:lnTo>
                <a:lnTo>
                  <a:pt x="957656" y="784466"/>
                </a:lnTo>
                <a:lnTo>
                  <a:pt x="937221" y="827887"/>
                </a:lnTo>
                <a:lnTo>
                  <a:pt x="924382" y="875017"/>
                </a:lnTo>
                <a:lnTo>
                  <a:pt x="919924" y="925068"/>
                </a:lnTo>
                <a:lnTo>
                  <a:pt x="919924" y="1047902"/>
                </a:lnTo>
                <a:lnTo>
                  <a:pt x="870102" y="1047902"/>
                </a:lnTo>
                <a:lnTo>
                  <a:pt x="856132" y="1050747"/>
                </a:lnTo>
                <a:lnTo>
                  <a:pt x="844727" y="1058519"/>
                </a:lnTo>
                <a:lnTo>
                  <a:pt x="837031" y="1070051"/>
                </a:lnTo>
                <a:lnTo>
                  <a:pt x="834199" y="1084160"/>
                </a:lnTo>
                <a:lnTo>
                  <a:pt x="834199" y="1600847"/>
                </a:lnTo>
                <a:lnTo>
                  <a:pt x="837006" y="1614754"/>
                </a:lnTo>
                <a:lnTo>
                  <a:pt x="844702" y="1626285"/>
                </a:lnTo>
                <a:lnTo>
                  <a:pt x="856132" y="1634058"/>
                </a:lnTo>
                <a:lnTo>
                  <a:pt x="870102" y="1636915"/>
                </a:lnTo>
                <a:lnTo>
                  <a:pt x="1521929" y="1636915"/>
                </a:lnTo>
                <a:lnTo>
                  <a:pt x="1555000" y="1614754"/>
                </a:lnTo>
                <a:lnTo>
                  <a:pt x="1557820" y="1500009"/>
                </a:lnTo>
                <a:lnTo>
                  <a:pt x="1557820" y="1221257"/>
                </a:lnTo>
                <a:lnTo>
                  <a:pt x="1557820" y="1084160"/>
                </a:lnTo>
                <a:close/>
              </a:path>
              <a:path w="2394584" h="2540000">
                <a:moveTo>
                  <a:pt x="2186013" y="584200"/>
                </a:moveTo>
                <a:lnTo>
                  <a:pt x="2185098" y="533400"/>
                </a:lnTo>
                <a:lnTo>
                  <a:pt x="2183219" y="482600"/>
                </a:lnTo>
                <a:lnTo>
                  <a:pt x="2181796" y="457200"/>
                </a:lnTo>
                <a:lnTo>
                  <a:pt x="2180996" y="445274"/>
                </a:lnTo>
                <a:lnTo>
                  <a:pt x="2182749" y="482600"/>
                </a:lnTo>
                <a:lnTo>
                  <a:pt x="2183955" y="533400"/>
                </a:lnTo>
                <a:lnTo>
                  <a:pt x="2183981" y="584200"/>
                </a:lnTo>
                <a:lnTo>
                  <a:pt x="2182838" y="635000"/>
                </a:lnTo>
                <a:lnTo>
                  <a:pt x="2180513" y="698500"/>
                </a:lnTo>
                <a:lnTo>
                  <a:pt x="2177008" y="749300"/>
                </a:lnTo>
                <a:lnTo>
                  <a:pt x="2172322" y="800100"/>
                </a:lnTo>
                <a:lnTo>
                  <a:pt x="2166455" y="850900"/>
                </a:lnTo>
                <a:lnTo>
                  <a:pt x="2159406" y="901700"/>
                </a:lnTo>
                <a:lnTo>
                  <a:pt x="2151176" y="952500"/>
                </a:lnTo>
                <a:lnTo>
                  <a:pt x="2141766" y="1003300"/>
                </a:lnTo>
                <a:lnTo>
                  <a:pt x="2131174" y="1054100"/>
                </a:lnTo>
                <a:lnTo>
                  <a:pt x="2119401" y="1104900"/>
                </a:lnTo>
                <a:lnTo>
                  <a:pt x="2106434" y="1155700"/>
                </a:lnTo>
                <a:lnTo>
                  <a:pt x="2092286" y="1206500"/>
                </a:lnTo>
                <a:lnTo>
                  <a:pt x="2076945" y="1244600"/>
                </a:lnTo>
                <a:lnTo>
                  <a:pt x="2061222" y="1295400"/>
                </a:lnTo>
                <a:lnTo>
                  <a:pt x="2044293" y="1346200"/>
                </a:lnTo>
                <a:lnTo>
                  <a:pt x="2026183" y="1384300"/>
                </a:lnTo>
                <a:lnTo>
                  <a:pt x="2006917" y="1435100"/>
                </a:lnTo>
                <a:lnTo>
                  <a:pt x="1986508" y="1473200"/>
                </a:lnTo>
                <a:lnTo>
                  <a:pt x="1964969" y="1524000"/>
                </a:lnTo>
                <a:lnTo>
                  <a:pt x="1942338" y="1562100"/>
                </a:lnTo>
                <a:lnTo>
                  <a:pt x="1918601" y="1612900"/>
                </a:lnTo>
                <a:lnTo>
                  <a:pt x="1893811" y="1651000"/>
                </a:lnTo>
                <a:lnTo>
                  <a:pt x="1867979" y="1689100"/>
                </a:lnTo>
                <a:lnTo>
                  <a:pt x="1841106" y="1739900"/>
                </a:lnTo>
                <a:lnTo>
                  <a:pt x="1813217" y="1778000"/>
                </a:lnTo>
                <a:lnTo>
                  <a:pt x="1784350" y="1816100"/>
                </a:lnTo>
                <a:lnTo>
                  <a:pt x="1754492" y="1854200"/>
                </a:lnTo>
                <a:lnTo>
                  <a:pt x="1723694" y="1892300"/>
                </a:lnTo>
                <a:lnTo>
                  <a:pt x="1691957" y="1930400"/>
                </a:lnTo>
                <a:lnTo>
                  <a:pt x="1659305" y="1968500"/>
                </a:lnTo>
                <a:lnTo>
                  <a:pt x="1625739" y="2006600"/>
                </a:lnTo>
                <a:lnTo>
                  <a:pt x="1591310" y="2044700"/>
                </a:lnTo>
                <a:lnTo>
                  <a:pt x="1556016" y="2070100"/>
                </a:lnTo>
                <a:lnTo>
                  <a:pt x="1519872" y="2108200"/>
                </a:lnTo>
                <a:lnTo>
                  <a:pt x="1482915" y="2133600"/>
                </a:lnTo>
                <a:lnTo>
                  <a:pt x="1445145" y="2171700"/>
                </a:lnTo>
                <a:lnTo>
                  <a:pt x="1406601" y="2197100"/>
                </a:lnTo>
                <a:lnTo>
                  <a:pt x="1367282" y="2235200"/>
                </a:lnTo>
                <a:lnTo>
                  <a:pt x="1327213" y="2260600"/>
                </a:lnTo>
                <a:lnTo>
                  <a:pt x="1266139" y="2298700"/>
                </a:lnTo>
                <a:lnTo>
                  <a:pt x="1203159" y="2336800"/>
                </a:lnTo>
                <a:lnTo>
                  <a:pt x="1160310" y="2311400"/>
                </a:lnTo>
                <a:lnTo>
                  <a:pt x="1076363" y="2260600"/>
                </a:lnTo>
                <a:lnTo>
                  <a:pt x="994803" y="2209800"/>
                </a:lnTo>
                <a:lnTo>
                  <a:pt x="954951" y="2171700"/>
                </a:lnTo>
                <a:lnTo>
                  <a:pt x="915758" y="2146300"/>
                </a:lnTo>
                <a:lnTo>
                  <a:pt x="877201" y="2108200"/>
                </a:lnTo>
                <a:lnTo>
                  <a:pt x="839317" y="2082800"/>
                </a:lnTo>
                <a:lnTo>
                  <a:pt x="802119" y="2044700"/>
                </a:lnTo>
                <a:lnTo>
                  <a:pt x="765606" y="2019300"/>
                </a:lnTo>
                <a:lnTo>
                  <a:pt x="729805" y="1981200"/>
                </a:lnTo>
                <a:lnTo>
                  <a:pt x="694728" y="1943100"/>
                </a:lnTo>
                <a:lnTo>
                  <a:pt x="660387" y="1905000"/>
                </a:lnTo>
                <a:lnTo>
                  <a:pt x="626795" y="1866900"/>
                </a:lnTo>
                <a:lnTo>
                  <a:pt x="593966" y="1828800"/>
                </a:lnTo>
                <a:lnTo>
                  <a:pt x="561898" y="1790700"/>
                </a:lnTo>
                <a:lnTo>
                  <a:pt x="530631" y="1752600"/>
                </a:lnTo>
                <a:lnTo>
                  <a:pt x="500164" y="1714500"/>
                </a:lnTo>
                <a:lnTo>
                  <a:pt x="470522" y="1676400"/>
                </a:lnTo>
                <a:lnTo>
                  <a:pt x="441693" y="1638300"/>
                </a:lnTo>
                <a:lnTo>
                  <a:pt x="413727" y="1600200"/>
                </a:lnTo>
                <a:lnTo>
                  <a:pt x="386600" y="1549400"/>
                </a:lnTo>
                <a:lnTo>
                  <a:pt x="360349" y="1511300"/>
                </a:lnTo>
                <a:lnTo>
                  <a:pt x="334429" y="1473200"/>
                </a:lnTo>
                <a:lnTo>
                  <a:pt x="309422" y="1422400"/>
                </a:lnTo>
                <a:lnTo>
                  <a:pt x="285330" y="1384300"/>
                </a:lnTo>
                <a:lnTo>
                  <a:pt x="262178" y="1333500"/>
                </a:lnTo>
                <a:lnTo>
                  <a:pt x="239966" y="1282700"/>
                </a:lnTo>
                <a:lnTo>
                  <a:pt x="218706" y="1244600"/>
                </a:lnTo>
                <a:lnTo>
                  <a:pt x="198399" y="1193800"/>
                </a:lnTo>
                <a:lnTo>
                  <a:pt x="179082" y="1143000"/>
                </a:lnTo>
                <a:lnTo>
                  <a:pt x="160743" y="1104900"/>
                </a:lnTo>
                <a:lnTo>
                  <a:pt x="143395" y="1054100"/>
                </a:lnTo>
                <a:lnTo>
                  <a:pt x="127050" y="1003300"/>
                </a:lnTo>
                <a:lnTo>
                  <a:pt x="111734" y="952500"/>
                </a:lnTo>
                <a:lnTo>
                  <a:pt x="97434" y="901700"/>
                </a:lnTo>
                <a:lnTo>
                  <a:pt x="84162" y="863600"/>
                </a:lnTo>
                <a:lnTo>
                  <a:pt x="71945" y="812800"/>
                </a:lnTo>
                <a:lnTo>
                  <a:pt x="60769" y="762000"/>
                </a:lnTo>
                <a:lnTo>
                  <a:pt x="50673" y="711200"/>
                </a:lnTo>
                <a:lnTo>
                  <a:pt x="41656" y="660400"/>
                </a:lnTo>
                <a:lnTo>
                  <a:pt x="33718" y="609600"/>
                </a:lnTo>
                <a:lnTo>
                  <a:pt x="26873" y="558800"/>
                </a:lnTo>
                <a:lnTo>
                  <a:pt x="21132" y="508000"/>
                </a:lnTo>
                <a:lnTo>
                  <a:pt x="16522" y="457200"/>
                </a:lnTo>
                <a:lnTo>
                  <a:pt x="13030" y="406400"/>
                </a:lnTo>
                <a:lnTo>
                  <a:pt x="10680" y="355600"/>
                </a:lnTo>
                <a:lnTo>
                  <a:pt x="9474" y="304800"/>
                </a:lnTo>
                <a:lnTo>
                  <a:pt x="5626" y="355600"/>
                </a:lnTo>
                <a:lnTo>
                  <a:pt x="2768" y="406400"/>
                </a:lnTo>
                <a:lnTo>
                  <a:pt x="901" y="457200"/>
                </a:lnTo>
                <a:lnTo>
                  <a:pt x="0" y="495300"/>
                </a:lnTo>
                <a:lnTo>
                  <a:pt x="88" y="546100"/>
                </a:lnTo>
                <a:lnTo>
                  <a:pt x="1168" y="596900"/>
                </a:lnTo>
                <a:lnTo>
                  <a:pt x="3213" y="647700"/>
                </a:lnTo>
                <a:lnTo>
                  <a:pt x="6223" y="698500"/>
                </a:lnTo>
                <a:lnTo>
                  <a:pt x="10223" y="749300"/>
                </a:lnTo>
                <a:lnTo>
                  <a:pt x="15189" y="800100"/>
                </a:lnTo>
                <a:lnTo>
                  <a:pt x="21120" y="838200"/>
                </a:lnTo>
                <a:lnTo>
                  <a:pt x="28016" y="889000"/>
                </a:lnTo>
                <a:lnTo>
                  <a:pt x="35890" y="939800"/>
                </a:lnTo>
                <a:lnTo>
                  <a:pt x="44716" y="990600"/>
                </a:lnTo>
                <a:lnTo>
                  <a:pt x="54508" y="1041400"/>
                </a:lnTo>
                <a:lnTo>
                  <a:pt x="65265" y="1079500"/>
                </a:lnTo>
                <a:lnTo>
                  <a:pt x="76974" y="1130300"/>
                </a:lnTo>
                <a:lnTo>
                  <a:pt x="89649" y="1181100"/>
                </a:lnTo>
                <a:lnTo>
                  <a:pt x="103276" y="1219200"/>
                </a:lnTo>
                <a:lnTo>
                  <a:pt x="117843" y="1270000"/>
                </a:lnTo>
                <a:lnTo>
                  <a:pt x="133375" y="1320800"/>
                </a:lnTo>
                <a:lnTo>
                  <a:pt x="149860" y="1358900"/>
                </a:lnTo>
                <a:lnTo>
                  <a:pt x="167284" y="1409700"/>
                </a:lnTo>
                <a:lnTo>
                  <a:pt x="185648" y="1447800"/>
                </a:lnTo>
                <a:lnTo>
                  <a:pt x="204965" y="1498600"/>
                </a:lnTo>
                <a:lnTo>
                  <a:pt x="225234" y="1536700"/>
                </a:lnTo>
                <a:lnTo>
                  <a:pt x="246430" y="1587500"/>
                </a:lnTo>
                <a:lnTo>
                  <a:pt x="268566" y="1625600"/>
                </a:lnTo>
                <a:lnTo>
                  <a:pt x="291642" y="1663700"/>
                </a:lnTo>
                <a:lnTo>
                  <a:pt x="315645" y="1714500"/>
                </a:lnTo>
                <a:lnTo>
                  <a:pt x="340588" y="1752600"/>
                </a:lnTo>
                <a:lnTo>
                  <a:pt x="366458" y="1790700"/>
                </a:lnTo>
                <a:lnTo>
                  <a:pt x="393268" y="1828800"/>
                </a:lnTo>
                <a:lnTo>
                  <a:pt x="420992" y="1866900"/>
                </a:lnTo>
                <a:lnTo>
                  <a:pt x="449656" y="1917700"/>
                </a:lnTo>
                <a:lnTo>
                  <a:pt x="479234" y="1955800"/>
                </a:lnTo>
                <a:lnTo>
                  <a:pt x="509739" y="1993900"/>
                </a:lnTo>
                <a:lnTo>
                  <a:pt x="541159" y="2019300"/>
                </a:lnTo>
                <a:lnTo>
                  <a:pt x="573506" y="2057400"/>
                </a:lnTo>
                <a:lnTo>
                  <a:pt x="606755" y="2095500"/>
                </a:lnTo>
                <a:lnTo>
                  <a:pt x="640930" y="2133600"/>
                </a:lnTo>
                <a:lnTo>
                  <a:pt x="676021" y="2171700"/>
                </a:lnTo>
                <a:lnTo>
                  <a:pt x="712025" y="2197100"/>
                </a:lnTo>
                <a:lnTo>
                  <a:pt x="748931" y="2235200"/>
                </a:lnTo>
                <a:lnTo>
                  <a:pt x="786739" y="2260600"/>
                </a:lnTo>
                <a:lnTo>
                  <a:pt x="825461" y="2298700"/>
                </a:lnTo>
                <a:lnTo>
                  <a:pt x="867803" y="2336800"/>
                </a:lnTo>
                <a:lnTo>
                  <a:pt x="910932" y="2362200"/>
                </a:lnTo>
                <a:lnTo>
                  <a:pt x="954798" y="2400300"/>
                </a:lnTo>
                <a:lnTo>
                  <a:pt x="1044663" y="2451100"/>
                </a:lnTo>
                <a:lnTo>
                  <a:pt x="1090599" y="2476500"/>
                </a:lnTo>
                <a:lnTo>
                  <a:pt x="1126464" y="2501900"/>
                </a:lnTo>
                <a:lnTo>
                  <a:pt x="1148638" y="2514600"/>
                </a:lnTo>
                <a:lnTo>
                  <a:pt x="1174051" y="2527300"/>
                </a:lnTo>
                <a:lnTo>
                  <a:pt x="1203642" y="2540000"/>
                </a:lnTo>
                <a:lnTo>
                  <a:pt x="1203782" y="2540000"/>
                </a:lnTo>
                <a:lnTo>
                  <a:pt x="1244422" y="2514600"/>
                </a:lnTo>
                <a:lnTo>
                  <a:pt x="1284478" y="2476500"/>
                </a:lnTo>
                <a:lnTo>
                  <a:pt x="1323911" y="2451100"/>
                </a:lnTo>
                <a:lnTo>
                  <a:pt x="1362684" y="2413000"/>
                </a:lnTo>
                <a:lnTo>
                  <a:pt x="1400784" y="2387600"/>
                </a:lnTo>
                <a:lnTo>
                  <a:pt x="1438148" y="2349500"/>
                </a:lnTo>
                <a:lnTo>
                  <a:pt x="1476121" y="2311400"/>
                </a:lnTo>
                <a:lnTo>
                  <a:pt x="1513281" y="2273300"/>
                </a:lnTo>
                <a:lnTo>
                  <a:pt x="1549615" y="2235200"/>
                </a:lnTo>
                <a:lnTo>
                  <a:pt x="1585125" y="2197100"/>
                </a:lnTo>
                <a:lnTo>
                  <a:pt x="1619783" y="2159000"/>
                </a:lnTo>
                <a:lnTo>
                  <a:pt x="1653552" y="2120900"/>
                </a:lnTo>
                <a:lnTo>
                  <a:pt x="1686445" y="2082800"/>
                </a:lnTo>
                <a:lnTo>
                  <a:pt x="1718437" y="2032000"/>
                </a:lnTo>
                <a:lnTo>
                  <a:pt x="1749488" y="1993900"/>
                </a:lnTo>
                <a:lnTo>
                  <a:pt x="1779612" y="1955800"/>
                </a:lnTo>
                <a:lnTo>
                  <a:pt x="1808772" y="1905000"/>
                </a:lnTo>
                <a:lnTo>
                  <a:pt x="1836953" y="1866900"/>
                </a:lnTo>
                <a:lnTo>
                  <a:pt x="1864144" y="1816100"/>
                </a:lnTo>
                <a:lnTo>
                  <a:pt x="1888947" y="1778000"/>
                </a:lnTo>
                <a:lnTo>
                  <a:pt x="1912759" y="1727200"/>
                </a:lnTo>
                <a:lnTo>
                  <a:pt x="1935556" y="1689100"/>
                </a:lnTo>
                <a:lnTo>
                  <a:pt x="1957349" y="1638300"/>
                </a:lnTo>
                <a:lnTo>
                  <a:pt x="1978152" y="1600200"/>
                </a:lnTo>
                <a:lnTo>
                  <a:pt x="1997951" y="1549400"/>
                </a:lnTo>
                <a:lnTo>
                  <a:pt x="2016760" y="1511300"/>
                </a:lnTo>
                <a:lnTo>
                  <a:pt x="2034565" y="1460500"/>
                </a:lnTo>
                <a:lnTo>
                  <a:pt x="2051380" y="1409700"/>
                </a:lnTo>
                <a:lnTo>
                  <a:pt x="2067204" y="1371600"/>
                </a:lnTo>
                <a:lnTo>
                  <a:pt x="2082025" y="1320800"/>
                </a:lnTo>
                <a:lnTo>
                  <a:pt x="2095855" y="1270000"/>
                </a:lnTo>
                <a:lnTo>
                  <a:pt x="2108708" y="1219200"/>
                </a:lnTo>
                <a:lnTo>
                  <a:pt x="2120557" y="1181100"/>
                </a:lnTo>
                <a:lnTo>
                  <a:pt x="2131415" y="1130300"/>
                </a:lnTo>
                <a:lnTo>
                  <a:pt x="2141296" y="1079500"/>
                </a:lnTo>
                <a:lnTo>
                  <a:pt x="2150186" y="1028700"/>
                </a:lnTo>
                <a:lnTo>
                  <a:pt x="2158098" y="977900"/>
                </a:lnTo>
                <a:lnTo>
                  <a:pt x="2165019" y="927100"/>
                </a:lnTo>
                <a:lnTo>
                  <a:pt x="2170963" y="876300"/>
                </a:lnTo>
                <a:lnTo>
                  <a:pt x="2175916" y="838200"/>
                </a:lnTo>
                <a:lnTo>
                  <a:pt x="2179891" y="787400"/>
                </a:lnTo>
                <a:lnTo>
                  <a:pt x="2182888" y="736600"/>
                </a:lnTo>
                <a:lnTo>
                  <a:pt x="2184908" y="685800"/>
                </a:lnTo>
                <a:lnTo>
                  <a:pt x="2185949" y="635000"/>
                </a:lnTo>
                <a:lnTo>
                  <a:pt x="2186013" y="584200"/>
                </a:lnTo>
                <a:close/>
              </a:path>
              <a:path w="2394584" h="2540000">
                <a:moveTo>
                  <a:pt x="2383421" y="292061"/>
                </a:moveTo>
                <a:lnTo>
                  <a:pt x="2339403" y="279400"/>
                </a:lnTo>
                <a:lnTo>
                  <a:pt x="2249855" y="228600"/>
                </a:lnTo>
                <a:lnTo>
                  <a:pt x="2204529" y="215900"/>
                </a:lnTo>
                <a:lnTo>
                  <a:pt x="2158860" y="190500"/>
                </a:lnTo>
                <a:lnTo>
                  <a:pt x="2112848" y="177800"/>
                </a:lnTo>
                <a:lnTo>
                  <a:pt x="2066531" y="152400"/>
                </a:lnTo>
                <a:lnTo>
                  <a:pt x="1878380" y="101600"/>
                </a:lnTo>
                <a:lnTo>
                  <a:pt x="1589163" y="25400"/>
                </a:lnTo>
                <a:lnTo>
                  <a:pt x="1540332" y="25400"/>
                </a:lnTo>
                <a:lnTo>
                  <a:pt x="1491361" y="12700"/>
                </a:lnTo>
                <a:lnTo>
                  <a:pt x="1442262" y="12700"/>
                </a:lnTo>
                <a:lnTo>
                  <a:pt x="1393063" y="0"/>
                </a:lnTo>
                <a:lnTo>
                  <a:pt x="997915" y="0"/>
                </a:lnTo>
                <a:lnTo>
                  <a:pt x="948753" y="12700"/>
                </a:lnTo>
                <a:lnTo>
                  <a:pt x="899718" y="12700"/>
                </a:lnTo>
                <a:lnTo>
                  <a:pt x="802055" y="38100"/>
                </a:lnTo>
                <a:lnTo>
                  <a:pt x="753452" y="38100"/>
                </a:lnTo>
                <a:lnTo>
                  <a:pt x="418985" y="127000"/>
                </a:lnTo>
                <a:lnTo>
                  <a:pt x="372198" y="152400"/>
                </a:lnTo>
                <a:lnTo>
                  <a:pt x="279488" y="177800"/>
                </a:lnTo>
                <a:lnTo>
                  <a:pt x="233616" y="203200"/>
                </a:lnTo>
                <a:lnTo>
                  <a:pt x="188061" y="215900"/>
                </a:lnTo>
                <a:lnTo>
                  <a:pt x="98018" y="266700"/>
                </a:lnTo>
                <a:lnTo>
                  <a:pt x="53543" y="279400"/>
                </a:lnTo>
                <a:lnTo>
                  <a:pt x="9474" y="304800"/>
                </a:lnTo>
                <a:lnTo>
                  <a:pt x="14744" y="355600"/>
                </a:lnTo>
                <a:lnTo>
                  <a:pt x="20853" y="406400"/>
                </a:lnTo>
                <a:lnTo>
                  <a:pt x="27813" y="457200"/>
                </a:lnTo>
                <a:lnTo>
                  <a:pt x="35623" y="508000"/>
                </a:lnTo>
                <a:lnTo>
                  <a:pt x="44284" y="558800"/>
                </a:lnTo>
                <a:lnTo>
                  <a:pt x="53797" y="609600"/>
                </a:lnTo>
                <a:lnTo>
                  <a:pt x="64147" y="647700"/>
                </a:lnTo>
                <a:lnTo>
                  <a:pt x="75349" y="698500"/>
                </a:lnTo>
                <a:lnTo>
                  <a:pt x="87401" y="749300"/>
                </a:lnTo>
                <a:lnTo>
                  <a:pt x="100304" y="800100"/>
                </a:lnTo>
                <a:lnTo>
                  <a:pt x="114071" y="850900"/>
                </a:lnTo>
                <a:lnTo>
                  <a:pt x="128676" y="901700"/>
                </a:lnTo>
                <a:lnTo>
                  <a:pt x="144132" y="939800"/>
                </a:lnTo>
                <a:lnTo>
                  <a:pt x="160451" y="990600"/>
                </a:lnTo>
                <a:lnTo>
                  <a:pt x="177609" y="1041400"/>
                </a:lnTo>
                <a:lnTo>
                  <a:pt x="195630" y="1079500"/>
                </a:lnTo>
                <a:lnTo>
                  <a:pt x="214515" y="1130300"/>
                </a:lnTo>
                <a:lnTo>
                  <a:pt x="234238" y="1181100"/>
                </a:lnTo>
                <a:lnTo>
                  <a:pt x="254825" y="1219200"/>
                </a:lnTo>
                <a:lnTo>
                  <a:pt x="276275" y="1270000"/>
                </a:lnTo>
                <a:lnTo>
                  <a:pt x="298577" y="1308100"/>
                </a:lnTo>
                <a:lnTo>
                  <a:pt x="321729" y="1358900"/>
                </a:lnTo>
                <a:lnTo>
                  <a:pt x="345744" y="1397000"/>
                </a:lnTo>
                <a:lnTo>
                  <a:pt x="370624" y="1447800"/>
                </a:lnTo>
                <a:lnTo>
                  <a:pt x="396354" y="1485900"/>
                </a:lnTo>
                <a:lnTo>
                  <a:pt x="425843" y="1536700"/>
                </a:lnTo>
                <a:lnTo>
                  <a:pt x="456374" y="1587500"/>
                </a:lnTo>
                <a:lnTo>
                  <a:pt x="485673" y="1622907"/>
                </a:lnTo>
                <a:lnTo>
                  <a:pt x="467715" y="1587500"/>
                </a:lnTo>
                <a:lnTo>
                  <a:pt x="443141" y="1536700"/>
                </a:lnTo>
                <a:lnTo>
                  <a:pt x="419785" y="1498600"/>
                </a:lnTo>
                <a:lnTo>
                  <a:pt x="397662" y="1447800"/>
                </a:lnTo>
                <a:lnTo>
                  <a:pt x="376809" y="1397000"/>
                </a:lnTo>
                <a:lnTo>
                  <a:pt x="357251" y="1358900"/>
                </a:lnTo>
                <a:lnTo>
                  <a:pt x="338988" y="1308100"/>
                </a:lnTo>
                <a:lnTo>
                  <a:pt x="322072" y="1257300"/>
                </a:lnTo>
                <a:lnTo>
                  <a:pt x="306412" y="1206500"/>
                </a:lnTo>
                <a:lnTo>
                  <a:pt x="291934" y="1155700"/>
                </a:lnTo>
                <a:lnTo>
                  <a:pt x="278650" y="1104900"/>
                </a:lnTo>
                <a:lnTo>
                  <a:pt x="266534" y="1054100"/>
                </a:lnTo>
                <a:lnTo>
                  <a:pt x="255612" y="1003300"/>
                </a:lnTo>
                <a:lnTo>
                  <a:pt x="245872" y="952500"/>
                </a:lnTo>
                <a:lnTo>
                  <a:pt x="237299" y="901700"/>
                </a:lnTo>
                <a:lnTo>
                  <a:pt x="229920" y="850900"/>
                </a:lnTo>
                <a:lnTo>
                  <a:pt x="223710" y="800100"/>
                </a:lnTo>
                <a:lnTo>
                  <a:pt x="218694" y="749300"/>
                </a:lnTo>
                <a:lnTo>
                  <a:pt x="214845" y="698500"/>
                </a:lnTo>
                <a:lnTo>
                  <a:pt x="212178" y="647700"/>
                </a:lnTo>
                <a:lnTo>
                  <a:pt x="210680" y="596900"/>
                </a:lnTo>
                <a:lnTo>
                  <a:pt x="210604" y="584200"/>
                </a:lnTo>
                <a:lnTo>
                  <a:pt x="210375" y="546100"/>
                </a:lnTo>
                <a:lnTo>
                  <a:pt x="211226" y="495300"/>
                </a:lnTo>
                <a:lnTo>
                  <a:pt x="213245" y="445274"/>
                </a:lnTo>
                <a:lnTo>
                  <a:pt x="301967" y="393700"/>
                </a:lnTo>
                <a:lnTo>
                  <a:pt x="439191" y="317500"/>
                </a:lnTo>
                <a:lnTo>
                  <a:pt x="485940" y="304800"/>
                </a:lnTo>
                <a:lnTo>
                  <a:pt x="533158" y="279400"/>
                </a:lnTo>
                <a:lnTo>
                  <a:pt x="580796" y="266700"/>
                </a:lnTo>
                <a:lnTo>
                  <a:pt x="628827" y="241300"/>
                </a:lnTo>
                <a:lnTo>
                  <a:pt x="1024318" y="139700"/>
                </a:lnTo>
                <a:lnTo>
                  <a:pt x="1074737" y="139700"/>
                </a:lnTo>
                <a:lnTo>
                  <a:pt x="1125283" y="127000"/>
                </a:lnTo>
                <a:lnTo>
                  <a:pt x="1175918" y="127000"/>
                </a:lnTo>
                <a:lnTo>
                  <a:pt x="1224953" y="114300"/>
                </a:lnTo>
                <a:lnTo>
                  <a:pt x="1372654" y="114300"/>
                </a:lnTo>
                <a:lnTo>
                  <a:pt x="1422006" y="101600"/>
                </a:lnTo>
                <a:lnTo>
                  <a:pt x="1471383" y="101600"/>
                </a:lnTo>
                <a:lnTo>
                  <a:pt x="1520748" y="114300"/>
                </a:lnTo>
                <a:lnTo>
                  <a:pt x="1668653" y="114300"/>
                </a:lnTo>
                <a:lnTo>
                  <a:pt x="1717802" y="127000"/>
                </a:lnTo>
                <a:lnTo>
                  <a:pt x="1766836" y="127000"/>
                </a:lnTo>
                <a:lnTo>
                  <a:pt x="1815731" y="139700"/>
                </a:lnTo>
                <a:lnTo>
                  <a:pt x="1864461" y="139700"/>
                </a:lnTo>
                <a:lnTo>
                  <a:pt x="2245918" y="241300"/>
                </a:lnTo>
                <a:lnTo>
                  <a:pt x="2292210" y="266700"/>
                </a:lnTo>
                <a:lnTo>
                  <a:pt x="2383421" y="292061"/>
                </a:lnTo>
                <a:close/>
              </a:path>
              <a:path w="2394584" h="2540000">
                <a:moveTo>
                  <a:pt x="2394356" y="546100"/>
                </a:moveTo>
                <a:lnTo>
                  <a:pt x="2394305" y="533400"/>
                </a:lnTo>
                <a:lnTo>
                  <a:pt x="2394216" y="508000"/>
                </a:lnTo>
                <a:lnTo>
                  <a:pt x="2394166" y="495300"/>
                </a:lnTo>
                <a:lnTo>
                  <a:pt x="2393010" y="445274"/>
                </a:lnTo>
                <a:lnTo>
                  <a:pt x="2392959" y="443776"/>
                </a:lnTo>
                <a:lnTo>
                  <a:pt x="2392400" y="430504"/>
                </a:lnTo>
                <a:lnTo>
                  <a:pt x="2390851" y="393700"/>
                </a:lnTo>
                <a:lnTo>
                  <a:pt x="2387714" y="342900"/>
                </a:lnTo>
                <a:lnTo>
                  <a:pt x="2383612" y="292100"/>
                </a:lnTo>
                <a:lnTo>
                  <a:pt x="2383485" y="292074"/>
                </a:lnTo>
                <a:lnTo>
                  <a:pt x="2039442" y="203200"/>
                </a:lnTo>
                <a:lnTo>
                  <a:pt x="1989645" y="203200"/>
                </a:lnTo>
                <a:lnTo>
                  <a:pt x="1889658" y="177800"/>
                </a:lnTo>
                <a:lnTo>
                  <a:pt x="1839468" y="177800"/>
                </a:lnTo>
                <a:lnTo>
                  <a:pt x="1789074" y="165100"/>
                </a:lnTo>
                <a:lnTo>
                  <a:pt x="1738604" y="165100"/>
                </a:lnTo>
                <a:lnTo>
                  <a:pt x="1688084" y="152400"/>
                </a:lnTo>
                <a:lnTo>
                  <a:pt x="1283385" y="152400"/>
                </a:lnTo>
                <a:lnTo>
                  <a:pt x="1232941" y="165100"/>
                </a:lnTo>
                <a:lnTo>
                  <a:pt x="1132319" y="165100"/>
                </a:lnTo>
                <a:lnTo>
                  <a:pt x="1082154" y="177800"/>
                </a:lnTo>
                <a:lnTo>
                  <a:pt x="1032116" y="177800"/>
                </a:lnTo>
                <a:lnTo>
                  <a:pt x="833437" y="228600"/>
                </a:lnTo>
                <a:lnTo>
                  <a:pt x="784212" y="228600"/>
                </a:lnTo>
                <a:lnTo>
                  <a:pt x="686371" y="254000"/>
                </a:lnTo>
                <a:lnTo>
                  <a:pt x="637794" y="279400"/>
                </a:lnTo>
                <a:lnTo>
                  <a:pt x="493585" y="317500"/>
                </a:lnTo>
                <a:lnTo>
                  <a:pt x="446074" y="342900"/>
                </a:lnTo>
                <a:lnTo>
                  <a:pt x="398856" y="355600"/>
                </a:lnTo>
                <a:lnTo>
                  <a:pt x="351955" y="381000"/>
                </a:lnTo>
                <a:lnTo>
                  <a:pt x="305384" y="393700"/>
                </a:lnTo>
                <a:lnTo>
                  <a:pt x="214604" y="443776"/>
                </a:lnTo>
                <a:lnTo>
                  <a:pt x="306285" y="393700"/>
                </a:lnTo>
                <a:lnTo>
                  <a:pt x="400888" y="368300"/>
                </a:lnTo>
                <a:lnTo>
                  <a:pt x="448741" y="342900"/>
                </a:lnTo>
                <a:lnTo>
                  <a:pt x="594258" y="304800"/>
                </a:lnTo>
                <a:lnTo>
                  <a:pt x="643343" y="279400"/>
                </a:lnTo>
                <a:lnTo>
                  <a:pt x="692708" y="279400"/>
                </a:lnTo>
                <a:lnTo>
                  <a:pt x="892314" y="228600"/>
                </a:lnTo>
                <a:lnTo>
                  <a:pt x="942670" y="228600"/>
                </a:lnTo>
                <a:lnTo>
                  <a:pt x="993165" y="215900"/>
                </a:lnTo>
                <a:lnTo>
                  <a:pt x="1094498" y="215900"/>
                </a:lnTo>
                <a:lnTo>
                  <a:pt x="1145298" y="203200"/>
                </a:lnTo>
                <a:lnTo>
                  <a:pt x="1247013" y="203200"/>
                </a:lnTo>
                <a:lnTo>
                  <a:pt x="1297825" y="215900"/>
                </a:lnTo>
                <a:lnTo>
                  <a:pt x="1399197" y="215900"/>
                </a:lnTo>
                <a:lnTo>
                  <a:pt x="1449730" y="228600"/>
                </a:lnTo>
                <a:lnTo>
                  <a:pt x="1500124" y="228600"/>
                </a:lnTo>
                <a:lnTo>
                  <a:pt x="1600428" y="254000"/>
                </a:lnTo>
                <a:lnTo>
                  <a:pt x="1650301" y="254000"/>
                </a:lnTo>
                <a:lnTo>
                  <a:pt x="1847456" y="304800"/>
                </a:lnTo>
                <a:lnTo>
                  <a:pt x="1896059" y="330200"/>
                </a:lnTo>
                <a:lnTo>
                  <a:pt x="1992299" y="355600"/>
                </a:lnTo>
                <a:lnTo>
                  <a:pt x="2039899" y="381000"/>
                </a:lnTo>
                <a:lnTo>
                  <a:pt x="2087130" y="393700"/>
                </a:lnTo>
                <a:lnTo>
                  <a:pt x="2133955" y="419100"/>
                </a:lnTo>
                <a:lnTo>
                  <a:pt x="2180361" y="431800"/>
                </a:lnTo>
                <a:lnTo>
                  <a:pt x="2187168" y="482600"/>
                </a:lnTo>
                <a:lnTo>
                  <a:pt x="2192744" y="533400"/>
                </a:lnTo>
                <a:lnTo>
                  <a:pt x="2197112" y="584200"/>
                </a:lnTo>
                <a:lnTo>
                  <a:pt x="2200275" y="635000"/>
                </a:lnTo>
                <a:lnTo>
                  <a:pt x="2202230" y="685800"/>
                </a:lnTo>
                <a:lnTo>
                  <a:pt x="2202992" y="736600"/>
                </a:lnTo>
                <a:lnTo>
                  <a:pt x="2202878" y="749300"/>
                </a:lnTo>
                <a:lnTo>
                  <a:pt x="2202777" y="762000"/>
                </a:lnTo>
                <a:lnTo>
                  <a:pt x="2200935" y="838200"/>
                </a:lnTo>
                <a:lnTo>
                  <a:pt x="2198128" y="889000"/>
                </a:lnTo>
                <a:lnTo>
                  <a:pt x="2194141" y="939800"/>
                </a:lnTo>
                <a:lnTo>
                  <a:pt x="2188972" y="990600"/>
                </a:lnTo>
                <a:lnTo>
                  <a:pt x="2182634" y="1041400"/>
                </a:lnTo>
                <a:lnTo>
                  <a:pt x="2175141" y="1079500"/>
                </a:lnTo>
                <a:lnTo>
                  <a:pt x="2166467" y="1130300"/>
                </a:lnTo>
                <a:lnTo>
                  <a:pt x="2156650" y="1181100"/>
                </a:lnTo>
                <a:lnTo>
                  <a:pt x="2145665" y="1231900"/>
                </a:lnTo>
                <a:lnTo>
                  <a:pt x="2133536" y="1282700"/>
                </a:lnTo>
                <a:lnTo>
                  <a:pt x="2120265" y="1333500"/>
                </a:lnTo>
                <a:lnTo>
                  <a:pt x="2105850" y="1384300"/>
                </a:lnTo>
                <a:lnTo>
                  <a:pt x="2090305" y="1422400"/>
                </a:lnTo>
                <a:lnTo>
                  <a:pt x="2073617" y="1473200"/>
                </a:lnTo>
                <a:lnTo>
                  <a:pt x="2055812" y="1524000"/>
                </a:lnTo>
                <a:lnTo>
                  <a:pt x="2036876" y="1562100"/>
                </a:lnTo>
                <a:lnTo>
                  <a:pt x="2016823" y="1612900"/>
                </a:lnTo>
                <a:lnTo>
                  <a:pt x="1995665" y="1663700"/>
                </a:lnTo>
                <a:lnTo>
                  <a:pt x="1973376" y="1701800"/>
                </a:lnTo>
                <a:lnTo>
                  <a:pt x="1950986" y="1752600"/>
                </a:lnTo>
                <a:lnTo>
                  <a:pt x="1927479" y="1790700"/>
                </a:lnTo>
                <a:lnTo>
                  <a:pt x="1902904" y="1828800"/>
                </a:lnTo>
                <a:lnTo>
                  <a:pt x="1877301" y="1879600"/>
                </a:lnTo>
                <a:lnTo>
                  <a:pt x="1850682" y="1917700"/>
                </a:lnTo>
                <a:lnTo>
                  <a:pt x="1823085" y="1955800"/>
                </a:lnTo>
                <a:lnTo>
                  <a:pt x="1794548" y="1993900"/>
                </a:lnTo>
                <a:lnTo>
                  <a:pt x="1765109" y="2032000"/>
                </a:lnTo>
                <a:lnTo>
                  <a:pt x="1734769" y="2070100"/>
                </a:lnTo>
                <a:lnTo>
                  <a:pt x="1703590" y="2108200"/>
                </a:lnTo>
                <a:lnTo>
                  <a:pt x="1671599" y="2146300"/>
                </a:lnTo>
                <a:lnTo>
                  <a:pt x="1637284" y="2184400"/>
                </a:lnTo>
                <a:lnTo>
                  <a:pt x="1602066" y="2222500"/>
                </a:lnTo>
                <a:lnTo>
                  <a:pt x="1565960" y="2260600"/>
                </a:lnTo>
                <a:lnTo>
                  <a:pt x="1528978" y="2298700"/>
                </a:lnTo>
                <a:lnTo>
                  <a:pt x="1491145" y="2336800"/>
                </a:lnTo>
                <a:lnTo>
                  <a:pt x="1452486" y="2362200"/>
                </a:lnTo>
                <a:lnTo>
                  <a:pt x="1413014" y="2400300"/>
                </a:lnTo>
                <a:lnTo>
                  <a:pt x="1372755" y="2425700"/>
                </a:lnTo>
                <a:lnTo>
                  <a:pt x="1331734" y="2463800"/>
                </a:lnTo>
                <a:lnTo>
                  <a:pt x="1289977" y="2489200"/>
                </a:lnTo>
                <a:lnTo>
                  <a:pt x="1204290" y="2540000"/>
                </a:lnTo>
                <a:lnTo>
                  <a:pt x="1236294" y="2527300"/>
                </a:lnTo>
                <a:lnTo>
                  <a:pt x="1260119" y="2514600"/>
                </a:lnTo>
                <a:lnTo>
                  <a:pt x="1280617" y="2501900"/>
                </a:lnTo>
                <a:lnTo>
                  <a:pt x="1316342" y="2476500"/>
                </a:lnTo>
                <a:lnTo>
                  <a:pt x="1407172" y="2425700"/>
                </a:lnTo>
                <a:lnTo>
                  <a:pt x="1451584" y="2387600"/>
                </a:lnTo>
                <a:lnTo>
                  <a:pt x="1495285" y="2362200"/>
                </a:lnTo>
                <a:lnTo>
                  <a:pt x="1538236" y="2324100"/>
                </a:lnTo>
                <a:lnTo>
                  <a:pt x="1580413" y="2298700"/>
                </a:lnTo>
                <a:lnTo>
                  <a:pt x="1618945" y="2260600"/>
                </a:lnTo>
                <a:lnTo>
                  <a:pt x="1656562" y="2235200"/>
                </a:lnTo>
                <a:lnTo>
                  <a:pt x="1693252" y="2197100"/>
                </a:lnTo>
                <a:lnTo>
                  <a:pt x="1729041" y="2159000"/>
                </a:lnTo>
                <a:lnTo>
                  <a:pt x="1763903" y="2133600"/>
                </a:lnTo>
                <a:lnTo>
                  <a:pt x="1797837" y="2095500"/>
                </a:lnTo>
                <a:lnTo>
                  <a:pt x="1830870" y="2057400"/>
                </a:lnTo>
                <a:lnTo>
                  <a:pt x="1862963" y="2019300"/>
                </a:lnTo>
                <a:lnTo>
                  <a:pt x="1894141" y="1981200"/>
                </a:lnTo>
                <a:lnTo>
                  <a:pt x="1924380" y="1943100"/>
                </a:lnTo>
                <a:lnTo>
                  <a:pt x="1953704" y="1905000"/>
                </a:lnTo>
                <a:lnTo>
                  <a:pt x="1982089" y="1866900"/>
                </a:lnTo>
                <a:lnTo>
                  <a:pt x="2009546" y="1828800"/>
                </a:lnTo>
                <a:lnTo>
                  <a:pt x="2036076" y="1790700"/>
                </a:lnTo>
                <a:lnTo>
                  <a:pt x="2061667" y="1739900"/>
                </a:lnTo>
                <a:lnTo>
                  <a:pt x="2086330" y="1701800"/>
                </a:lnTo>
                <a:lnTo>
                  <a:pt x="2110054" y="1663700"/>
                </a:lnTo>
                <a:lnTo>
                  <a:pt x="2132838" y="1625600"/>
                </a:lnTo>
                <a:lnTo>
                  <a:pt x="2154682" y="1574800"/>
                </a:lnTo>
                <a:lnTo>
                  <a:pt x="2175573" y="1536700"/>
                </a:lnTo>
                <a:lnTo>
                  <a:pt x="2195538" y="1485900"/>
                </a:lnTo>
                <a:lnTo>
                  <a:pt x="2214549" y="1447800"/>
                </a:lnTo>
                <a:lnTo>
                  <a:pt x="2232622" y="1397000"/>
                </a:lnTo>
                <a:lnTo>
                  <a:pt x="2249741" y="1358900"/>
                </a:lnTo>
                <a:lnTo>
                  <a:pt x="2265908" y="1308100"/>
                </a:lnTo>
                <a:lnTo>
                  <a:pt x="2281136" y="1257300"/>
                </a:lnTo>
                <a:lnTo>
                  <a:pt x="2295398" y="1219200"/>
                </a:lnTo>
                <a:lnTo>
                  <a:pt x="2308720" y="1168400"/>
                </a:lnTo>
                <a:lnTo>
                  <a:pt x="2321077" y="1117600"/>
                </a:lnTo>
                <a:lnTo>
                  <a:pt x="2332482" y="1079500"/>
                </a:lnTo>
                <a:lnTo>
                  <a:pt x="2342934" y="1028700"/>
                </a:lnTo>
                <a:lnTo>
                  <a:pt x="2352421" y="977900"/>
                </a:lnTo>
                <a:lnTo>
                  <a:pt x="2360942" y="927100"/>
                </a:lnTo>
                <a:lnTo>
                  <a:pt x="2368499" y="889000"/>
                </a:lnTo>
                <a:lnTo>
                  <a:pt x="2375103" y="838200"/>
                </a:lnTo>
                <a:lnTo>
                  <a:pt x="2380729" y="787400"/>
                </a:lnTo>
                <a:lnTo>
                  <a:pt x="2385403" y="736600"/>
                </a:lnTo>
                <a:lnTo>
                  <a:pt x="2389098" y="685800"/>
                </a:lnTo>
                <a:lnTo>
                  <a:pt x="2391816" y="635000"/>
                </a:lnTo>
                <a:lnTo>
                  <a:pt x="2393581" y="596900"/>
                </a:lnTo>
                <a:lnTo>
                  <a:pt x="2394356" y="546100"/>
                </a:lnTo>
                <a:close/>
              </a:path>
            </a:pathLst>
          </a:custGeom>
          <a:solidFill>
            <a:srgbClr val="62F1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409598" y="5136545"/>
            <a:ext cx="12287602" cy="2984150"/>
          </a:xfrm>
          <a:prstGeom prst="rect">
            <a:avLst/>
          </a:prstGeom>
        </p:spPr>
        <p:txBody>
          <a:bodyPr vert="horz" wrap="square" lIns="0" tIns="13970" rIns="0" bIns="0" rtlCol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lang="en-US" sz="19300" err="1">
                <a:solidFill>
                  <a:srgbClr val="62F1F9"/>
                </a:solidFill>
                <a:latin typeface="Trebuchet MS" panose="020B0603020202020204"/>
                <a:cs typeface="Trebuchet MS" panose="020B0603020202020204"/>
              </a:rPr>
              <a:t>CyberLabs</a:t>
            </a:r>
            <a:endParaRPr lang="en-US" sz="19300" err="1">
              <a:solidFill>
                <a:srgbClr val="F2F2F2"/>
              </a:solidFill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889343" y="8841172"/>
            <a:ext cx="200025" cy="23304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200" spc="-95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01</a:t>
            </a:r>
            <a:endParaRPr sz="1200">
              <a:latin typeface="Arial Black" panose="020B0A04020102020204"/>
              <a:cs typeface="Arial Black" panose="020B0A04020102020204"/>
            </a:endParaRPr>
          </a:p>
        </p:txBody>
      </p:sp>
      <p:pic>
        <p:nvPicPr>
          <p:cNvPr id="4" name="Picture 3" descr="A blue and black logo&#10;&#10;AI-generated content may be incorrect.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39614" y="69783"/>
            <a:ext cx="1065783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1539" y="2244587"/>
            <a:ext cx="16359809" cy="5539978"/>
          </a:xfrm>
        </p:spPr>
        <p:txBody>
          <a:bodyPr wrap="square" lIns="0" tIns="0" rIns="0" bIns="0" anchor="t">
            <a:spAutoFit/>
          </a:bodyPr>
          <a:lstStyle/>
          <a:p>
            <a:endParaRPr lang="en-US" sz="3600" dirty="0">
              <a:solidFill>
                <a:schemeClr val="bg1"/>
              </a:solidFill>
              <a:latin typeface="Arial" panose="020B0604020202020204"/>
              <a:cs typeface="Arabic Typesetting" panose="03020402040406030203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bg1"/>
                </a:solidFill>
                <a:latin typeface="Arial" panose="020B0604020202020204"/>
                <a:cs typeface="Arabic Typesetting" panose="03020402040406030203"/>
              </a:rPr>
              <a:t>University students studying cybersecurity, computer science</a:t>
            </a:r>
            <a:endParaRPr lang="en-US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bg1"/>
                </a:solidFill>
                <a:latin typeface="Arial" panose="020B0604020202020204"/>
                <a:cs typeface="Arabic Typesetting" panose="03020402040406030203"/>
              </a:rPr>
              <a:t>Fresh graduates looking to build hands-on experience in cybersecurity.</a:t>
            </a:r>
            <a:endParaRPr lang="en-US" dirty="0">
              <a:solidFill>
                <a:schemeClr val="bg1"/>
              </a:solidFill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bg1"/>
                </a:solidFill>
                <a:latin typeface="Arial" panose="020B0604020202020204"/>
                <a:cs typeface="Arabic Typesetting" panose="03020402040406030203"/>
              </a:rPr>
              <a:t>Beginners and self-learners who want to understand both the theory and practice of cybersecurity in a simplified and structured way.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bg1"/>
                </a:solidFill>
                <a:latin typeface="Arial" panose="020B0604020202020204"/>
                <a:cs typeface="Arabic Typesetting" panose="03020402040406030203"/>
              </a:rPr>
              <a:t>Trainees in internship or training programs who need guided lab exercises to apply their knowledge.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bg1"/>
                </a:solidFill>
                <a:latin typeface="Arial" panose="020B0604020202020204"/>
                <a:cs typeface="Arabic Typesetting" panose="03020402040406030203"/>
              </a:rPr>
              <a:t>Technical instructors and training centers looking for ready-to-use theoretical content and practical labs to support their teaching.</a:t>
            </a:r>
          </a:p>
          <a:p>
            <a:endParaRPr lang="en-US" sz="3600" dirty="0">
              <a:solidFill>
                <a:schemeClr val="bg1"/>
              </a:solidFill>
              <a:latin typeface="Arial" panose="020B0604020202020204"/>
              <a:cs typeface="Arabic Typesetting" panose="03020402040406030203"/>
            </a:endParaRPr>
          </a:p>
        </p:txBody>
      </p:sp>
      <p:pic>
        <p:nvPicPr>
          <p:cNvPr id="4" name="Picture 3" descr="A blue and black logo&#10;&#10;AI-generated content may be incorrect.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3512" y="26920"/>
            <a:ext cx="1065783" cy="114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754600" y="8878431"/>
            <a:ext cx="457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  <a:latin typeface="Arial Black" panose="020B0A04020102020204" pitchFamily="34" charset="0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2487" y="754308"/>
            <a:ext cx="8686800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800" u="sng" dirty="0">
                <a:solidFill>
                  <a:srgbClr val="62F1F9"/>
                </a:solidFill>
                <a:latin typeface="Arial" panose="020B0604020202020204"/>
                <a:ea typeface="+mj-ea"/>
                <a:cs typeface="Arial" panose="020B0604020202020204"/>
              </a:rPr>
              <a:t>Who is target from the project?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57470" y="1921565"/>
            <a:ext cx="1177124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US" sz="3600" b="1" dirty="0">
                <a:solidFill>
                  <a:srgbClr val="0070C0"/>
                </a:solidFill>
                <a:latin typeface="Arial" panose="020B0604020202020204"/>
                <a:cs typeface="Arial" panose="020B0604020202020204"/>
              </a:rPr>
              <a:t>The Cyber Lab platform is specifically designed for:</a:t>
            </a:r>
            <a:endParaRPr lang="en-US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black logo&#10;&#10;AI-generated content may be incorrect.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3512" y="26920"/>
            <a:ext cx="1065783" cy="114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754600" y="8878431"/>
            <a:ext cx="457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  <a:latin typeface="Arial Black" panose="020B0A04020102020204" pitchFamily="34" charset="0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695" y="3387725"/>
            <a:ext cx="17100550" cy="31534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9900" b="1" u="none" dirty="0">
                <a:solidFill>
                  <a:srgbClr val="62F1F9"/>
                </a:solidFill>
                <a:latin typeface="Arial" panose="020B0604020202020204"/>
                <a:ea typeface="+mj-ea"/>
                <a:cs typeface="Arial" panose="020B0604020202020204"/>
              </a:rPr>
              <a:t>WORK FLOW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black logo&#10;&#10;AI-generated content may be incorrect.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400" y="30079"/>
            <a:ext cx="1065783" cy="1143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799485" y="8877300"/>
            <a:ext cx="457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 Black" panose="020B0A04020102020204" pitchFamily="34" charset="0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9137" y="436929"/>
            <a:ext cx="3905805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800" b="1" u="sng" dirty="0">
                <a:solidFill>
                  <a:srgbClr val="62F1F9"/>
                </a:solidFill>
                <a:latin typeface="Arial" panose="020B0604020202020204"/>
                <a:ea typeface="+mj-ea"/>
                <a:cs typeface="Arial" panose="020B0604020202020204"/>
              </a:rPr>
              <a:t>About-Us </a:t>
            </a:r>
          </a:p>
        </p:txBody>
      </p:sp>
      <p:sp>
        <p:nvSpPr>
          <p:cNvPr id="19" name="TextBox 10"/>
          <p:cNvSpPr txBox="1"/>
          <p:nvPr/>
        </p:nvSpPr>
        <p:spPr>
          <a:xfrm>
            <a:off x="5382985" y="4490357"/>
            <a:ext cx="3069771" cy="461665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spAutoFit/>
          </a:bodyPr>
          <a:lstStyle>
            <a:defPPr>
              <a:defRPr kern="0"/>
            </a:defPPr>
          </a:lstStyle>
          <a:p>
            <a:pPr algn="l"/>
            <a:r>
              <a:rPr lang="en-US" sz="2400">
                <a:solidFill>
                  <a:srgbClr val="62F1F9"/>
                </a:solidFill>
                <a:latin typeface="Arial" panose="020B0604020202020204"/>
                <a:cs typeface="Arial" panose="020B0604020202020204"/>
              </a:rPr>
              <a:t>Eng. Ahmed G Sherif</a:t>
            </a:r>
            <a:endParaRPr lang="en-US"/>
          </a:p>
        </p:txBody>
      </p:sp>
      <p:sp>
        <p:nvSpPr>
          <p:cNvPr id="20" name="TextBox 11"/>
          <p:cNvSpPr txBox="1"/>
          <p:nvPr/>
        </p:nvSpPr>
        <p:spPr>
          <a:xfrm>
            <a:off x="5382985" y="4947557"/>
            <a:ext cx="3069771" cy="461665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spAutoFit/>
          </a:bodyPr>
          <a:lstStyle>
            <a:defPPr>
              <a:defRPr kern="0"/>
            </a:defPPr>
          </a:lstStyle>
          <a:p>
            <a:pPr algn="l"/>
            <a:r>
              <a:rPr lang="en-US" sz="2400" dirty="0">
                <a:solidFill>
                  <a:srgbClr val="62F1F9"/>
                </a:solidFill>
                <a:latin typeface="Arial" panose="020B0604020202020204"/>
                <a:cs typeface="Arial" panose="020B0604020202020204"/>
              </a:rPr>
              <a:t>Role.  Front-End Dev</a:t>
            </a:r>
            <a:endParaRPr lang="en-US" dirty="0"/>
          </a:p>
        </p:txBody>
      </p:sp>
      <p:sp>
        <p:nvSpPr>
          <p:cNvPr id="22" name="TextBox 10"/>
          <p:cNvSpPr txBox="1"/>
          <p:nvPr/>
        </p:nvSpPr>
        <p:spPr>
          <a:xfrm>
            <a:off x="9873341" y="4490357"/>
            <a:ext cx="3396342" cy="461665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spAutoFit/>
          </a:bodyPr>
          <a:lstStyle>
            <a:defPPr>
              <a:defRPr kern="0"/>
            </a:defPPr>
          </a:lstStyle>
          <a:p>
            <a:pPr algn="l"/>
            <a:r>
              <a:rPr lang="en-US" sz="2400">
                <a:solidFill>
                  <a:srgbClr val="62F1F9"/>
                </a:solidFill>
                <a:latin typeface="Arial" panose="020B0604020202020204"/>
                <a:cs typeface="Arial" panose="020B0604020202020204"/>
              </a:rPr>
              <a:t>Eng. Ebrahim  Gamal</a:t>
            </a:r>
            <a:endParaRPr lang="en-US"/>
          </a:p>
        </p:txBody>
      </p:sp>
      <p:sp>
        <p:nvSpPr>
          <p:cNvPr id="23" name="TextBox 11"/>
          <p:cNvSpPr txBox="1"/>
          <p:nvPr/>
        </p:nvSpPr>
        <p:spPr>
          <a:xfrm>
            <a:off x="9873341" y="4931229"/>
            <a:ext cx="3069771" cy="461665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spAutoFit/>
          </a:bodyPr>
          <a:lstStyle>
            <a:defPPr>
              <a:defRPr kern="0"/>
            </a:defPPr>
          </a:lstStyle>
          <a:p>
            <a:pPr algn="l"/>
            <a:r>
              <a:rPr lang="en-US" sz="2400">
                <a:solidFill>
                  <a:srgbClr val="62F1F9"/>
                </a:solidFill>
                <a:latin typeface="Arial" panose="020B0604020202020204"/>
                <a:cs typeface="Arial" panose="020B0604020202020204"/>
              </a:rPr>
              <a:t>Role. Front-End Dev</a:t>
            </a:r>
            <a:endParaRPr lang="en-US" sz="2400">
              <a:solidFill>
                <a:srgbClr val="00000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TextBox 10"/>
          <p:cNvSpPr txBox="1"/>
          <p:nvPr/>
        </p:nvSpPr>
        <p:spPr>
          <a:xfrm>
            <a:off x="14347370" y="4490357"/>
            <a:ext cx="3804557" cy="461665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spAutoFit/>
          </a:bodyPr>
          <a:lstStyle>
            <a:defPPr>
              <a:defRPr kern="0"/>
            </a:defPPr>
          </a:lstStyle>
          <a:p>
            <a:pPr algn="l"/>
            <a:r>
              <a:rPr lang="en-US" sz="2400" dirty="0">
                <a:solidFill>
                  <a:srgbClr val="62F1F9"/>
                </a:solidFill>
                <a:latin typeface="Arial" panose="020B0604020202020204"/>
                <a:cs typeface="Arial" panose="020B0604020202020204"/>
              </a:rPr>
              <a:t>Eng. </a:t>
            </a:r>
            <a:r>
              <a:rPr lang="en-US" sz="2400" dirty="0" err="1">
                <a:solidFill>
                  <a:srgbClr val="62F1F9"/>
                </a:solidFill>
                <a:latin typeface="Arial" panose="020B0604020202020204"/>
                <a:cs typeface="Arial" panose="020B0604020202020204"/>
              </a:rPr>
              <a:t>Moamen</a:t>
            </a:r>
            <a:r>
              <a:rPr lang="en-US" sz="2400" dirty="0">
                <a:solidFill>
                  <a:srgbClr val="62F1F9"/>
                </a:solidFill>
                <a:latin typeface="Arial" panose="020B0604020202020204"/>
                <a:cs typeface="Arial" panose="020B0604020202020204"/>
              </a:rPr>
              <a:t> Mostafa</a:t>
            </a:r>
            <a:endParaRPr lang="en-US" dirty="0"/>
          </a:p>
        </p:txBody>
      </p:sp>
      <p:sp>
        <p:nvSpPr>
          <p:cNvPr id="26" name="TextBox 11"/>
          <p:cNvSpPr txBox="1"/>
          <p:nvPr/>
        </p:nvSpPr>
        <p:spPr>
          <a:xfrm>
            <a:off x="14347370" y="5029201"/>
            <a:ext cx="4327071" cy="460375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spAutoFit/>
          </a:bodyPr>
          <a:lstStyle>
            <a:defPPr>
              <a:defRPr kern="0"/>
            </a:defPPr>
          </a:lstStyle>
          <a:p>
            <a:pPr algn="l"/>
            <a:r>
              <a:rPr lang="en-US" sz="2400">
                <a:solidFill>
                  <a:srgbClr val="62F1F9"/>
                </a:solidFill>
                <a:latin typeface="Arial" panose="020B0604020202020204"/>
                <a:cs typeface="Arial" panose="020B0604020202020204"/>
              </a:rPr>
              <a:t>Role. Back-End Dev</a:t>
            </a:r>
            <a:endParaRPr lang="en-US" sz="2400">
              <a:solidFill>
                <a:srgbClr val="00000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8" name="TextBox 10"/>
          <p:cNvSpPr txBox="1"/>
          <p:nvPr/>
        </p:nvSpPr>
        <p:spPr>
          <a:xfrm>
            <a:off x="3292927" y="8311241"/>
            <a:ext cx="3429000" cy="461665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spAutoFit/>
          </a:bodyPr>
          <a:lstStyle>
            <a:defPPr>
              <a:defRPr kern="0"/>
            </a:defPPr>
          </a:lstStyle>
          <a:p>
            <a:pPr algn="l"/>
            <a:r>
              <a:rPr lang="en-US" sz="2400">
                <a:solidFill>
                  <a:srgbClr val="62F1F9"/>
                </a:solidFill>
                <a:latin typeface="Arial" panose="020B0604020202020204"/>
                <a:cs typeface="Arial" panose="020B0604020202020204"/>
              </a:rPr>
              <a:t>Eng. Ebrahim M Nassar</a:t>
            </a:r>
            <a:endParaRPr lang="en-US"/>
          </a:p>
        </p:txBody>
      </p:sp>
      <p:sp>
        <p:nvSpPr>
          <p:cNvPr id="29" name="TextBox 11"/>
          <p:cNvSpPr txBox="1"/>
          <p:nvPr/>
        </p:nvSpPr>
        <p:spPr>
          <a:xfrm>
            <a:off x="3292927" y="8768442"/>
            <a:ext cx="3069771" cy="461665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spAutoFit/>
          </a:bodyPr>
          <a:lstStyle>
            <a:defPPr>
              <a:defRPr kern="0"/>
            </a:defPPr>
          </a:lstStyle>
          <a:p>
            <a:pPr algn="l"/>
            <a:r>
              <a:rPr lang="en-US" sz="2400" dirty="0">
                <a:solidFill>
                  <a:srgbClr val="62F1F9"/>
                </a:solidFill>
                <a:latin typeface="Arial" panose="020B0604020202020204"/>
                <a:cs typeface="Arial" panose="020B0604020202020204"/>
              </a:rPr>
              <a:t>Role. Cyber Security</a:t>
            </a:r>
          </a:p>
        </p:txBody>
      </p:sp>
      <p:sp>
        <p:nvSpPr>
          <p:cNvPr id="31" name="TextBox 10"/>
          <p:cNvSpPr txBox="1"/>
          <p:nvPr/>
        </p:nvSpPr>
        <p:spPr>
          <a:xfrm>
            <a:off x="7946569" y="8311242"/>
            <a:ext cx="3755571" cy="461665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spAutoFit/>
          </a:bodyPr>
          <a:lstStyle>
            <a:defPPr>
              <a:defRPr kern="0"/>
            </a:defPPr>
          </a:lstStyle>
          <a:p>
            <a:pPr algn="l"/>
            <a:r>
              <a:rPr lang="en-US" sz="2400">
                <a:solidFill>
                  <a:srgbClr val="62F1F9"/>
                </a:solidFill>
                <a:latin typeface="Arial" panose="020B0604020202020204"/>
                <a:cs typeface="Arial" panose="020B0604020202020204"/>
              </a:rPr>
              <a:t>Eng. Mohamed Emad</a:t>
            </a:r>
            <a:endParaRPr lang="en-US"/>
          </a:p>
        </p:txBody>
      </p:sp>
      <p:sp>
        <p:nvSpPr>
          <p:cNvPr id="32" name="TextBox 11"/>
          <p:cNvSpPr txBox="1"/>
          <p:nvPr/>
        </p:nvSpPr>
        <p:spPr>
          <a:xfrm>
            <a:off x="7946569" y="8784770"/>
            <a:ext cx="3069771" cy="830997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spAutoFit/>
          </a:bodyPr>
          <a:lstStyle>
            <a:defPPr>
              <a:defRPr kern="0"/>
            </a:defPPr>
          </a:lstStyle>
          <a:p>
            <a:pPr algn="l"/>
            <a:r>
              <a:rPr lang="en-US" sz="2400" dirty="0">
                <a:solidFill>
                  <a:srgbClr val="62F1F9"/>
                </a:solidFill>
                <a:latin typeface="Arial" panose="020B0604020202020204"/>
                <a:cs typeface="Arial" panose="020B0604020202020204"/>
              </a:rPr>
              <a:t>Role. Cyber Security</a:t>
            </a:r>
            <a:endParaRPr lang="en-US" sz="2400" dirty="0">
              <a:solidFill>
                <a:srgbClr val="000000"/>
              </a:solidFill>
              <a:latin typeface="Arial" panose="020B0604020202020204"/>
              <a:cs typeface="Arial" panose="020B0604020202020204"/>
            </a:endParaRPr>
          </a:p>
          <a:p>
            <a:pPr algn="l"/>
            <a:endParaRPr lang="en-US" sz="2400" dirty="0">
              <a:solidFill>
                <a:srgbClr val="62F1F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4" name="TextBox 10"/>
          <p:cNvSpPr txBox="1"/>
          <p:nvPr/>
        </p:nvSpPr>
        <p:spPr>
          <a:xfrm>
            <a:off x="12485913" y="8409213"/>
            <a:ext cx="3069771" cy="461665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spAutoFit/>
          </a:bodyPr>
          <a:lstStyle>
            <a:defPPr>
              <a:defRPr kern="0"/>
            </a:defPPr>
          </a:lstStyle>
          <a:p>
            <a:pPr algn="l"/>
            <a:r>
              <a:rPr lang="en-US" sz="2400">
                <a:solidFill>
                  <a:srgbClr val="62F1F9"/>
                </a:solidFill>
                <a:latin typeface="Arial" panose="020B0604020202020204"/>
                <a:cs typeface="Arial" panose="020B0604020202020204"/>
              </a:rPr>
              <a:t>Eng. Ahmed Radwan</a:t>
            </a:r>
            <a:endParaRPr lang="en-US"/>
          </a:p>
        </p:txBody>
      </p:sp>
      <p:sp>
        <p:nvSpPr>
          <p:cNvPr id="35" name="TextBox 11"/>
          <p:cNvSpPr txBox="1"/>
          <p:nvPr/>
        </p:nvSpPr>
        <p:spPr>
          <a:xfrm>
            <a:off x="12485913" y="8866413"/>
            <a:ext cx="3069771" cy="830997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spAutoFit/>
          </a:bodyPr>
          <a:lstStyle>
            <a:defPPr>
              <a:defRPr kern="0"/>
            </a:defPPr>
          </a:lstStyle>
          <a:p>
            <a:pPr algn="l"/>
            <a:r>
              <a:rPr lang="en-US" sz="2400" dirty="0">
                <a:solidFill>
                  <a:srgbClr val="62F1F9"/>
                </a:solidFill>
                <a:latin typeface="Arial" panose="020B0604020202020204"/>
                <a:cs typeface="Arial" panose="020B0604020202020204"/>
              </a:rPr>
              <a:t>Role.  Cyber Security</a:t>
            </a:r>
            <a:endParaRPr lang="en-US" sz="2400" dirty="0">
              <a:solidFill>
                <a:srgbClr val="000000"/>
              </a:solidFill>
              <a:latin typeface="Arial" panose="020B0604020202020204"/>
              <a:cs typeface="Arial" panose="020B0604020202020204"/>
            </a:endParaRPr>
          </a:p>
          <a:p>
            <a:pPr algn="l"/>
            <a:endParaRPr lang="en-US" sz="2400" dirty="0">
              <a:solidFill>
                <a:srgbClr val="62F1F9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6" name="Picture 35" descr="A person with glasses and a black shirt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002" y="2304754"/>
            <a:ext cx="1777925" cy="1895474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37" name="TextBox 10"/>
          <p:cNvSpPr txBox="1"/>
          <p:nvPr/>
        </p:nvSpPr>
        <p:spPr>
          <a:xfrm>
            <a:off x="941613" y="4457700"/>
            <a:ext cx="3069771" cy="461665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spAutoFit/>
          </a:bodyPr>
          <a:lstStyle>
            <a:defPPr>
              <a:defRPr kern="0"/>
            </a:defPPr>
          </a:lstStyle>
          <a:p>
            <a:pPr algn="l"/>
            <a:r>
              <a:rPr lang="en-US" sz="2400">
                <a:solidFill>
                  <a:srgbClr val="62F1F9"/>
                </a:solidFill>
                <a:latin typeface="Arial" panose="020B0604020202020204"/>
                <a:cs typeface="Arial" panose="020B0604020202020204"/>
              </a:rPr>
              <a:t>Eng. Ahmed Hussien</a:t>
            </a:r>
            <a:endParaRPr lang="en-US"/>
          </a:p>
        </p:txBody>
      </p:sp>
      <p:sp>
        <p:nvSpPr>
          <p:cNvPr id="38" name="TextBox 11"/>
          <p:cNvSpPr txBox="1"/>
          <p:nvPr/>
        </p:nvSpPr>
        <p:spPr>
          <a:xfrm>
            <a:off x="941613" y="4914900"/>
            <a:ext cx="3069771" cy="461665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spAutoFit/>
          </a:bodyPr>
          <a:lstStyle>
            <a:defPPr>
              <a:defRPr kern="0"/>
            </a:defPPr>
          </a:lstStyle>
          <a:p>
            <a:pPr algn="l"/>
            <a:r>
              <a:rPr lang="en-US" sz="2400" dirty="0">
                <a:solidFill>
                  <a:srgbClr val="62F1F9"/>
                </a:solidFill>
                <a:latin typeface="Arial" panose="020B0604020202020204"/>
                <a:cs typeface="Arial" panose="020B0604020202020204"/>
              </a:rPr>
              <a:t>Role. </a:t>
            </a:r>
            <a:r>
              <a:rPr lang="en-US" sz="2400" dirty="0" err="1">
                <a:solidFill>
                  <a:srgbClr val="62F1F9"/>
                </a:solidFill>
                <a:latin typeface="Arial" panose="020B0604020202020204"/>
                <a:cs typeface="Arial" panose="020B0604020202020204"/>
              </a:rPr>
              <a:t>FullStack</a:t>
            </a:r>
            <a:r>
              <a:rPr lang="en-US" sz="2400" dirty="0">
                <a:solidFill>
                  <a:srgbClr val="62F1F9"/>
                </a:solidFill>
                <a:latin typeface="Arial" panose="020B0604020202020204"/>
                <a:cs typeface="Arial" panose="020B0604020202020204"/>
              </a:rPr>
              <a:t> Dev</a:t>
            </a:r>
          </a:p>
        </p:txBody>
      </p:sp>
      <p:pic>
        <p:nvPicPr>
          <p:cNvPr id="39" name="Picture 38" descr="A black circle with a person in it&#10;&#10;AI-generated content may be incorrect."/>
          <p:cNvPicPr>
            <a:picLocks noChangeAspect="1"/>
          </p:cNvPicPr>
          <p:nvPr/>
        </p:nvPicPr>
        <p:blipFill>
          <a:blip r:embed="rId4"/>
          <a:srcRect l="21120" r="21120"/>
          <a:stretch>
            <a:fillRect/>
          </a:stretch>
        </p:blipFill>
        <p:spPr>
          <a:xfrm>
            <a:off x="6025507" y="2340700"/>
            <a:ext cx="1777925" cy="1895474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43" name="Picture 42" descr="A person smiling at the camera&#10;&#10;AI-generated content may be incorrect."/>
          <p:cNvPicPr>
            <a:picLocks noChangeAspect="1"/>
          </p:cNvPicPr>
          <p:nvPr/>
        </p:nvPicPr>
        <p:blipFill>
          <a:blip r:embed="rId5"/>
          <a:srcRect l="20690" t="10902" r="15214" b="37013"/>
          <a:stretch>
            <a:fillRect/>
          </a:stretch>
        </p:blipFill>
        <p:spPr>
          <a:xfrm>
            <a:off x="12943112" y="6234874"/>
            <a:ext cx="1788321" cy="1854693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4" name="Picture 3" descr="A black circle with a person in it&#10;&#10;AI-generated content may be incorrect."/>
          <p:cNvPicPr>
            <a:picLocks noChangeAspect="1"/>
          </p:cNvPicPr>
          <p:nvPr/>
        </p:nvPicPr>
        <p:blipFill>
          <a:blip r:embed="rId4"/>
          <a:srcRect l="21120" r="21120"/>
          <a:stretch>
            <a:fillRect/>
          </a:stretch>
        </p:blipFill>
        <p:spPr>
          <a:xfrm>
            <a:off x="10344983" y="2260955"/>
            <a:ext cx="1777925" cy="1895474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5" name="Picture 4" descr="A black circle with a person in it&#10;&#10;AI-generated content may be incorrect."/>
          <p:cNvPicPr>
            <a:picLocks noChangeAspect="1"/>
          </p:cNvPicPr>
          <p:nvPr/>
        </p:nvPicPr>
        <p:blipFill>
          <a:blip r:embed="rId4"/>
          <a:srcRect l="21120" r="21120"/>
          <a:stretch>
            <a:fillRect/>
          </a:stretch>
        </p:blipFill>
        <p:spPr>
          <a:xfrm>
            <a:off x="14943565" y="2260955"/>
            <a:ext cx="1777925" cy="1895474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94" b="4394"/>
          <a:stretch/>
        </p:blipFill>
        <p:spPr>
          <a:xfrm>
            <a:off x="8765840" y="6214483"/>
            <a:ext cx="1777925" cy="1895474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9" name="Picture 8" descr="A black circle with a person in it&#10;&#10;AI-generated content may be incorrect."/>
          <p:cNvPicPr>
            <a:picLocks noChangeAspect="1"/>
          </p:cNvPicPr>
          <p:nvPr/>
        </p:nvPicPr>
        <p:blipFill>
          <a:blip r:embed="rId4"/>
          <a:srcRect l="21120" r="21120"/>
          <a:stretch>
            <a:fillRect/>
          </a:stretch>
        </p:blipFill>
        <p:spPr>
          <a:xfrm>
            <a:off x="4118464" y="6234874"/>
            <a:ext cx="1777925" cy="1895474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0" name="Picture 9" descr="A person smiling for a picture&#10;&#10;AI-generated content may be incorrect.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3584" y="2495336"/>
            <a:ext cx="1564871" cy="153782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1" name="Picture 10" descr="A person in a suit&#10;&#10;AI-generated content may be incorrect.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3564" y="2423049"/>
            <a:ext cx="1777925" cy="165888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 txBox="1"/>
          <p:nvPr/>
        </p:nvSpPr>
        <p:spPr>
          <a:xfrm>
            <a:off x="17889343" y="8841172"/>
            <a:ext cx="200025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200" spc="-95">
                <a:solidFill>
                  <a:srgbClr val="FFFFFF"/>
                </a:solidFill>
                <a:latin typeface="Arial Black"/>
                <a:cs typeface="Arial Black"/>
              </a:rPr>
              <a:t>0</a:t>
            </a:r>
            <a:r>
              <a:rPr lang="ar-EG" sz="1200" spc="-95">
                <a:solidFill>
                  <a:srgbClr val="FFFFFF"/>
                </a:solidFill>
                <a:latin typeface="Arial Black"/>
                <a:cs typeface="Arial Black"/>
              </a:rPr>
              <a:t>5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1497" y="619629"/>
            <a:ext cx="9728203" cy="750847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n-US" sz="4800" b="1" u="sng" err="1">
                <a:solidFill>
                  <a:srgbClr val="62F1F9"/>
                </a:solidFill>
              </a:rPr>
              <a:t>CyberLabs</a:t>
            </a:r>
            <a:r>
              <a:rPr lang="en-US" sz="4800" b="1" u="sng" dirty="0">
                <a:solidFill>
                  <a:srgbClr val="62F1F9"/>
                </a:solidFill>
              </a:rPr>
              <a:t> Frontend Tech Stack</a:t>
            </a:r>
            <a:endParaRPr lang="en-US" b="1" u="sng">
              <a:ea typeface="+mj-e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74144" y="1928844"/>
            <a:ext cx="6448144" cy="1010533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4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Frontend Frameworks</a:t>
            </a:r>
          </a:p>
          <a:p>
            <a:pPr marL="12700">
              <a:spcBef>
                <a:spcPts val="100"/>
              </a:spcBef>
            </a:pPr>
            <a:endParaRPr lang="en-US" sz="2000" dirty="0">
              <a:solidFill>
                <a:srgbClr val="000000"/>
              </a:solidFill>
              <a:latin typeface="Tahoma"/>
              <a:ea typeface="Tahoma"/>
              <a:cs typeface="Tahoma"/>
            </a:endParaRPr>
          </a:p>
        </p:txBody>
      </p:sp>
      <p:pic>
        <p:nvPicPr>
          <p:cNvPr id="3" name="Picture 2" descr="A blue and black logo&#10;&#10;AI-generated content may be incorrect.">
            <a:extLst>
              <a:ext uri="{FF2B5EF4-FFF2-40B4-BE49-F238E27FC236}">
                <a16:creationId xmlns:a16="http://schemas.microsoft.com/office/drawing/2014/main" id="{3282FFE8-D574-C30C-942F-E3027D554C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3572" y="54670"/>
            <a:ext cx="1065783" cy="1143000"/>
          </a:xfrm>
          <a:prstGeom prst="rect">
            <a:avLst/>
          </a:prstGeom>
        </p:spPr>
      </p:pic>
      <p:pic>
        <p:nvPicPr>
          <p:cNvPr id="11" name="Picture 10" descr="A blue atom symbol with a black background&#10;&#10;AI-generated content may be incorrect.">
            <a:extLst>
              <a:ext uri="{FF2B5EF4-FFF2-40B4-BE49-F238E27FC236}">
                <a16:creationId xmlns:a16="http://schemas.microsoft.com/office/drawing/2014/main" id="{61AA146A-3870-E481-E158-A8D2596E0D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4864" y="1923493"/>
            <a:ext cx="3218120" cy="3022397"/>
          </a:xfrm>
          <a:prstGeom prst="roundRect">
            <a:avLst>
              <a:gd name="adj" fmla="val 16667"/>
            </a:avLst>
          </a:prstGeom>
          <a:ln w="57150">
            <a:solidFill>
              <a:srgbClr val="62F1F9"/>
            </a:solidFill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4" name="Picture 3" descr="A red and black logo&#10;&#10;AI-generated content may be incorrect.">
            <a:extLst>
              <a:ext uri="{FF2B5EF4-FFF2-40B4-BE49-F238E27FC236}">
                <a16:creationId xmlns:a16="http://schemas.microsoft.com/office/drawing/2014/main" id="{D1904CE6-9FDC-132C-475C-3BC582782C9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96000"/>
                    </a14:imgEffect>
                    <a14:imgEffect>
                      <a14:brightnessContrast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8176" y="6236389"/>
            <a:ext cx="4870938" cy="3034748"/>
          </a:xfrm>
          <a:prstGeom prst="roundRect">
            <a:avLst>
              <a:gd name="adj" fmla="val 16667"/>
            </a:avLst>
          </a:prstGeom>
          <a:ln>
            <a:solidFill>
              <a:srgbClr val="62F1F9"/>
            </a:solidFill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D702E8-AA1A-0239-F812-0F0B8C09CFA2}"/>
              </a:ext>
            </a:extLst>
          </p:cNvPr>
          <p:cNvSpPr txBox="1"/>
          <p:nvPr/>
        </p:nvSpPr>
        <p:spPr>
          <a:xfrm>
            <a:off x="1730829" y="2939145"/>
            <a:ext cx="10531927" cy="27669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 rtl="0">
              <a:lnSpc>
                <a:spcPct val="150000"/>
              </a:lnSpc>
              <a:buFont typeface="Wingdings"/>
              <a:buChar char="q"/>
            </a:pPr>
            <a:r>
              <a:rPr lang="en-US" sz="4000" b="1" dirty="0">
                <a:solidFill>
                  <a:srgbClr val="FFFFFF"/>
                </a:solidFill>
                <a:latin typeface="Calibri"/>
                <a:cs typeface="Segoe UI"/>
              </a:rPr>
              <a:t>  React 18</a:t>
            </a:r>
            <a:r>
              <a:rPr lang="en-US" sz="4000" dirty="0">
                <a:solidFill>
                  <a:srgbClr val="FFFFFF"/>
                </a:solidFill>
                <a:latin typeface="Calibri"/>
                <a:cs typeface="Segoe UI"/>
              </a:rPr>
              <a:t> with </a:t>
            </a:r>
            <a:r>
              <a:rPr lang="en-US" sz="4000" b="1" dirty="0">
                <a:solidFill>
                  <a:srgbClr val="FFFFFF"/>
                </a:solidFill>
                <a:latin typeface="Calibri"/>
                <a:cs typeface="Segoe UI"/>
              </a:rPr>
              <a:t>JSX</a:t>
            </a:r>
            <a:r>
              <a:rPr lang="en-US" sz="4000" dirty="0">
                <a:solidFill>
                  <a:srgbClr val="FFFFFF"/>
                </a:solidFill>
                <a:latin typeface="Calibri"/>
                <a:cs typeface="Segoe UI"/>
              </a:rPr>
              <a:t> and </a:t>
            </a:r>
            <a:r>
              <a:rPr lang="en-US" sz="4000" b="1" dirty="0">
                <a:solidFill>
                  <a:srgbClr val="FFFFFF"/>
                </a:solidFill>
                <a:latin typeface="Calibri"/>
                <a:cs typeface="Segoe UI"/>
              </a:rPr>
              <a:t>Hooks</a:t>
            </a:r>
            <a:r>
              <a:rPr lang="en-US" sz="4000" dirty="0">
                <a:latin typeface="Calibri"/>
                <a:cs typeface="Segoe UI"/>
              </a:rPr>
              <a:t>​</a:t>
            </a:r>
          </a:p>
          <a:p>
            <a:pPr marL="457200" indent="-457200" rtl="0">
              <a:lnSpc>
                <a:spcPct val="150000"/>
              </a:lnSpc>
              <a:buFont typeface="Wingdings"/>
              <a:buChar char="q"/>
            </a:pPr>
            <a:r>
              <a:rPr lang="en-US" sz="4000" b="1" dirty="0">
                <a:solidFill>
                  <a:srgbClr val="FFFFFF"/>
                </a:solidFill>
                <a:latin typeface="Calibri"/>
                <a:cs typeface="Segoe UI"/>
              </a:rPr>
              <a:t>  React Router v6</a:t>
            </a:r>
            <a:r>
              <a:rPr lang="en-US" sz="4000" dirty="0">
                <a:solidFill>
                  <a:srgbClr val="FFFFFF"/>
                </a:solidFill>
                <a:latin typeface="Calibri"/>
                <a:cs typeface="Segoe UI"/>
              </a:rPr>
              <a:t> for client‑side navigation and route guards</a:t>
            </a:r>
            <a:endParaRPr lang="en-US" sz="4000" dirty="0">
              <a:solidFill>
                <a:srgbClr val="FFFFFF"/>
              </a:solidFill>
              <a:latin typeface="Calibri"/>
              <a:ea typeface="Calibri"/>
              <a:cs typeface="Segoe UI"/>
            </a:endParaRPr>
          </a:p>
        </p:txBody>
      </p:sp>
      <p:sp>
        <p:nvSpPr>
          <p:cNvPr id="2" name="TextBox 9">
            <a:extLst>
              <a:ext uri="{FF2B5EF4-FFF2-40B4-BE49-F238E27FC236}">
                <a16:creationId xmlns:a16="http://schemas.microsoft.com/office/drawing/2014/main" id="{A293091B-F11E-4A27-988B-A996DED93B34}"/>
              </a:ext>
            </a:extLst>
          </p:cNvPr>
          <p:cNvSpPr txBox="1"/>
          <p:nvPr/>
        </p:nvSpPr>
        <p:spPr>
          <a:xfrm>
            <a:off x="3167282" y="5944060"/>
            <a:ext cx="5976257" cy="181588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marL="457200" indent="-457200" algn="l">
              <a:buFont typeface="Wingdings"/>
              <a:buChar char="ü"/>
            </a:pPr>
            <a:r>
              <a:rPr lang="en-US" sz="2800" b="1" dirty="0">
                <a:solidFill>
                  <a:schemeClr val="bg1"/>
                </a:solidFill>
              </a:rPr>
              <a:t>Nested Routes</a:t>
            </a:r>
            <a:r>
              <a:rPr lang="en-US" sz="2800" dirty="0">
                <a:solidFill>
                  <a:schemeClr val="bg1"/>
                </a:solidFill>
              </a:rPr>
              <a:t> &amp; </a:t>
            </a:r>
            <a:r>
              <a:rPr lang="en-US" sz="2800" b="1" dirty="0">
                <a:solidFill>
                  <a:schemeClr val="bg1"/>
                </a:solidFill>
              </a:rPr>
              <a:t>Route Guards</a:t>
            </a:r>
            <a:r>
              <a:rPr lang="en-US" sz="2800" dirty="0">
                <a:solidFill>
                  <a:schemeClr val="bg1"/>
                </a:solidFill>
              </a:rPr>
              <a:t> with React Router v6</a:t>
            </a:r>
            <a:endParaRPr lang="en-US" sz="2800" dirty="0">
              <a:solidFill>
                <a:schemeClr val="bg1"/>
              </a:solidFill>
              <a:latin typeface="Calibri"/>
              <a:ea typeface="Calibri"/>
              <a:cs typeface="Segoe UI"/>
            </a:endParaRPr>
          </a:p>
          <a:p>
            <a:pPr marL="457200" indent="-457200" algn="l">
              <a:buFont typeface="Wingdings"/>
              <a:buChar char="ü"/>
            </a:pPr>
            <a:r>
              <a:rPr lang="en-US" sz="2800" b="1" dirty="0">
                <a:solidFill>
                  <a:schemeClr val="bg1"/>
                </a:solidFill>
              </a:rPr>
              <a:t>Protected Pages</a:t>
            </a:r>
            <a:r>
              <a:rPr lang="en-US" sz="2800" dirty="0">
                <a:solidFill>
                  <a:schemeClr val="bg1"/>
                </a:solidFill>
              </a:rPr>
              <a:t>: </a:t>
            </a:r>
            <a:r>
              <a:rPr lang="en-US" sz="2800" dirty="0">
                <a:solidFill>
                  <a:srgbClr val="00B050"/>
                </a:solidFill>
                <a:latin typeface="Consolas"/>
              </a:rPr>
              <a:t>&lt;</a:t>
            </a:r>
            <a:r>
              <a:rPr lang="en-US" sz="2800" dirty="0" err="1">
                <a:solidFill>
                  <a:srgbClr val="00B050"/>
                </a:solidFill>
                <a:latin typeface="Consolas"/>
              </a:rPr>
              <a:t>RequireAuth</a:t>
            </a:r>
            <a:r>
              <a:rPr lang="en-US" sz="2800" dirty="0">
                <a:solidFill>
                  <a:srgbClr val="00B050"/>
                </a:solidFill>
                <a:latin typeface="Consolas"/>
              </a:rPr>
              <a:t>&gt;</a:t>
            </a:r>
            <a:r>
              <a:rPr lang="en-US" sz="2800" dirty="0">
                <a:solidFill>
                  <a:schemeClr val="bg1"/>
                </a:solidFill>
              </a:rPr>
              <a:t> wrapper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D2147-3441-5DED-B8D7-561F3AF9D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>
            <a:extLst>
              <a:ext uri="{FF2B5EF4-FFF2-40B4-BE49-F238E27FC236}">
                <a16:creationId xmlns:a16="http://schemas.microsoft.com/office/drawing/2014/main" id="{DA7ACB71-9B85-9CDA-DAF5-C508CDE725DC}"/>
              </a:ext>
            </a:extLst>
          </p:cNvPr>
          <p:cNvSpPr txBox="1"/>
          <p:nvPr/>
        </p:nvSpPr>
        <p:spPr>
          <a:xfrm>
            <a:off x="17889343" y="8841172"/>
            <a:ext cx="200025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200" spc="-95">
                <a:solidFill>
                  <a:srgbClr val="FFFFFF"/>
                </a:solidFill>
                <a:latin typeface="Arial Black"/>
                <a:cs typeface="Arial Black"/>
              </a:rPr>
              <a:t>0</a:t>
            </a:r>
            <a:r>
              <a:rPr lang="ar-EG" sz="1200" spc="-95">
                <a:solidFill>
                  <a:srgbClr val="FFFFFF"/>
                </a:solidFill>
                <a:latin typeface="Arial Black"/>
                <a:cs typeface="Arial Black"/>
              </a:rPr>
              <a:t>5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1D21492A-DB01-B014-036E-49949E685163}"/>
              </a:ext>
            </a:extLst>
          </p:cNvPr>
          <p:cNvSpPr txBox="1"/>
          <p:nvPr/>
        </p:nvSpPr>
        <p:spPr>
          <a:xfrm>
            <a:off x="831746" y="1735243"/>
            <a:ext cx="8064826" cy="97975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4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Styling &amp; UI Libraries</a:t>
            </a:r>
          </a:p>
          <a:p>
            <a:pPr marL="12700">
              <a:spcBef>
                <a:spcPts val="100"/>
              </a:spcBef>
            </a:pPr>
            <a:endParaRPr lang="en-US">
              <a:solidFill>
                <a:srgbClr val="000000"/>
              </a:solidFill>
              <a:latin typeface="Tahoma"/>
              <a:ea typeface="Tahoma"/>
              <a:cs typeface="Tahoma"/>
            </a:endParaRPr>
          </a:p>
        </p:txBody>
      </p:sp>
      <p:pic>
        <p:nvPicPr>
          <p:cNvPr id="3" name="Picture 2" descr="A blue and black logo&#10;&#10;AI-generated content may be incorrect.">
            <a:extLst>
              <a:ext uri="{FF2B5EF4-FFF2-40B4-BE49-F238E27FC236}">
                <a16:creationId xmlns:a16="http://schemas.microsoft.com/office/drawing/2014/main" id="{C12CA1B8-D449-D191-5AD1-2847B7EC09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3572" y="54670"/>
            <a:ext cx="1065783" cy="1143000"/>
          </a:xfrm>
          <a:prstGeom prst="rect">
            <a:avLst/>
          </a:prstGeom>
        </p:spPr>
      </p:pic>
      <p:pic>
        <p:nvPicPr>
          <p:cNvPr id="8" name="Picture 7" descr="A purple and white sign with a letter b&#10;&#10;AI-generated content may be incorrect.">
            <a:extLst>
              <a:ext uri="{FF2B5EF4-FFF2-40B4-BE49-F238E27FC236}">
                <a16:creationId xmlns:a16="http://schemas.microsoft.com/office/drawing/2014/main" id="{9E600176-3931-9B15-DE6E-BE8B21ED0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0051" y="1205054"/>
            <a:ext cx="4233602" cy="3505101"/>
          </a:xfrm>
          <a:prstGeom prst="roundRect">
            <a:avLst>
              <a:gd name="adj" fmla="val 16667"/>
            </a:avLst>
          </a:prstGeom>
          <a:ln>
            <a:solidFill>
              <a:srgbClr val="62F1F9"/>
            </a:solidFill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0B00745-7D1F-FDAA-50C6-70BCAF15CED9}"/>
              </a:ext>
            </a:extLst>
          </p:cNvPr>
          <p:cNvSpPr txBox="1"/>
          <p:nvPr/>
        </p:nvSpPr>
        <p:spPr>
          <a:xfrm>
            <a:off x="1583872" y="2579914"/>
            <a:ext cx="10989128" cy="46135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Wingdings"/>
              <a:buChar char="q"/>
            </a:pPr>
            <a:r>
              <a:rPr lang="en-US" sz="4000" b="1" dirty="0">
                <a:solidFill>
                  <a:schemeClr val="bg1"/>
                </a:solidFill>
                <a:latin typeface="Calibri"/>
                <a:cs typeface="Segoe UI"/>
              </a:rPr>
              <a:t>Bootstrap </a:t>
            </a:r>
            <a:r>
              <a:rPr lang="en-US" sz="4000" dirty="0">
                <a:solidFill>
                  <a:schemeClr val="bg1"/>
                </a:solidFill>
                <a:latin typeface="Calibri"/>
                <a:cs typeface="Segoe UI"/>
              </a:rPr>
              <a:t>grid &amp; utilities</a:t>
            </a:r>
            <a:endParaRPr lang="en-US" sz="4000">
              <a:solidFill>
                <a:schemeClr val="bg1"/>
              </a:solidFill>
            </a:endParaRPr>
          </a:p>
          <a:p>
            <a:pPr marL="457200" indent="-457200">
              <a:lnSpc>
                <a:spcPct val="150000"/>
              </a:lnSpc>
              <a:buFont typeface="Wingdings"/>
              <a:buChar char="q"/>
            </a:pPr>
            <a:r>
              <a:rPr lang="en-US" sz="4000" b="1" dirty="0">
                <a:solidFill>
                  <a:schemeClr val="bg1"/>
                </a:solidFill>
                <a:latin typeface="Calibri"/>
                <a:cs typeface="Segoe UI"/>
              </a:rPr>
              <a:t>Ant Design </a:t>
            </a:r>
            <a:r>
              <a:rPr lang="en-US" sz="4000" dirty="0">
                <a:solidFill>
                  <a:schemeClr val="bg1"/>
                </a:solidFill>
                <a:latin typeface="Calibri"/>
                <a:cs typeface="Segoe UI"/>
              </a:rPr>
              <a:t>components</a:t>
            </a:r>
            <a:endParaRPr lang="en-US" sz="4000">
              <a:solidFill>
                <a:schemeClr val="bg1"/>
              </a:solidFill>
              <a:latin typeface="Calibri"/>
              <a:ea typeface="Calibri"/>
              <a:cs typeface="Segoe UI"/>
            </a:endParaRPr>
          </a:p>
          <a:p>
            <a:pPr marL="457200" indent="-457200">
              <a:lnSpc>
                <a:spcPct val="150000"/>
              </a:lnSpc>
              <a:buFont typeface="Wingdings"/>
              <a:buChar char="q"/>
            </a:pPr>
            <a:r>
              <a:rPr lang="en-US" sz="4000" b="1" dirty="0">
                <a:solidFill>
                  <a:schemeClr val="bg1"/>
                </a:solidFill>
                <a:latin typeface="Calibri"/>
                <a:cs typeface="Segoe UI"/>
              </a:rPr>
              <a:t>Emotion </a:t>
            </a:r>
            <a:r>
              <a:rPr lang="en-US" sz="4000" dirty="0">
                <a:solidFill>
                  <a:schemeClr val="bg1"/>
                </a:solidFill>
                <a:latin typeface="Calibri"/>
                <a:cs typeface="Segoe UI"/>
              </a:rPr>
              <a:t>(CSS‑in‑JS) for dynamic, theme‑aware styles</a:t>
            </a:r>
            <a:endParaRPr lang="en-US" sz="4000">
              <a:solidFill>
                <a:schemeClr val="bg1"/>
              </a:solidFill>
              <a:latin typeface="Calibri"/>
              <a:ea typeface="Calibri"/>
              <a:cs typeface="Segoe UI"/>
            </a:endParaRPr>
          </a:p>
          <a:p>
            <a:pPr marL="457200" indent="-457200">
              <a:lnSpc>
                <a:spcPct val="150000"/>
              </a:lnSpc>
              <a:buFont typeface="Wingdings"/>
              <a:buChar char="q"/>
            </a:pPr>
            <a:r>
              <a:rPr lang="en-US" sz="4000" b="1" dirty="0">
                <a:solidFill>
                  <a:schemeClr val="bg1"/>
                </a:solidFill>
                <a:latin typeface="Calibri"/>
                <a:cs typeface="Segoe UI"/>
              </a:rPr>
              <a:t>Custom CSS</a:t>
            </a:r>
            <a:r>
              <a:rPr lang="en-US" sz="4000" dirty="0">
                <a:solidFill>
                  <a:schemeClr val="bg1"/>
                </a:solidFill>
                <a:latin typeface="Calibri"/>
                <a:cs typeface="Segoe UI"/>
              </a:rPr>
              <a:t> for overrides &amp; responsive tweaks</a:t>
            </a:r>
            <a:endParaRPr lang="en-US" sz="4000">
              <a:solidFill>
                <a:schemeClr val="bg1"/>
              </a:solidFill>
              <a:latin typeface="Calibri"/>
              <a:ea typeface="Calibri"/>
              <a:cs typeface="Segoe UI"/>
            </a:endParaRPr>
          </a:p>
        </p:txBody>
      </p:sp>
      <p:pic>
        <p:nvPicPr>
          <p:cNvPr id="19" name="Picture 18" descr="A blue circle with black text and a black background&#10;&#10;AI-generated content may be incorrect.">
            <a:extLst>
              <a:ext uri="{FF2B5EF4-FFF2-40B4-BE49-F238E27FC236}">
                <a16:creationId xmlns:a16="http://schemas.microsoft.com/office/drawing/2014/main" id="{79516882-AAF1-D165-E4AC-527C8EF4DA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1114" y="4334555"/>
            <a:ext cx="4197804" cy="4067175"/>
          </a:xfrm>
          <a:prstGeom prst="roundRect">
            <a:avLst>
              <a:gd name="adj" fmla="val 16667"/>
            </a:avLst>
          </a:prstGeom>
          <a:ln>
            <a:solidFill>
              <a:srgbClr val="62F1F9"/>
            </a:solidFill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6" name="object 14">
            <a:extLst>
              <a:ext uri="{FF2B5EF4-FFF2-40B4-BE49-F238E27FC236}">
                <a16:creationId xmlns:a16="http://schemas.microsoft.com/office/drawing/2014/main" id="{D489AEA1-C323-8440-B40E-2FBC41E1AB2A}"/>
              </a:ext>
            </a:extLst>
          </p:cNvPr>
          <p:cNvSpPr txBox="1"/>
          <p:nvPr/>
        </p:nvSpPr>
        <p:spPr>
          <a:xfrm>
            <a:off x="561497" y="619629"/>
            <a:ext cx="9728203" cy="750847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n-US" sz="4800" b="1" u="sng" dirty="0">
                <a:solidFill>
                  <a:srgbClr val="62F1F9"/>
                </a:solidFill>
              </a:rPr>
              <a:t>Cont... : </a:t>
            </a:r>
            <a:endParaRPr lang="en-US" sz="4800" b="1" u="sng" dirty="0">
              <a:solidFill>
                <a:srgbClr val="62F1F9"/>
              </a:solidFill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2104225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7CEE0-728F-2632-2A2C-CD2705DCB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>
            <a:extLst>
              <a:ext uri="{FF2B5EF4-FFF2-40B4-BE49-F238E27FC236}">
                <a16:creationId xmlns:a16="http://schemas.microsoft.com/office/drawing/2014/main" id="{174EF09B-95A3-37B8-76FD-F3F5088C1A53}"/>
              </a:ext>
            </a:extLst>
          </p:cNvPr>
          <p:cNvSpPr txBox="1"/>
          <p:nvPr/>
        </p:nvSpPr>
        <p:spPr>
          <a:xfrm>
            <a:off x="17889343" y="8841172"/>
            <a:ext cx="200025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200" spc="-95">
                <a:solidFill>
                  <a:srgbClr val="FFFFFF"/>
                </a:solidFill>
                <a:latin typeface="Arial Black"/>
                <a:cs typeface="Arial Black"/>
              </a:rPr>
              <a:t>0</a:t>
            </a:r>
            <a:r>
              <a:rPr lang="ar-EG" sz="1200" spc="-95">
                <a:solidFill>
                  <a:srgbClr val="FFFFFF"/>
                </a:solidFill>
                <a:latin typeface="Arial Black"/>
                <a:cs typeface="Arial Black"/>
              </a:rPr>
              <a:t>5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BCCBA9DE-3972-9504-C044-8087662EAC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3481" y="1679419"/>
            <a:ext cx="10452352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l" rt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4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Performance &amp; Optimization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rgbClr val="000000"/>
              </a:solidFill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blue and black logo&#10;&#10;AI-generated content may be incorrect.">
            <a:extLst>
              <a:ext uri="{FF2B5EF4-FFF2-40B4-BE49-F238E27FC236}">
                <a16:creationId xmlns:a16="http://schemas.microsoft.com/office/drawing/2014/main" id="{EBE7E559-39DA-6FD0-0D1D-E06DBBB68C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3572" y="54670"/>
            <a:ext cx="1065783" cy="11430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794C87B-530A-2AFA-E9C2-32240F090308}"/>
              </a:ext>
            </a:extLst>
          </p:cNvPr>
          <p:cNvSpPr txBox="1"/>
          <p:nvPr/>
        </p:nvSpPr>
        <p:spPr>
          <a:xfrm>
            <a:off x="2152381" y="2804605"/>
            <a:ext cx="14020951" cy="46135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 algn="l">
              <a:lnSpc>
                <a:spcPct val="150000"/>
              </a:lnSpc>
              <a:buFont typeface="Wingdings"/>
              <a:buChar char="q"/>
            </a:pPr>
            <a:r>
              <a:rPr lang="en-US" sz="4000" b="1" dirty="0">
                <a:solidFill>
                  <a:schemeClr val="bg1"/>
                </a:solidFill>
              </a:rPr>
              <a:t> Code Splitting</a:t>
            </a:r>
            <a:r>
              <a:rPr lang="en-US" sz="4000" dirty="0">
                <a:solidFill>
                  <a:schemeClr val="bg1"/>
                </a:solidFill>
              </a:rPr>
              <a:t> &amp; </a:t>
            </a:r>
            <a:r>
              <a:rPr lang="en-US" sz="4000" b="1" dirty="0">
                <a:solidFill>
                  <a:schemeClr val="bg1"/>
                </a:solidFill>
              </a:rPr>
              <a:t>Tree Shaking</a:t>
            </a:r>
            <a:endParaRPr lang="en-US" sz="2800" dirty="0">
              <a:solidFill>
                <a:schemeClr val="bg1"/>
              </a:solidFill>
            </a:endParaRPr>
          </a:p>
          <a:p>
            <a:pPr marL="457200" indent="-457200" algn="l">
              <a:lnSpc>
                <a:spcPct val="150000"/>
              </a:lnSpc>
              <a:buFont typeface="Wingdings"/>
              <a:buChar char="q"/>
            </a:pPr>
            <a:r>
              <a:rPr lang="en-US" sz="40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Lazy Loading</a:t>
            </a:r>
            <a:r>
              <a:rPr lang="en-US" sz="40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via </a:t>
            </a:r>
            <a:r>
              <a:rPr lang="en-US" sz="4000" err="1">
                <a:solidFill>
                  <a:srgbClr val="00B050"/>
                </a:solidFill>
                <a:latin typeface="Consolas"/>
              </a:rPr>
              <a:t>React.lazy</a:t>
            </a:r>
            <a:r>
              <a:rPr lang="en-US" sz="4000" dirty="0">
                <a:solidFill>
                  <a:srgbClr val="00B050"/>
                </a:solidFill>
                <a:latin typeface="Consolas"/>
              </a:rPr>
              <a:t>()</a:t>
            </a:r>
            <a:r>
              <a:rPr lang="en-US" sz="4000" dirty="0">
                <a:solidFill>
                  <a:srgbClr val="92D05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40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+ </a:t>
            </a:r>
            <a:r>
              <a:rPr lang="en-US" sz="4000" dirty="0">
                <a:solidFill>
                  <a:srgbClr val="00B050"/>
                </a:solidFill>
                <a:latin typeface="Consolas"/>
              </a:rPr>
              <a:t>&lt;Suspense&gt;</a:t>
            </a:r>
          </a:p>
          <a:p>
            <a:pPr marL="457200" indent="-457200" algn="l">
              <a:lnSpc>
                <a:spcPct val="150000"/>
              </a:lnSpc>
              <a:buFont typeface="Wingdings"/>
              <a:buChar char="q"/>
            </a:pPr>
            <a:r>
              <a:rPr lang="en-US" sz="4000" b="1" dirty="0">
                <a:solidFill>
                  <a:schemeClr val="bg1"/>
                </a:solidFill>
              </a:rPr>
              <a:t>  Service Workers</a:t>
            </a:r>
            <a:r>
              <a:rPr lang="en-US" sz="4000" dirty="0">
                <a:solidFill>
                  <a:schemeClr val="bg1"/>
                </a:solidFill>
              </a:rPr>
              <a:t> for offline caching</a:t>
            </a:r>
            <a:endParaRPr lang="en-US" sz="2800">
              <a:solidFill>
                <a:schemeClr val="bg1"/>
              </a:solidFill>
            </a:endParaRPr>
          </a:p>
          <a:p>
            <a:pPr marL="457200" indent="-457200" algn="l">
              <a:lnSpc>
                <a:spcPct val="150000"/>
              </a:lnSpc>
              <a:buFont typeface="Wingdings"/>
              <a:buChar char="q"/>
            </a:pPr>
            <a:r>
              <a:rPr lang="en-US" sz="40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WCAG 2.1 AA</a:t>
            </a:r>
            <a:r>
              <a:rPr lang="en-US" sz="40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compliance: high‑contrast themes, keyboard nav</a:t>
            </a:r>
            <a:endParaRPr lang="en-US" sz="4000" dirty="0">
              <a:solidFill>
                <a:schemeClr val="bg1"/>
              </a:solidFill>
            </a:endParaRPr>
          </a:p>
          <a:p>
            <a:pPr marL="457200" indent="-457200">
              <a:lnSpc>
                <a:spcPct val="150000"/>
              </a:lnSpc>
              <a:buFont typeface="Wingdings"/>
              <a:buChar char="q"/>
            </a:pPr>
            <a:endParaRPr lang="en-US" sz="4000" dirty="0">
              <a:solidFill>
                <a:schemeClr val="bg1"/>
              </a:solidFill>
              <a:latin typeface="Calibri"/>
              <a:ea typeface="Calibri"/>
              <a:cs typeface="Segoe UI"/>
            </a:endParaRPr>
          </a:p>
        </p:txBody>
      </p:sp>
      <p:sp>
        <p:nvSpPr>
          <p:cNvPr id="6" name="object 14">
            <a:extLst>
              <a:ext uri="{FF2B5EF4-FFF2-40B4-BE49-F238E27FC236}">
                <a16:creationId xmlns:a16="http://schemas.microsoft.com/office/drawing/2014/main" id="{ADF0408F-492B-550E-7F2F-3BB98E94DAA8}"/>
              </a:ext>
            </a:extLst>
          </p:cNvPr>
          <p:cNvSpPr txBox="1"/>
          <p:nvPr/>
        </p:nvSpPr>
        <p:spPr>
          <a:xfrm>
            <a:off x="561497" y="619629"/>
            <a:ext cx="9728203" cy="750847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n-US" sz="4800" b="1" u="sng" dirty="0">
                <a:solidFill>
                  <a:srgbClr val="62F1F9"/>
                </a:solidFill>
              </a:rPr>
              <a:t>Cont... : </a:t>
            </a:r>
            <a:endParaRPr lang="en-US" sz="4800" b="1" u="sng" dirty="0">
              <a:solidFill>
                <a:srgbClr val="62F1F9"/>
              </a:solidFill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971233394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88D19-81A2-79DB-0726-1DFAEE92D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>
            <a:extLst>
              <a:ext uri="{FF2B5EF4-FFF2-40B4-BE49-F238E27FC236}">
                <a16:creationId xmlns:a16="http://schemas.microsoft.com/office/drawing/2014/main" id="{F93529AB-4D94-938C-B533-0667F9E78D3D}"/>
              </a:ext>
            </a:extLst>
          </p:cNvPr>
          <p:cNvSpPr txBox="1"/>
          <p:nvPr/>
        </p:nvSpPr>
        <p:spPr>
          <a:xfrm>
            <a:off x="17889343" y="8841172"/>
            <a:ext cx="200025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200" spc="-95">
                <a:solidFill>
                  <a:srgbClr val="FFFFFF"/>
                </a:solidFill>
                <a:latin typeface="Arial Black"/>
                <a:cs typeface="Arial Black"/>
              </a:rPr>
              <a:t>0</a:t>
            </a:r>
            <a:r>
              <a:rPr lang="ar-EG" sz="1200" spc="-95">
                <a:solidFill>
                  <a:srgbClr val="FFFFFF"/>
                </a:solidFill>
                <a:latin typeface="Arial Black"/>
                <a:cs typeface="Arial Black"/>
              </a:rPr>
              <a:t>5</a:t>
            </a:r>
            <a:endParaRPr sz="1200">
              <a:latin typeface="Arial Black"/>
              <a:cs typeface="Arial Black"/>
            </a:endParaRPr>
          </a:p>
        </p:txBody>
      </p:sp>
      <p:pic>
        <p:nvPicPr>
          <p:cNvPr id="3" name="Picture 2" descr="A blue and black logo&#10;&#10;AI-generated content may be incorrect.">
            <a:extLst>
              <a:ext uri="{FF2B5EF4-FFF2-40B4-BE49-F238E27FC236}">
                <a16:creationId xmlns:a16="http://schemas.microsoft.com/office/drawing/2014/main" id="{E2C2A97B-9928-98C5-BD41-F11CC9EFE1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3572" y="54670"/>
            <a:ext cx="1065783" cy="1143000"/>
          </a:xfrm>
          <a:prstGeom prst="rect">
            <a:avLst/>
          </a:prstGeom>
        </p:spPr>
      </p:pic>
      <p:pic>
        <p:nvPicPr>
          <p:cNvPr id="10" name="Picture 9" descr="A pink atom with a heart in the center&#10;&#10;AI-generated content may be incorrect.">
            <a:extLst>
              <a:ext uri="{FF2B5EF4-FFF2-40B4-BE49-F238E27FC236}">
                <a16:creationId xmlns:a16="http://schemas.microsoft.com/office/drawing/2014/main" id="{2A715E6D-0D6E-3FA6-E9F9-F47E8C6FF5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9159" y="5287225"/>
            <a:ext cx="3051222" cy="2998122"/>
          </a:xfrm>
          <a:prstGeom prst="roundRect">
            <a:avLst>
              <a:gd name="adj" fmla="val 16667"/>
            </a:avLst>
          </a:prstGeom>
          <a:ln>
            <a:solidFill>
              <a:srgbClr val="62F1F9"/>
            </a:solidFill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991D62B-7B5F-1830-8F0F-E6EE2572E3AB}"/>
              </a:ext>
            </a:extLst>
          </p:cNvPr>
          <p:cNvSpPr txBox="1"/>
          <p:nvPr/>
        </p:nvSpPr>
        <p:spPr>
          <a:xfrm>
            <a:off x="1319326" y="1799798"/>
            <a:ext cx="6927460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4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Icons &amp; Animations</a:t>
            </a:r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30BE7457-E7C2-FA31-7F4D-CE753BA0D9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8142" y="2187166"/>
            <a:ext cx="4357390" cy="2104891"/>
          </a:xfrm>
          <a:prstGeom prst="roundRect">
            <a:avLst>
              <a:gd name="adj" fmla="val 16667"/>
            </a:avLst>
          </a:prstGeom>
          <a:ln>
            <a:solidFill>
              <a:srgbClr val="62F1F9"/>
            </a:solidFill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3EA2A00-9744-D101-45B8-829881E18A81}"/>
              </a:ext>
            </a:extLst>
          </p:cNvPr>
          <p:cNvSpPr txBox="1"/>
          <p:nvPr/>
        </p:nvSpPr>
        <p:spPr>
          <a:xfrm>
            <a:off x="2024972" y="2926033"/>
            <a:ext cx="12946946" cy="27482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 algn="l">
              <a:lnSpc>
                <a:spcPct val="150000"/>
              </a:lnSpc>
              <a:buFont typeface="Wingdings"/>
              <a:buChar char="q"/>
            </a:pPr>
            <a:r>
              <a:rPr lang="en-US" sz="4000" b="1" dirty="0">
                <a:solidFill>
                  <a:schemeClr val="bg1"/>
                </a:solidFill>
              </a:rPr>
              <a:t>React Icons</a:t>
            </a:r>
            <a:r>
              <a:rPr lang="en-US" sz="4000" dirty="0">
                <a:solidFill>
                  <a:schemeClr val="bg1"/>
                </a:solidFill>
              </a:rPr>
              <a:t>,  </a:t>
            </a:r>
            <a:r>
              <a:rPr lang="en-US" sz="4000" b="1" dirty="0">
                <a:solidFill>
                  <a:schemeClr val="bg1"/>
                </a:solidFill>
              </a:rPr>
              <a:t>Font Awesome</a:t>
            </a:r>
            <a:r>
              <a:rPr lang="en-US" sz="4000" dirty="0">
                <a:solidFill>
                  <a:schemeClr val="bg1"/>
                </a:solidFill>
              </a:rPr>
              <a:t>, </a:t>
            </a:r>
            <a:r>
              <a:rPr lang="en-US" sz="4000" b="1" dirty="0">
                <a:solidFill>
                  <a:schemeClr val="bg1"/>
                </a:solidFill>
              </a:rPr>
              <a:t>Bootstrap Icons</a:t>
            </a:r>
            <a:endParaRPr lang="en-US" sz="4000" dirty="0">
              <a:solidFill>
                <a:schemeClr val="bg1"/>
              </a:solidFill>
              <a:latin typeface="Calibri"/>
              <a:ea typeface="Calibri"/>
              <a:cs typeface="Segoe UI"/>
            </a:endParaRPr>
          </a:p>
          <a:p>
            <a:pPr marL="457200" indent="-457200" algn="l">
              <a:lnSpc>
                <a:spcPct val="150000"/>
              </a:lnSpc>
              <a:buFont typeface="Wingdings"/>
              <a:buChar char="q"/>
            </a:pPr>
            <a:r>
              <a:rPr lang="en-US" sz="4000" b="1" dirty="0">
                <a:solidFill>
                  <a:schemeClr val="bg1"/>
                </a:solidFill>
              </a:rPr>
              <a:t>AOS</a:t>
            </a:r>
            <a:r>
              <a:rPr lang="en-US" sz="4000" dirty="0">
                <a:solidFill>
                  <a:schemeClr val="bg1"/>
                </a:solidFill>
              </a:rPr>
              <a:t> (Animate On Scroll) &amp; </a:t>
            </a:r>
            <a:r>
              <a:rPr lang="en-US" sz="4000" b="1" dirty="0">
                <a:solidFill>
                  <a:schemeClr val="bg1"/>
                </a:solidFill>
              </a:rPr>
              <a:t>Swiper</a:t>
            </a:r>
            <a:r>
              <a:rPr lang="en-US" sz="4000" dirty="0">
                <a:solidFill>
                  <a:schemeClr val="bg1"/>
                </a:solidFill>
              </a:rPr>
              <a:t> for engaging motion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6" name="object 14">
            <a:extLst>
              <a:ext uri="{FF2B5EF4-FFF2-40B4-BE49-F238E27FC236}">
                <a16:creationId xmlns:a16="http://schemas.microsoft.com/office/drawing/2014/main" id="{B5F2B5CA-CE9F-234C-BB9A-AEC7F238279E}"/>
              </a:ext>
            </a:extLst>
          </p:cNvPr>
          <p:cNvSpPr txBox="1"/>
          <p:nvPr/>
        </p:nvSpPr>
        <p:spPr>
          <a:xfrm>
            <a:off x="561497" y="619629"/>
            <a:ext cx="9728203" cy="750847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n-US" sz="4800" b="1" u="sng" dirty="0">
                <a:solidFill>
                  <a:srgbClr val="62F1F9"/>
                </a:solidFill>
              </a:rPr>
              <a:t>Cont... : </a:t>
            </a:r>
            <a:endParaRPr lang="en-US" sz="4800" b="1" u="sng" dirty="0">
              <a:solidFill>
                <a:srgbClr val="62F1F9"/>
              </a:solidFill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323750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 txBox="1"/>
          <p:nvPr/>
        </p:nvSpPr>
        <p:spPr>
          <a:xfrm>
            <a:off x="17889342" y="8877300"/>
            <a:ext cx="200025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200" spc="-95">
                <a:solidFill>
                  <a:srgbClr val="FFFFFF"/>
                </a:solidFill>
                <a:latin typeface="Arial Black"/>
                <a:cs typeface="Arial Black"/>
              </a:rPr>
              <a:t>0</a:t>
            </a:r>
            <a:r>
              <a:rPr lang="ar-EG" sz="1200" spc="-95">
                <a:solidFill>
                  <a:srgbClr val="FFFFFF"/>
                </a:solidFill>
                <a:latin typeface="Arial Black"/>
                <a:cs typeface="Arial Black"/>
              </a:rPr>
              <a:t>6</a:t>
            </a:r>
            <a:endParaRPr sz="1200">
              <a:latin typeface="Arial Black"/>
              <a:cs typeface="Arial Black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F30E34-E47F-4EB9-588E-30A310E50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2463" y="58807"/>
            <a:ext cx="1066892" cy="1146147"/>
          </a:xfrm>
          <a:prstGeom prst="rect">
            <a:avLst/>
          </a:prstGeom>
        </p:spPr>
      </p:pic>
      <p:sp>
        <p:nvSpPr>
          <p:cNvPr id="12" name="object 16">
            <a:extLst>
              <a:ext uri="{FF2B5EF4-FFF2-40B4-BE49-F238E27FC236}">
                <a16:creationId xmlns:a16="http://schemas.microsoft.com/office/drawing/2014/main" id="{DA1981CA-C2A1-7C7C-D79F-BBD3CE9F609F}"/>
              </a:ext>
            </a:extLst>
          </p:cNvPr>
          <p:cNvSpPr txBox="1"/>
          <p:nvPr/>
        </p:nvSpPr>
        <p:spPr>
          <a:xfrm>
            <a:off x="1107261" y="1654750"/>
            <a:ext cx="7126278" cy="1072088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4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State Management</a:t>
            </a:r>
          </a:p>
          <a:p>
            <a:pPr marL="12700">
              <a:spcBef>
                <a:spcPts val="100"/>
              </a:spcBef>
            </a:pPr>
            <a:endParaRPr lang="en-US" sz="2000" b="1" dirty="0">
              <a:solidFill>
                <a:srgbClr val="00000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69607E-F550-0AAE-F991-73A92D4649F4}"/>
              </a:ext>
            </a:extLst>
          </p:cNvPr>
          <p:cNvSpPr txBox="1"/>
          <p:nvPr/>
        </p:nvSpPr>
        <p:spPr>
          <a:xfrm>
            <a:off x="1594910" y="2577844"/>
            <a:ext cx="15076329" cy="40427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 algn="l">
              <a:lnSpc>
                <a:spcPct val="150000"/>
              </a:lnSpc>
              <a:buFont typeface="Wingdings"/>
              <a:buChar char="q"/>
            </a:pPr>
            <a:r>
              <a:rPr lang="en-US" sz="4400" b="1" dirty="0">
                <a:solidFill>
                  <a:schemeClr val="bg1"/>
                </a:solidFill>
                <a:latin typeface="Calibri"/>
                <a:cs typeface="Segoe UI"/>
              </a:rPr>
              <a:t>  L</a:t>
            </a:r>
            <a:r>
              <a:rPr lang="en-US" sz="4400" b="1" dirty="0">
                <a:solidFill>
                  <a:schemeClr val="bg1"/>
                </a:solidFill>
              </a:rPr>
              <a:t>ocal State</a:t>
            </a:r>
            <a:r>
              <a:rPr lang="en-US" sz="4400" dirty="0">
                <a:solidFill>
                  <a:schemeClr val="bg1"/>
                </a:solidFill>
              </a:rPr>
              <a:t>: </a:t>
            </a:r>
            <a:r>
              <a:rPr lang="en-US" sz="4400" dirty="0" err="1">
                <a:solidFill>
                  <a:schemeClr val="bg1"/>
                </a:solidFill>
                <a:latin typeface="Consolas"/>
                <a:cs typeface="Segoe UI"/>
              </a:rPr>
              <a:t>useState</a:t>
            </a:r>
            <a:r>
              <a:rPr lang="en-US" sz="4400" dirty="0">
                <a:solidFill>
                  <a:schemeClr val="bg1"/>
                </a:solidFill>
              </a:rPr>
              <a:t>, </a:t>
            </a:r>
            <a:r>
              <a:rPr lang="en-US" sz="4400" dirty="0" err="1">
                <a:solidFill>
                  <a:schemeClr val="bg1"/>
                </a:solidFill>
                <a:latin typeface="Consolas"/>
                <a:cs typeface="Segoe UI"/>
              </a:rPr>
              <a:t>useReducer</a:t>
            </a:r>
            <a:r>
              <a:rPr lang="en-US" sz="4400" dirty="0">
                <a:solidFill>
                  <a:schemeClr val="bg1"/>
                </a:solidFill>
              </a:rPr>
              <a:t> for UI logic</a:t>
            </a:r>
            <a:endParaRPr lang="en-US" sz="4400" dirty="0">
              <a:solidFill>
                <a:schemeClr val="bg1"/>
              </a:solidFill>
              <a:latin typeface="Calibri"/>
              <a:ea typeface="Calibri"/>
              <a:cs typeface="Segoe UI"/>
            </a:endParaRPr>
          </a:p>
          <a:p>
            <a:pPr marL="457200" indent="-457200" algn="l">
              <a:lnSpc>
                <a:spcPct val="150000"/>
              </a:lnSpc>
              <a:buFont typeface="Wingdings"/>
              <a:buChar char="q"/>
            </a:pPr>
            <a:r>
              <a:rPr lang="en-US" sz="4400" b="1" dirty="0">
                <a:solidFill>
                  <a:schemeClr val="bg1"/>
                </a:solidFill>
              </a:rPr>
              <a:t>  Global State</a:t>
            </a:r>
            <a:r>
              <a:rPr lang="en-US" sz="4400" dirty="0">
                <a:solidFill>
                  <a:schemeClr val="bg1"/>
                </a:solidFill>
              </a:rPr>
              <a:t>: Context API (</a:t>
            </a:r>
            <a:r>
              <a:rPr lang="en-US" sz="4400" dirty="0" err="1">
                <a:solidFill>
                  <a:srgbClr val="00B050"/>
                </a:solidFill>
                <a:latin typeface="Consolas"/>
              </a:rPr>
              <a:t>AuthContext</a:t>
            </a:r>
            <a:r>
              <a:rPr lang="en-US" sz="4400" dirty="0">
                <a:solidFill>
                  <a:srgbClr val="00B050"/>
                </a:solidFill>
                <a:latin typeface="Consolas"/>
              </a:rPr>
              <a:t>, </a:t>
            </a:r>
            <a:r>
              <a:rPr lang="en-US" sz="4400" dirty="0" err="1">
                <a:solidFill>
                  <a:srgbClr val="00B050"/>
                </a:solidFill>
                <a:latin typeface="Consolas"/>
              </a:rPr>
              <a:t>ThemeContext</a:t>
            </a:r>
            <a:r>
              <a:rPr lang="en-US" sz="4400" dirty="0">
                <a:solidFill>
                  <a:srgbClr val="00B050"/>
                </a:solidFill>
                <a:latin typeface="Consolas"/>
              </a:rPr>
              <a:t>)</a:t>
            </a:r>
          </a:p>
          <a:p>
            <a:pPr marL="457200" indent="-457200" algn="l">
              <a:lnSpc>
                <a:spcPct val="150000"/>
              </a:lnSpc>
              <a:buFont typeface="Wingdings"/>
              <a:buChar char="q"/>
            </a:pPr>
            <a:r>
              <a:rPr lang="en-US" sz="4400" b="1" dirty="0">
                <a:solidFill>
                  <a:schemeClr val="bg1"/>
                </a:solidFill>
              </a:rPr>
              <a:t>  Custom Hooks</a:t>
            </a:r>
            <a:r>
              <a:rPr lang="en-US" sz="4400" dirty="0">
                <a:solidFill>
                  <a:schemeClr val="bg1"/>
                </a:solidFill>
              </a:rPr>
              <a:t>: </a:t>
            </a:r>
            <a:r>
              <a:rPr lang="en-US" sz="4400" dirty="0" err="1">
                <a:solidFill>
                  <a:srgbClr val="00B050"/>
                </a:solidFill>
                <a:latin typeface="Consolas"/>
              </a:rPr>
              <a:t>useFetch</a:t>
            </a:r>
            <a:r>
              <a:rPr lang="en-US" sz="4400" dirty="0">
                <a:solidFill>
                  <a:srgbClr val="00B050"/>
                </a:solidFill>
                <a:latin typeface="Consolas"/>
              </a:rPr>
              <a:t>()</a:t>
            </a:r>
            <a:r>
              <a:rPr lang="en-US" sz="4400" dirty="0">
                <a:solidFill>
                  <a:schemeClr val="bg1"/>
                </a:solidFill>
              </a:rPr>
              <a:t>, </a:t>
            </a:r>
            <a:r>
              <a:rPr lang="en-US" sz="4400" dirty="0" err="1">
                <a:solidFill>
                  <a:srgbClr val="00B050"/>
                </a:solidFill>
                <a:latin typeface="Consolas"/>
              </a:rPr>
              <a:t>useAuth</a:t>
            </a:r>
            <a:r>
              <a:rPr lang="en-US" sz="4400" dirty="0">
                <a:solidFill>
                  <a:srgbClr val="00B050"/>
                </a:solidFill>
                <a:latin typeface="Consolas"/>
              </a:rPr>
              <a:t>(),</a:t>
            </a:r>
            <a:r>
              <a:rPr lang="en-US" sz="4400" dirty="0">
                <a:solidFill>
                  <a:schemeClr val="bg1"/>
                </a:solidFill>
              </a:rPr>
              <a:t> </a:t>
            </a:r>
            <a:r>
              <a:rPr lang="en-US" sz="4400" dirty="0" err="1">
                <a:solidFill>
                  <a:srgbClr val="00B050"/>
                </a:solidFill>
                <a:latin typeface="Consolas"/>
              </a:rPr>
              <a:t>useTheme</a:t>
            </a:r>
            <a:r>
              <a:rPr lang="en-US" sz="4400" dirty="0">
                <a:solidFill>
                  <a:srgbClr val="00B050"/>
                </a:solidFill>
                <a:latin typeface="Consolas"/>
              </a:rPr>
              <a:t>()</a:t>
            </a:r>
          </a:p>
        </p:txBody>
      </p:sp>
      <p:sp>
        <p:nvSpPr>
          <p:cNvPr id="23" name="object 14">
            <a:extLst>
              <a:ext uri="{FF2B5EF4-FFF2-40B4-BE49-F238E27FC236}">
                <a16:creationId xmlns:a16="http://schemas.microsoft.com/office/drawing/2014/main" id="{48AB669A-F6DA-3310-140E-C9548341B889}"/>
              </a:ext>
            </a:extLst>
          </p:cNvPr>
          <p:cNvSpPr txBox="1"/>
          <p:nvPr/>
        </p:nvSpPr>
        <p:spPr>
          <a:xfrm>
            <a:off x="561497" y="619629"/>
            <a:ext cx="9728203" cy="750847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n-US" sz="4800" b="1" u="sng" dirty="0">
                <a:solidFill>
                  <a:srgbClr val="62F1F9"/>
                </a:solidFill>
              </a:rPr>
              <a:t>Cont... : </a:t>
            </a:r>
            <a:endParaRPr lang="en-US" sz="4800" b="1" u="sng" dirty="0">
              <a:solidFill>
                <a:srgbClr val="62F1F9"/>
              </a:solidFill>
              <a:ea typeface="+mj-ea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BE5FF-E41E-8577-BB66-F7B043AAD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>
            <a:extLst>
              <a:ext uri="{FF2B5EF4-FFF2-40B4-BE49-F238E27FC236}">
                <a16:creationId xmlns:a16="http://schemas.microsoft.com/office/drawing/2014/main" id="{A8F3E569-CFE2-D812-8006-CFD25B5AE383}"/>
              </a:ext>
            </a:extLst>
          </p:cNvPr>
          <p:cNvSpPr txBox="1"/>
          <p:nvPr/>
        </p:nvSpPr>
        <p:spPr>
          <a:xfrm>
            <a:off x="17889342" y="8877300"/>
            <a:ext cx="200025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200" spc="-95">
                <a:solidFill>
                  <a:srgbClr val="FFFFFF"/>
                </a:solidFill>
                <a:latin typeface="Arial Black"/>
                <a:cs typeface="Arial Black"/>
              </a:rPr>
              <a:t>0</a:t>
            </a:r>
            <a:r>
              <a:rPr lang="ar-EG" sz="1200" spc="-95">
                <a:solidFill>
                  <a:srgbClr val="FFFFFF"/>
                </a:solidFill>
                <a:latin typeface="Arial Black"/>
                <a:cs typeface="Arial Black"/>
              </a:rPr>
              <a:t>6</a:t>
            </a:r>
            <a:endParaRPr sz="1200">
              <a:latin typeface="Arial Black"/>
              <a:cs typeface="Arial Black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218442-90E7-A3BC-1C6A-8C1D12431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2463" y="58807"/>
            <a:ext cx="1066892" cy="1146147"/>
          </a:xfrm>
          <a:prstGeom prst="rect">
            <a:avLst/>
          </a:prstGeom>
        </p:spPr>
      </p:pic>
      <p:sp>
        <p:nvSpPr>
          <p:cNvPr id="16" name="object 16">
            <a:extLst>
              <a:ext uri="{FF2B5EF4-FFF2-40B4-BE49-F238E27FC236}">
                <a16:creationId xmlns:a16="http://schemas.microsoft.com/office/drawing/2014/main" id="{5FC476B3-5CF6-9911-39D1-97E45C1A0869}"/>
              </a:ext>
            </a:extLst>
          </p:cNvPr>
          <p:cNvSpPr txBox="1"/>
          <p:nvPr/>
        </p:nvSpPr>
        <p:spPr>
          <a:xfrm>
            <a:off x="591341" y="1705039"/>
            <a:ext cx="9734249" cy="887422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4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Core UI Components</a:t>
            </a:r>
          </a:p>
          <a:p>
            <a:pPr marL="12700">
              <a:spcBef>
                <a:spcPts val="100"/>
              </a:spcBef>
            </a:pPr>
            <a:endParaRPr lang="en-US" sz="1600" b="1" dirty="0">
              <a:solidFill>
                <a:srgbClr val="00000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C51A32-EC40-A5EA-985C-A68B92DCC4AD}"/>
              </a:ext>
            </a:extLst>
          </p:cNvPr>
          <p:cNvSpPr txBox="1"/>
          <p:nvPr/>
        </p:nvSpPr>
        <p:spPr>
          <a:xfrm>
            <a:off x="966529" y="2434719"/>
            <a:ext cx="13581461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 algn="l">
              <a:buFont typeface="Wingdings"/>
              <a:buChar char="q"/>
            </a:pPr>
            <a:r>
              <a:rPr lang="en-US" sz="3600" b="1" dirty="0">
                <a:solidFill>
                  <a:srgbClr val="2CACBB"/>
                </a:solidFill>
              </a:rPr>
              <a:t>Form Controls &amp; Inputs</a:t>
            </a:r>
            <a:endParaRPr lang="en-US" sz="3600" b="1" dirty="0">
              <a:solidFill>
                <a:srgbClr val="2CACBB"/>
              </a:solidFill>
              <a:latin typeface="Calibri"/>
              <a:ea typeface="Calibri"/>
              <a:cs typeface="Segoe UI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</a:rPr>
              <a:t>        Reusable </a:t>
            </a:r>
            <a:r>
              <a:rPr lang="en-US" sz="3600" dirty="0">
                <a:solidFill>
                  <a:srgbClr val="00B050"/>
                </a:solidFill>
                <a:latin typeface="Consolas"/>
              </a:rPr>
              <a:t>&lt;Button&gt;</a:t>
            </a:r>
            <a:r>
              <a:rPr lang="en-US" sz="3600" dirty="0">
                <a:solidFill>
                  <a:schemeClr val="bg1"/>
                </a:solidFill>
              </a:rPr>
              <a:t>, </a:t>
            </a:r>
            <a:r>
              <a:rPr lang="en-US" sz="3600" dirty="0">
                <a:solidFill>
                  <a:srgbClr val="00B050"/>
                </a:solidFill>
                <a:latin typeface="Consolas"/>
              </a:rPr>
              <a:t>&lt;Input&gt;</a:t>
            </a:r>
            <a:r>
              <a:rPr lang="en-US" sz="3600" dirty="0">
                <a:solidFill>
                  <a:schemeClr val="bg1"/>
                </a:solidFill>
              </a:rPr>
              <a:t>, Ant Design </a:t>
            </a:r>
            <a:r>
              <a:rPr lang="en-US" sz="3600" dirty="0">
                <a:solidFill>
                  <a:srgbClr val="00B050"/>
                </a:solidFill>
                <a:latin typeface="Consolas"/>
              </a:rPr>
              <a:t>&lt;Form&gt;</a:t>
            </a:r>
          </a:p>
          <a:p>
            <a:pPr marL="457200" indent="-457200" algn="l">
              <a:buFont typeface="Wingdings"/>
              <a:buChar char="q"/>
            </a:pPr>
            <a:r>
              <a:rPr lang="en-US" sz="3600" b="1" dirty="0">
                <a:solidFill>
                  <a:srgbClr val="2CACBB"/>
                </a:solidFill>
              </a:rPr>
              <a:t>Content Display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Consolas"/>
                <a:ea typeface="Calibri"/>
                <a:cs typeface="Segoe UI"/>
              </a:rPr>
              <a:t> </a:t>
            </a:r>
            <a:r>
              <a:rPr lang="en-US" sz="3600" dirty="0">
                <a:solidFill>
                  <a:srgbClr val="00B050"/>
                </a:solidFill>
                <a:latin typeface="Consolas"/>
              </a:rPr>
              <a:t>   &lt;</a:t>
            </a:r>
            <a:r>
              <a:rPr lang="en-US" sz="3600" dirty="0" err="1">
                <a:solidFill>
                  <a:srgbClr val="00B050"/>
                </a:solidFill>
                <a:latin typeface="Consolas"/>
              </a:rPr>
              <a:t>CourseCard</a:t>
            </a:r>
            <a:r>
              <a:rPr lang="en-US" sz="3600" dirty="0">
                <a:solidFill>
                  <a:srgbClr val="00B050"/>
                </a:solidFill>
                <a:latin typeface="Consolas"/>
              </a:rPr>
              <a:t>&gt;</a:t>
            </a:r>
            <a:r>
              <a:rPr lang="en-US" sz="3600" dirty="0">
                <a:solidFill>
                  <a:schemeClr val="bg1"/>
                </a:solidFill>
              </a:rPr>
              <a:t> and Ant Design </a:t>
            </a:r>
            <a:r>
              <a:rPr lang="en-US" sz="3600" dirty="0">
                <a:solidFill>
                  <a:srgbClr val="00B050"/>
                </a:solidFill>
                <a:latin typeface="Consolas"/>
              </a:rPr>
              <a:t>&lt;List&gt;</a:t>
            </a:r>
            <a:r>
              <a:rPr lang="en-US" sz="3600" dirty="0">
                <a:solidFill>
                  <a:schemeClr val="bg1"/>
                </a:solidFill>
              </a:rPr>
              <a:t> with pagination</a:t>
            </a:r>
            <a:endParaRPr lang="en-US" sz="2400" dirty="0">
              <a:solidFill>
                <a:schemeClr val="bg1"/>
              </a:solidFill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</a:rPr>
              <a:t>       Responsive grid layouts for card collections</a:t>
            </a:r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buFont typeface="Wingdings"/>
              <a:buChar char="q"/>
            </a:pPr>
            <a:endParaRPr lang="en-US" sz="3600" b="1" dirty="0">
              <a:solidFill>
                <a:schemeClr val="bg1"/>
              </a:solidFill>
              <a:latin typeface="Calibri"/>
              <a:ea typeface="Calibri"/>
              <a:cs typeface="Segoe UI"/>
            </a:endParaRPr>
          </a:p>
        </p:txBody>
      </p:sp>
      <p:sp>
        <p:nvSpPr>
          <p:cNvPr id="23" name="object 14">
            <a:extLst>
              <a:ext uri="{FF2B5EF4-FFF2-40B4-BE49-F238E27FC236}">
                <a16:creationId xmlns:a16="http://schemas.microsoft.com/office/drawing/2014/main" id="{1937D6C5-42CD-A135-B546-ACDFFA1C1E3E}"/>
              </a:ext>
            </a:extLst>
          </p:cNvPr>
          <p:cNvSpPr txBox="1"/>
          <p:nvPr/>
        </p:nvSpPr>
        <p:spPr>
          <a:xfrm>
            <a:off x="561497" y="619629"/>
            <a:ext cx="9728203" cy="750847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n-US" sz="4800" b="1" u="sng" dirty="0">
                <a:solidFill>
                  <a:srgbClr val="62F1F9"/>
                </a:solidFill>
              </a:rPr>
              <a:t>Cont... : </a:t>
            </a:r>
            <a:endParaRPr lang="en-US" sz="4800" b="1" u="sng" dirty="0">
              <a:solidFill>
                <a:srgbClr val="62F1F9"/>
              </a:solidFill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D2DFC3-DAFC-8B1F-D69C-3F9EF63A169C}"/>
              </a:ext>
            </a:extLst>
          </p:cNvPr>
          <p:cNvSpPr txBox="1"/>
          <p:nvPr/>
        </p:nvSpPr>
        <p:spPr>
          <a:xfrm>
            <a:off x="970515" y="7303700"/>
            <a:ext cx="87357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 algn="l" rtl="0">
              <a:buFont typeface="Wingdings"/>
              <a:buChar char="q"/>
            </a:pPr>
            <a:r>
              <a:rPr lang="en-US" sz="3600" b="1" dirty="0">
                <a:solidFill>
                  <a:srgbClr val="2CACBB"/>
                </a:solidFill>
              </a:rPr>
              <a:t>Navigation &amp; Icons</a:t>
            </a:r>
            <a:endParaRPr lang="en-US" sz="2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F19AC62-4AA1-E692-29AF-BA96C2EE709C}"/>
              </a:ext>
            </a:extLst>
          </p:cNvPr>
          <p:cNvSpPr txBox="1"/>
          <p:nvPr/>
        </p:nvSpPr>
        <p:spPr>
          <a:xfrm>
            <a:off x="1815230" y="6029612"/>
            <a:ext cx="13627457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 rtl="0">
              <a:buFont typeface="Wingdings"/>
              <a:buChar char="§"/>
            </a:pPr>
            <a:r>
              <a:rPr lang="en-US" sz="3600" b="1" dirty="0">
                <a:solidFill>
                  <a:srgbClr val="FFFFFF"/>
                </a:solidFill>
                <a:latin typeface="Calibri"/>
                <a:cs typeface="Segoe UI"/>
              </a:rPr>
              <a:t>SweetAlert2</a:t>
            </a:r>
            <a:r>
              <a:rPr lang="en-US" sz="3600" dirty="0">
                <a:solidFill>
                  <a:srgbClr val="FFFFFF"/>
                </a:solidFill>
                <a:latin typeface="Calibri"/>
                <a:cs typeface="Segoe UI"/>
              </a:rPr>
              <a:t> for confirmation &amp; prompts</a:t>
            </a:r>
            <a:r>
              <a:rPr lang="en-US" sz="3600" dirty="0">
                <a:latin typeface="Calibri"/>
                <a:cs typeface="Segoe UI"/>
              </a:rPr>
              <a:t>​</a:t>
            </a:r>
          </a:p>
          <a:p>
            <a:pPr marL="457200" indent="-457200" rtl="0">
              <a:buFont typeface="Wingdings"/>
              <a:buChar char="§"/>
            </a:pPr>
            <a:r>
              <a:rPr lang="en-US" sz="3600" b="1" dirty="0">
                <a:solidFill>
                  <a:srgbClr val="FFFFFF"/>
                </a:solidFill>
                <a:latin typeface="Calibri"/>
                <a:cs typeface="Segoe UI"/>
              </a:rPr>
              <a:t>React </a:t>
            </a:r>
            <a:r>
              <a:rPr lang="en-US" sz="3600" b="1" dirty="0" err="1">
                <a:solidFill>
                  <a:srgbClr val="FFFFFF"/>
                </a:solidFill>
                <a:latin typeface="Calibri"/>
                <a:cs typeface="Segoe UI"/>
              </a:rPr>
              <a:t>Toastify</a:t>
            </a:r>
            <a:r>
              <a:rPr lang="en-US" sz="3600" dirty="0">
                <a:solidFill>
                  <a:srgbClr val="FFFFFF"/>
                </a:solidFill>
                <a:latin typeface="Calibri"/>
                <a:cs typeface="Segoe UI"/>
              </a:rPr>
              <a:t> for in‑app notifications</a:t>
            </a:r>
            <a:endParaRPr lang="en-US" sz="3600" dirty="0">
              <a:solidFill>
                <a:srgbClr val="FFFFFF"/>
              </a:solidFill>
              <a:latin typeface="Calibri"/>
              <a:ea typeface="Calibri"/>
              <a:cs typeface="Segoe UI"/>
            </a:endParaRPr>
          </a:p>
          <a:p>
            <a:endParaRPr lang="en-US" sz="3600" dirty="0">
              <a:solidFill>
                <a:srgbClr val="FFFFFF"/>
              </a:solidFill>
              <a:latin typeface="Calibri"/>
              <a:ea typeface="Calibri"/>
              <a:cs typeface="Segoe UI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3EDD340-6FD0-3704-9F01-171F27C8CB04}"/>
              </a:ext>
            </a:extLst>
          </p:cNvPr>
          <p:cNvSpPr txBox="1"/>
          <p:nvPr/>
        </p:nvSpPr>
        <p:spPr>
          <a:xfrm>
            <a:off x="1819601" y="8121049"/>
            <a:ext cx="1381673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 rtl="0">
              <a:buFont typeface="Wingdings"/>
              <a:buChar char="§"/>
            </a:pPr>
            <a:r>
              <a:rPr lang="en-US" sz="3600">
                <a:solidFill>
                  <a:srgbClr val="FFFFFF"/>
                </a:solidFill>
                <a:latin typeface="Calibri"/>
                <a:cs typeface="Segoe UI"/>
              </a:rPr>
              <a:t>Icon buttons via React Icons/Font Awesome</a:t>
            </a:r>
            <a:r>
              <a:rPr lang="en-US" sz="3600">
                <a:latin typeface="Calibri"/>
                <a:cs typeface="Segoe UI"/>
              </a:rPr>
              <a:t>​</a:t>
            </a:r>
          </a:p>
          <a:p>
            <a:pPr marL="457200" indent="-457200" rtl="0">
              <a:buFont typeface="Wingdings"/>
              <a:buChar char="§"/>
            </a:pPr>
            <a:r>
              <a:rPr lang="en-US" sz="3600">
                <a:solidFill>
                  <a:srgbClr val="FFFFFF"/>
                </a:solidFill>
                <a:latin typeface="Calibri"/>
                <a:cs typeface="Segoe UI"/>
              </a:rPr>
              <a:t> “Back to Top” and Theme Switcher components</a:t>
            </a:r>
            <a:endParaRPr lang="en-US" sz="3600">
              <a:solidFill>
                <a:srgbClr val="FFFFFF"/>
              </a:solidFill>
              <a:latin typeface="Calibri"/>
              <a:ea typeface="Calibri"/>
              <a:cs typeface="Segoe U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0415330-48E1-880F-7E63-F3C8C2886715}"/>
              </a:ext>
            </a:extLst>
          </p:cNvPr>
          <p:cNvSpPr txBox="1"/>
          <p:nvPr/>
        </p:nvSpPr>
        <p:spPr>
          <a:xfrm>
            <a:off x="971435" y="5372100"/>
            <a:ext cx="545374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Wingdings"/>
              <a:buChar char="q"/>
            </a:pPr>
            <a:r>
              <a:rPr lang="en-US" sz="3600" b="1" dirty="0">
                <a:solidFill>
                  <a:srgbClr val="2CACBB"/>
                </a:solidFill>
                <a:latin typeface="Calibri"/>
              </a:rPr>
              <a:t>Feedback &amp; Modals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21329140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24"/>
          <p:cNvSpPr txBox="1"/>
          <p:nvPr/>
        </p:nvSpPr>
        <p:spPr>
          <a:xfrm>
            <a:off x="17889343" y="8841172"/>
            <a:ext cx="200025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200" spc="-95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0</a:t>
            </a:r>
            <a:r>
              <a:rPr lang="ar-EG" sz="1200" spc="-95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8</a:t>
            </a:r>
            <a:endParaRPr sz="12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095322" y="4043836"/>
            <a:ext cx="598170" cy="39754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20"/>
              </a:spcBef>
            </a:pP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endParaRPr sz="1200">
              <a:latin typeface="Arial Black" panose="020B0A04020102020204"/>
              <a:cs typeface="Arial Black" panose="020B0A04020102020204"/>
            </a:endParaRPr>
          </a:p>
        </p:txBody>
      </p:sp>
      <p:pic>
        <p:nvPicPr>
          <p:cNvPr id="3" name="Picture 2" descr="A blue and black logo&#10;&#10;AI-generated content may be incorrect.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7595" y="22910"/>
            <a:ext cx="1065783" cy="1143000"/>
          </a:xfrm>
          <a:prstGeom prst="rect">
            <a:avLst/>
          </a:prstGeom>
        </p:spPr>
      </p:pic>
      <p:pic>
        <p:nvPicPr>
          <p:cNvPr id="4" name="Picture 3" descr="A computer screen with text and words&#10;&#10;AI-generated content may be incorrect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211" y="1382822"/>
            <a:ext cx="14584168" cy="8316486"/>
          </a:xfrm>
          <a:prstGeom prst="rect">
            <a:avLst/>
          </a:prstGeom>
        </p:spPr>
      </p:pic>
      <p:pic>
        <p:nvPicPr>
          <p:cNvPr id="6" name="Picture 5" descr="A computer screen with text and words&#10;&#10;AI-generated content may be incorrect.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211" y="1549439"/>
            <a:ext cx="14584168" cy="83641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0317" y="1384379"/>
            <a:ext cx="233569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/>
                <a:cs typeface="Arial" panose="020B0604020202020204"/>
              </a:rPr>
              <a:t>Theming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622" y="342386"/>
            <a:ext cx="7109791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800" b="1" u="sng" dirty="0">
                <a:solidFill>
                  <a:srgbClr val="62F1F9"/>
                </a:solidFill>
              </a:rPr>
              <a:t>Platform Demo :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24"/>
          <p:cNvSpPr txBox="1"/>
          <p:nvPr/>
        </p:nvSpPr>
        <p:spPr>
          <a:xfrm>
            <a:off x="17889343" y="8841172"/>
            <a:ext cx="200025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200" spc="-95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0</a:t>
            </a:r>
            <a:r>
              <a:rPr lang="ar-EG" sz="1200" spc="-95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9</a:t>
            </a:r>
            <a:endParaRPr sz="1200">
              <a:latin typeface="Arial Black" panose="020B0A04020102020204"/>
              <a:cs typeface="Arial Black" panose="020B0A04020102020204"/>
            </a:endParaRPr>
          </a:p>
        </p:txBody>
      </p:sp>
      <p:pic>
        <p:nvPicPr>
          <p:cNvPr id="3" name="Picture 2" descr="A blue and black logo&#10;&#10;AI-generated content may be incorrect.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7417" y="8873"/>
            <a:ext cx="1065783" cy="114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3143" y="1632857"/>
            <a:ext cx="12573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/>
                <a:cs typeface="Arial" panose="020B0604020202020204"/>
              </a:rPr>
              <a:t>Live AI‑Powered Chatbot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1" y="2579914"/>
            <a:ext cx="5078185" cy="45368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457200" indent="-457200" rtl="0">
              <a:lnSpc>
                <a:spcPct val="150000"/>
              </a:lnSpc>
              <a:buFont typeface="Wingdings" panose="05000000000000000000"/>
              <a:buChar char="q"/>
            </a:pPr>
            <a:r>
              <a:rPr lang="en-US" sz="28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Natural‑language interface for course Q&amp;A</a:t>
            </a:r>
            <a:r>
              <a:rPr lang="en-US" sz="2800" dirty="0">
                <a:latin typeface="Arial" panose="020B0604020202020204"/>
                <a:cs typeface="Arial" panose="020B0604020202020204"/>
              </a:rPr>
              <a:t>​</a:t>
            </a:r>
          </a:p>
          <a:p>
            <a:pPr marL="457200" indent="-457200" rtl="0">
              <a:lnSpc>
                <a:spcPct val="150000"/>
              </a:lnSpc>
              <a:buFont typeface="Wingdings" panose="05000000000000000000"/>
              <a:buChar char="q"/>
            </a:pPr>
            <a:r>
              <a:rPr lang="en-US" sz="28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Guides learners through navigation and troubleshooting</a:t>
            </a:r>
            <a:r>
              <a:rPr lang="en-US" sz="2800" dirty="0">
                <a:latin typeface="Arial" panose="020B0604020202020204"/>
                <a:cs typeface="Arial" panose="020B0604020202020204"/>
              </a:rPr>
              <a:t>​</a:t>
            </a:r>
          </a:p>
          <a:p>
            <a:pPr marL="457200" indent="-457200" rtl="0">
              <a:lnSpc>
                <a:spcPct val="150000"/>
              </a:lnSpc>
              <a:buFont typeface="Wingdings" panose="05000000000000000000"/>
              <a:buChar char="q"/>
            </a:pPr>
            <a:r>
              <a:rPr lang="en-US" sz="28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Reduces instructor load &amp; improves engagement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82343" y="1665514"/>
            <a:ext cx="592727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800" b="1" u="sng" dirty="0">
                <a:solidFill>
                  <a:srgbClr val="FFFFFF"/>
                </a:solidFill>
                <a:latin typeface="Arial" panose="020B0604020202020204"/>
              </a:rPr>
              <a:t>“Instant student support”</a:t>
            </a:r>
            <a:endParaRPr lang="en-US" u="sng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314" y="2565628"/>
            <a:ext cx="11457215" cy="5188403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1" name="TextBox 10"/>
          <p:cNvSpPr txBox="1"/>
          <p:nvPr/>
        </p:nvSpPr>
        <p:spPr>
          <a:xfrm>
            <a:off x="370883" y="574300"/>
            <a:ext cx="7109791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800" b="1" u="sng" dirty="0">
                <a:solidFill>
                  <a:srgbClr val="62F1F9"/>
                </a:solidFill>
              </a:rPr>
              <a:t>Cont.....:</a:t>
            </a:r>
          </a:p>
        </p:txBody>
      </p:sp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24"/>
          <p:cNvSpPr txBox="1"/>
          <p:nvPr/>
        </p:nvSpPr>
        <p:spPr>
          <a:xfrm>
            <a:off x="17901869" y="8841172"/>
            <a:ext cx="200025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z="1200" spc="-9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10</a:t>
            </a:r>
            <a:endParaRPr sz="1200" dirty="0">
              <a:latin typeface="Arial Black" panose="020B0A04020102020204"/>
              <a:cs typeface="Arial Black" panose="020B0A04020102020204"/>
            </a:endParaRPr>
          </a:p>
        </p:txBody>
      </p:sp>
      <p:pic>
        <p:nvPicPr>
          <p:cNvPr id="3" name="Picture 2" descr="A blue and black logo&#10;&#10;AI-generated content may be incorrect.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7417" y="8873"/>
            <a:ext cx="1065783" cy="114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3143" y="1632857"/>
            <a:ext cx="12573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/>
                <a:cs typeface="Arial" panose="020B0604020202020204"/>
              </a:rPr>
              <a:t>Popular Courses </a:t>
            </a:r>
            <a:r>
              <a:rPr lang="en-US" sz="3200" b="1" err="1">
                <a:solidFill>
                  <a:srgbClr val="0070C0"/>
                </a:solidFill>
                <a:latin typeface="Arial" panose="020B0604020202020204"/>
                <a:cs typeface="Arial" panose="020B0604020202020204"/>
              </a:rPr>
              <a:t>Showcas</a:t>
            </a:r>
            <a:endParaRPr lang="en-US" sz="3200" b="1">
              <a:solidFill>
                <a:srgbClr val="0070C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1" y="2579914"/>
            <a:ext cx="5078185" cy="38904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457200" indent="-457200" rtl="0">
              <a:lnSpc>
                <a:spcPct val="150000"/>
              </a:lnSpc>
              <a:buFont typeface="Wingdings" panose="05000000000000000000"/>
              <a:buChar char="q"/>
            </a:pPr>
            <a:r>
              <a:rPr lang="en-US" sz="28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Dynamically ranks courses by enrollment &amp; rating</a:t>
            </a:r>
            <a:endParaRPr lang="en-US">
              <a:latin typeface="Arial" panose="020B0604020202020204"/>
              <a:cs typeface="Arial" panose="020B0604020202020204"/>
            </a:endParaRPr>
          </a:p>
          <a:p>
            <a:pPr marL="457200" indent="-457200" algn="l">
              <a:lnSpc>
                <a:spcPct val="150000"/>
              </a:lnSpc>
              <a:buFont typeface="Wingdings" panose="05000000000000000000"/>
              <a:buChar char="q"/>
            </a:pPr>
            <a:r>
              <a:rPr lang="en-US" sz="28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Eye‑catching thumbnails and brief descriptions</a:t>
            </a:r>
            <a:endParaRPr lang="en-US">
              <a:latin typeface="Arial" panose="020B0604020202020204"/>
              <a:cs typeface="Arial" panose="020B0604020202020204"/>
            </a:endParaRPr>
          </a:p>
          <a:p>
            <a:pPr marL="457200" indent="-457200" algn="l">
              <a:lnSpc>
                <a:spcPct val="150000"/>
              </a:lnSpc>
              <a:buFont typeface="Wingdings" panose="05000000000000000000"/>
              <a:buChar char="q"/>
            </a:pPr>
            <a:r>
              <a:rPr lang="en-US" sz="28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Encourages learners to explore top offerings</a:t>
            </a:r>
            <a:endParaRPr lang="en-US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01711" y="1631897"/>
            <a:ext cx="935627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800" b="1" u="sng" dirty="0">
                <a:solidFill>
                  <a:srgbClr val="FFFFFF"/>
                </a:solidFill>
                <a:latin typeface="Arial" panose="020B0604020202020204"/>
              </a:rPr>
              <a:t>“</a:t>
            </a:r>
            <a:r>
              <a:rPr lang="en-US" sz="2800" b="1" u="sng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Highlighting our </a:t>
            </a:r>
            <a:r>
              <a:rPr lang="en-US" sz="2800" b="1" u="sng" err="1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mostin</a:t>
            </a:r>
            <a:r>
              <a:rPr lang="en-US" sz="2800" b="1" u="sng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‑demand content</a:t>
            </a:r>
            <a:r>
              <a:rPr lang="en-US" sz="2800" b="1" u="sng" dirty="0">
                <a:solidFill>
                  <a:srgbClr val="FFFFFF"/>
                </a:solidFill>
                <a:latin typeface="Arial" panose="020B0604020202020204"/>
                <a:ea typeface="Calibri" panose="020F0502020204030204"/>
                <a:cs typeface="Arial" panose="020B0604020202020204"/>
              </a:rPr>
              <a:t>”</a:t>
            </a:r>
            <a:endParaRPr lang="en-US" u="sng" dirty="0"/>
          </a:p>
        </p:txBody>
      </p:sp>
      <p:sp>
        <p:nvSpPr>
          <p:cNvPr id="9" name="TextBox 8"/>
          <p:cNvSpPr txBox="1"/>
          <p:nvPr/>
        </p:nvSpPr>
        <p:spPr>
          <a:xfrm>
            <a:off x="370883" y="574300"/>
            <a:ext cx="7109791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800" b="1" u="sng" dirty="0">
                <a:solidFill>
                  <a:srgbClr val="62F1F9"/>
                </a:solidFill>
              </a:rPr>
              <a:t>Cont.....:</a:t>
            </a:r>
          </a:p>
        </p:txBody>
      </p:sp>
      <p:pic>
        <p:nvPicPr>
          <p:cNvPr id="11" name="Picture 10" descr="A screenshot of a phone&#10;&#10;AI-generated content may be incorrect.">
            <a:extLst>
              <a:ext uri="{FF2B5EF4-FFF2-40B4-BE49-F238E27FC236}">
                <a16:creationId xmlns:a16="http://schemas.microsoft.com/office/drawing/2014/main" id="{277E4089-0BD6-0242-7410-9F8CCCC95F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9841" y="3196520"/>
            <a:ext cx="10693758" cy="479548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omputer&#10;&#10;AI-generated content may be incorrect."/>
          <p:cNvPicPr>
            <a:picLocks noChangeAspect="1"/>
          </p:cNvPicPr>
          <p:nvPr/>
        </p:nvPicPr>
        <p:blipFill>
          <a:blip r:embed="rId2"/>
          <a:srcRect l="4008" t="10678" r="9592" b="4205"/>
          <a:stretch>
            <a:fillRect/>
          </a:stretch>
        </p:blipFill>
        <p:spPr>
          <a:xfrm>
            <a:off x="8518475" y="538598"/>
            <a:ext cx="8947260" cy="9199707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24" name="object 24"/>
          <p:cNvSpPr txBox="1"/>
          <p:nvPr/>
        </p:nvSpPr>
        <p:spPr>
          <a:xfrm>
            <a:off x="17889343" y="8841172"/>
            <a:ext cx="200025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z="1200" spc="-9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11</a:t>
            </a:r>
            <a:endParaRPr sz="1200" dirty="0">
              <a:latin typeface="Arial Black" panose="020B0A04020102020204"/>
              <a:cs typeface="Arial Black" panose="020B0A04020102020204"/>
            </a:endParaRPr>
          </a:p>
        </p:txBody>
      </p:sp>
      <p:pic>
        <p:nvPicPr>
          <p:cNvPr id="3" name="Picture 2" descr="A blue and black logo&#10;&#10;AI-generated content may be incorrect.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7417" y="8873"/>
            <a:ext cx="1065783" cy="114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3143" y="1632857"/>
            <a:ext cx="12573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/>
                <a:cs typeface="Arial" panose="020B0604020202020204"/>
              </a:rPr>
              <a:t>Course Catalog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9725" y="3201840"/>
            <a:ext cx="6826301" cy="38904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457200" indent="-457200" algn="l" rtl="0">
              <a:lnSpc>
                <a:spcPct val="150000"/>
              </a:lnSpc>
              <a:buFont typeface="Wingdings" panose="05000000000000000000"/>
              <a:buChar char="q"/>
            </a:pPr>
            <a:r>
              <a:rPr lang="en-US" sz="2800" dirty="0">
                <a:solidFill>
                  <a:srgbClr val="FFFFFF"/>
                </a:solidFill>
              </a:rPr>
              <a:t>Clean grid layout with course title, instructor, and price</a:t>
            </a:r>
            <a:endParaRPr lang="en-US" dirty="0">
              <a:solidFill>
                <a:srgbClr val="000000"/>
              </a:solidFill>
              <a:latin typeface="Arial" panose="020B0604020202020204"/>
              <a:cs typeface="Arial" panose="020B0604020202020204"/>
            </a:endParaRPr>
          </a:p>
          <a:p>
            <a:pPr marL="457200" indent="-457200" algn="l">
              <a:lnSpc>
                <a:spcPct val="150000"/>
              </a:lnSpc>
              <a:buFont typeface="Wingdings" panose="05000000000000000000"/>
              <a:buChar char="q"/>
            </a:pPr>
            <a:r>
              <a:rPr lang="en-US" sz="2800">
                <a:solidFill>
                  <a:srgbClr val="FFFFFF"/>
                </a:solidFill>
              </a:rPr>
              <a:t>Filter by category, difficulty, or popularity</a:t>
            </a:r>
            <a:endParaRPr lang="en-US"/>
          </a:p>
          <a:p>
            <a:pPr marL="457200" indent="-457200" algn="l">
              <a:lnSpc>
                <a:spcPct val="150000"/>
              </a:lnSpc>
              <a:buFont typeface="Wingdings" panose="05000000000000000000"/>
              <a:buChar char="q"/>
            </a:pPr>
            <a:r>
              <a:rPr lang="en-US" sz="2800" dirty="0">
                <a:solidFill>
                  <a:srgbClr val="FFFFFF"/>
                </a:solidFill>
              </a:rPr>
              <a:t>Quick “Learn More” links for </a:t>
            </a:r>
            <a:r>
              <a:rPr lang="en-US" sz="2800">
                <a:solidFill>
                  <a:srgbClr val="FFFFFF"/>
                </a:solidFill>
              </a:rPr>
              <a:t>detailed syllabus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08637" y="2304250"/>
            <a:ext cx="935627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800" b="1" u="sng" dirty="0">
                <a:solidFill>
                  <a:srgbClr val="FFFFFF"/>
                </a:solidFill>
                <a:latin typeface="Arial" panose="020B0604020202020204"/>
              </a:rPr>
              <a:t>“</a:t>
            </a:r>
            <a:r>
              <a:rPr lang="en-US" sz="2800" b="1" u="sng" dirty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Browse and filter all available courses”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883" y="574300"/>
            <a:ext cx="7109791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800" b="1" u="sng" dirty="0">
                <a:solidFill>
                  <a:srgbClr val="62F1F9"/>
                </a:solidFill>
              </a:rPr>
              <a:t>Cont.....:</a:t>
            </a:r>
          </a:p>
        </p:txBody>
      </p:sp>
    </p:spTree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omputer&#10;&#10;AI-generated content may be incorrect."/>
          <p:cNvPicPr>
            <a:picLocks noChangeAspect="1"/>
          </p:cNvPicPr>
          <p:nvPr/>
        </p:nvPicPr>
        <p:blipFill>
          <a:blip r:embed="rId2"/>
          <a:srcRect l="5471" t="5000" r="6677" b="5400"/>
          <a:stretch>
            <a:fillRect/>
          </a:stretch>
        </p:blipFill>
        <p:spPr>
          <a:xfrm>
            <a:off x="7888997" y="1930608"/>
            <a:ext cx="9564096" cy="7430715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24" name="object 24"/>
          <p:cNvSpPr txBox="1"/>
          <p:nvPr/>
        </p:nvSpPr>
        <p:spPr>
          <a:xfrm>
            <a:off x="17889343" y="8841172"/>
            <a:ext cx="200025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z="1200" spc="-9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12</a:t>
            </a:r>
            <a:endParaRPr sz="1200" dirty="0">
              <a:latin typeface="Arial Black" panose="020B0A04020102020204"/>
              <a:cs typeface="Arial Black" panose="020B0A04020102020204"/>
            </a:endParaRPr>
          </a:p>
        </p:txBody>
      </p:sp>
      <p:pic>
        <p:nvPicPr>
          <p:cNvPr id="3" name="Picture 2" descr="A blue and black logo&#10;&#10;AI-generated content may be incorrect.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7417" y="8873"/>
            <a:ext cx="1065783" cy="114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3143" y="1632857"/>
            <a:ext cx="12573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/>
                <a:cs typeface="Arial" panose="020B0604020202020204"/>
              </a:rPr>
              <a:t>Contact Us Page 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9725" y="3201840"/>
            <a:ext cx="6826301" cy="6588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457200" indent="-457200" algn="l" rtl="0">
              <a:lnSpc>
                <a:spcPct val="150000"/>
              </a:lnSpc>
              <a:buFont typeface="Wingdings" panose="05000000000000000000"/>
              <a:buChar char="q"/>
            </a:pPr>
            <a:endParaRPr lang="en-US" sz="2800" dirty="0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8637" y="2220207"/>
            <a:ext cx="1207929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800" b="1" u="sng" dirty="0">
                <a:solidFill>
                  <a:srgbClr val="FFFFFF"/>
                </a:solidFill>
                <a:latin typeface="Arial" panose="020B0604020202020204"/>
              </a:rPr>
              <a:t>“ Get in touch with our team”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49725" y="3201840"/>
            <a:ext cx="6826301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457200" indent="-457200" algn="l" rtl="0">
              <a:buFont typeface="Wingdings" panose="05000000000000000000"/>
              <a:buChar char="q"/>
            </a:pPr>
            <a:r>
              <a:rPr lang="en-US" sz="2800" dirty="0">
                <a:solidFill>
                  <a:srgbClr val="FFFFFF"/>
                </a:solidFill>
              </a:rPr>
              <a:t>Simple form for questions, feedback, or support requests</a:t>
            </a:r>
            <a:endParaRPr lang="en-US" dirty="0">
              <a:solidFill>
                <a:srgbClr val="000000"/>
              </a:solidFill>
              <a:latin typeface="Arial" panose="020B0604020202020204"/>
              <a:cs typeface="Arial" panose="020B0604020202020204"/>
            </a:endParaRPr>
          </a:p>
          <a:p>
            <a:pPr marL="457200" indent="-457200" algn="l">
              <a:buFont typeface="Wingdings" panose="05000000000000000000"/>
              <a:buChar char="q"/>
            </a:pPr>
            <a:r>
              <a:rPr lang="en-US" sz="2800" dirty="0">
                <a:solidFill>
                  <a:srgbClr val="FFFFFF"/>
                </a:solidFill>
              </a:rPr>
              <a:t>Integrated map &amp; contact details for in‑person visits</a:t>
            </a:r>
            <a:endParaRPr lang="en-US" dirty="0"/>
          </a:p>
          <a:p>
            <a:pPr marL="457200" indent="-457200" algn="l">
              <a:buFont typeface="Wingdings" panose="05000000000000000000"/>
              <a:buChar char="q"/>
            </a:pPr>
            <a:r>
              <a:rPr lang="en-US" sz="2800" dirty="0">
                <a:solidFill>
                  <a:srgbClr val="FFFFFF"/>
                </a:solidFill>
              </a:rPr>
              <a:t>Social‑media icons for alternative channels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70883" y="574300"/>
            <a:ext cx="7109791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800" b="1" u="sng" dirty="0">
                <a:solidFill>
                  <a:srgbClr val="62F1F9"/>
                </a:solidFill>
              </a:rPr>
              <a:t>Cont.....:</a:t>
            </a:r>
          </a:p>
        </p:txBody>
      </p:sp>
    </p:spTree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omputer program&#10;&#10;AI-generated content may be incorrect."/>
          <p:cNvPicPr>
            <a:picLocks noChangeAspect="1"/>
          </p:cNvPicPr>
          <p:nvPr/>
        </p:nvPicPr>
        <p:blipFill>
          <a:blip r:embed="rId2"/>
          <a:srcRect t="2185" r="-741" b="-1079"/>
          <a:stretch>
            <a:fillRect/>
          </a:stretch>
        </p:blipFill>
        <p:spPr>
          <a:xfrm>
            <a:off x="9528952" y="2571507"/>
            <a:ext cx="8957235" cy="486522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24" name="object 24"/>
          <p:cNvSpPr txBox="1"/>
          <p:nvPr/>
        </p:nvSpPr>
        <p:spPr>
          <a:xfrm>
            <a:off x="17889343" y="8841172"/>
            <a:ext cx="200025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z="1200" spc="-9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13</a:t>
            </a:r>
            <a:endParaRPr sz="1200" dirty="0">
              <a:latin typeface="Arial Black" panose="020B0A04020102020204"/>
              <a:cs typeface="Arial Black" panose="020B0A04020102020204"/>
            </a:endParaRPr>
          </a:p>
        </p:txBody>
      </p:sp>
      <p:pic>
        <p:nvPicPr>
          <p:cNvPr id="3" name="Picture 2" descr="A blue and black logo&#10;&#10;AI-generated content may be incorrect.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7417" y="8873"/>
            <a:ext cx="1065783" cy="114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3143" y="1367814"/>
            <a:ext cx="12573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/>
                <a:cs typeface="Arial" panose="020B0604020202020204"/>
              </a:rPr>
              <a:t>Course Categories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8637" y="2037990"/>
            <a:ext cx="1207929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800" b="1" u="sng" dirty="0">
                <a:solidFill>
                  <a:srgbClr val="FFFFFF"/>
                </a:solidFill>
                <a:latin typeface="Arial" panose="020B0604020202020204"/>
              </a:rPr>
              <a:t>“Navigate our platform by topic”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9725" y="2936797"/>
            <a:ext cx="8979778" cy="69865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457200" indent="-457200" algn="l">
              <a:buFont typeface="Wingdings" panose="05000000000000000000"/>
              <a:buChar char="q"/>
            </a:pPr>
            <a:r>
              <a:rPr lang="en-US" sz="3200" b="1" dirty="0">
                <a:solidFill>
                  <a:srgbClr val="058FFF"/>
                </a:solidFill>
                <a:latin typeface="Arial" panose="020B0604020202020204"/>
                <a:cs typeface="Arial" panose="020B0604020202020204"/>
              </a:rPr>
              <a:t>All Courses –</a:t>
            </a:r>
            <a:r>
              <a:rPr lang="en-US" sz="32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Browse every course we offer in one place.</a:t>
            </a:r>
            <a:endParaRPr lang="en-US" sz="3200">
              <a:solidFill>
                <a:srgbClr val="000000"/>
              </a:solidFill>
              <a:latin typeface="Arial" panose="020B0604020202020204"/>
              <a:cs typeface="Arial" panose="020B0604020202020204"/>
            </a:endParaRPr>
          </a:p>
          <a:p>
            <a:pPr marL="457200" indent="-457200" algn="l">
              <a:buFont typeface="Wingdings" panose="05000000000000000000"/>
              <a:buChar char="q"/>
            </a:pPr>
            <a:r>
              <a:rPr lang="en-US" sz="3200" b="1" dirty="0">
                <a:solidFill>
                  <a:srgbClr val="058FFF"/>
                </a:solidFill>
                <a:latin typeface="Arial" panose="020B0604020202020204"/>
                <a:cs typeface="Arial" panose="020B0604020202020204"/>
              </a:rPr>
              <a:t>Fundamentals – </a:t>
            </a:r>
            <a:r>
              <a:rPr lang="en-US" sz="32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Master the core concepts you need before diving deeper.</a:t>
            </a:r>
            <a:endParaRPr lang="en-US" sz="3200">
              <a:latin typeface="Arial" panose="020B0604020202020204"/>
              <a:cs typeface="Arial" panose="020B0604020202020204"/>
            </a:endParaRPr>
          </a:p>
          <a:p>
            <a:pPr marL="457200" indent="-457200" algn="l">
              <a:buFont typeface="Wingdings" panose="05000000000000000000"/>
              <a:buChar char="q"/>
            </a:pPr>
            <a:r>
              <a:rPr lang="en-US" sz="3200" b="1" dirty="0">
                <a:solidFill>
                  <a:srgbClr val="058FFF"/>
                </a:solidFill>
                <a:latin typeface="Arial" panose="020B0604020202020204"/>
                <a:cs typeface="Arial" panose="020B0604020202020204"/>
              </a:rPr>
              <a:t>Vulnerabilities –</a:t>
            </a:r>
            <a:r>
              <a:rPr lang="en-US" sz="32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Learn about common security weaknesses and how to exploit/patch them.</a:t>
            </a:r>
            <a:endParaRPr lang="en-US" sz="3200">
              <a:latin typeface="Arial" panose="020B0604020202020204"/>
              <a:cs typeface="Arial" panose="020B0604020202020204"/>
            </a:endParaRPr>
          </a:p>
          <a:p>
            <a:pPr marL="457200" indent="-457200" algn="l">
              <a:buFont typeface="Wingdings" panose="05000000000000000000"/>
              <a:buChar char="q"/>
            </a:pPr>
            <a:r>
              <a:rPr lang="en-US" sz="3200" b="1" dirty="0">
                <a:solidFill>
                  <a:srgbClr val="058FFF"/>
                </a:solidFill>
                <a:latin typeface="Arial" panose="020B0604020202020204"/>
                <a:cs typeface="Arial" panose="020B0604020202020204"/>
              </a:rPr>
              <a:t>Tools &amp; Techniques – </a:t>
            </a:r>
            <a:r>
              <a:rPr lang="en-US" sz="32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Get hands‑on with the industry’s most popular </a:t>
            </a:r>
            <a:r>
              <a:rPr lang="en-US" sz="3200" err="1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pentesting</a:t>
            </a:r>
            <a:r>
              <a:rPr lang="en-US" sz="32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toolset.</a:t>
            </a:r>
            <a:endParaRPr lang="en-US" sz="3200">
              <a:latin typeface="Arial" panose="020B0604020202020204"/>
              <a:cs typeface="Arial" panose="020B0604020202020204"/>
            </a:endParaRPr>
          </a:p>
          <a:p>
            <a:pPr marL="457200" indent="-457200" algn="l">
              <a:buFont typeface="Wingdings" panose="05000000000000000000"/>
              <a:buChar char="q"/>
            </a:pPr>
            <a:r>
              <a:rPr lang="en-US" sz="3200" b="1" dirty="0">
                <a:solidFill>
                  <a:srgbClr val="058FFF"/>
                </a:solidFill>
                <a:latin typeface="Arial" panose="020B0604020202020204"/>
                <a:cs typeface="Arial" panose="020B0604020202020204"/>
              </a:rPr>
              <a:t>My Courses – </a:t>
            </a:r>
            <a:r>
              <a:rPr lang="en-US" sz="32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Quickly access the classes you’re currently enrolled in.</a:t>
            </a:r>
            <a:endParaRPr lang="en-US" sz="3200">
              <a:latin typeface="Arial" panose="020B0604020202020204"/>
              <a:cs typeface="Arial" panose="020B0604020202020204"/>
            </a:endParaRPr>
          </a:p>
          <a:p>
            <a:pPr marL="457200" indent="-457200" algn="l">
              <a:buFont typeface="Wingdings" panose="05000000000000000000"/>
              <a:buChar char="q"/>
            </a:pPr>
            <a:r>
              <a:rPr lang="en-US" sz="3200" b="1" dirty="0">
                <a:solidFill>
                  <a:srgbClr val="058FFF"/>
                </a:solidFill>
                <a:latin typeface="Arial" panose="020B0604020202020204"/>
                <a:cs typeface="Arial" panose="020B0604020202020204"/>
              </a:rPr>
              <a:t>Fav Topics – </a:t>
            </a:r>
            <a:r>
              <a:rPr lang="en-US" sz="32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Save and revisit your favorite subjects with a single click.</a:t>
            </a:r>
            <a:endParaRPr lang="en-US" sz="3200">
              <a:latin typeface="Arial" panose="020B0604020202020204"/>
              <a:cs typeface="Arial" panose="020B0604020202020204"/>
            </a:endParaRPr>
          </a:p>
          <a:p>
            <a:pPr marL="457200" indent="-457200" algn="l">
              <a:buFont typeface="Wingdings" panose="05000000000000000000"/>
              <a:buChar char="q"/>
            </a:pPr>
            <a:endParaRPr lang="en-US" sz="3200" dirty="0">
              <a:solidFill>
                <a:srgbClr val="FFFFFF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70883" y="574300"/>
            <a:ext cx="7109791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800" b="1" u="sng" dirty="0">
                <a:solidFill>
                  <a:srgbClr val="62F1F9"/>
                </a:solidFill>
              </a:rPr>
              <a:t>Cont.....:</a:t>
            </a:r>
          </a:p>
        </p:txBody>
      </p:sp>
    </p:spTree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24"/>
          <p:cNvSpPr txBox="1"/>
          <p:nvPr/>
        </p:nvSpPr>
        <p:spPr>
          <a:xfrm>
            <a:off x="17889343" y="8841172"/>
            <a:ext cx="200025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z="1200" spc="-9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14</a:t>
            </a:r>
            <a:endParaRPr sz="1200" dirty="0">
              <a:latin typeface="Arial Black" panose="020B0A04020102020204"/>
              <a:cs typeface="Arial Black" panose="020B0A04020102020204"/>
            </a:endParaRPr>
          </a:p>
        </p:txBody>
      </p:sp>
      <p:pic>
        <p:nvPicPr>
          <p:cNvPr id="3" name="Picture 2" descr="A blue and black logo&#10;&#10;AI-generated content may be incorrect.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7417" y="8873"/>
            <a:ext cx="1065783" cy="1143000"/>
          </a:xfrm>
          <a:prstGeom prst="rect">
            <a:avLst/>
          </a:prstGeom>
        </p:spPr>
      </p:pic>
      <p:pic>
        <p:nvPicPr>
          <p:cNvPr id="4" name="Graphic 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4000" y="1393704"/>
            <a:ext cx="2514600" cy="2514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81600" y="1866900"/>
            <a:ext cx="537210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2"/>
                </a:solidFill>
              </a:rPr>
              <a:t>1- </a:t>
            </a:r>
            <a:r>
              <a:rPr lang="en-US" sz="5400" dirty="0">
                <a:solidFill>
                  <a:schemeClr val="accent1"/>
                </a:solidFill>
              </a:rPr>
              <a:t>Why Node.js?</a:t>
            </a:r>
          </a:p>
          <a:p>
            <a:endParaRPr lang="en-US" sz="4800" dirty="0">
              <a:solidFill>
                <a:schemeClr val="bg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81600" y="3314700"/>
            <a:ext cx="105918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2"/>
                </a:solidFill>
              </a:rPr>
              <a:t>Node.js is a fast and scalable JavaScript runtime built on Chrome’s V8 engine, designed for </a:t>
            </a:r>
            <a:r>
              <a:rPr lang="en-US" sz="5400" dirty="0">
                <a:solidFill>
                  <a:schemeClr val="accent3"/>
                </a:solidFill>
              </a:rPr>
              <a:t>server-side</a:t>
            </a:r>
            <a:r>
              <a:rPr lang="en-US" sz="5400" dirty="0">
                <a:solidFill>
                  <a:schemeClr val="bg2"/>
                </a:solidFill>
              </a:rPr>
              <a:t> development using an event-driven, </a:t>
            </a:r>
            <a:r>
              <a:rPr lang="en-US" sz="5400" dirty="0">
                <a:solidFill>
                  <a:schemeClr val="accent3"/>
                </a:solidFill>
              </a:rPr>
              <a:t>non-blocking model</a:t>
            </a:r>
            <a:r>
              <a:rPr lang="en-US" sz="5400" dirty="0">
                <a:solidFill>
                  <a:schemeClr val="bg2"/>
                </a:solidFill>
              </a:rPr>
              <a:t>. It excels in API-based applications.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05400" y="470374"/>
            <a:ext cx="86356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u="sng" dirty="0">
                <a:solidFill>
                  <a:srgbClr val="62F1F9"/>
                </a:solidFill>
              </a:rPr>
              <a:t>Backend technologies:</a:t>
            </a:r>
          </a:p>
        </p:txBody>
      </p:sp>
    </p:spTree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6400" y="1571030"/>
            <a:ext cx="24384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0" y="1866900"/>
            <a:ext cx="11887198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800" b="1" dirty="0">
              <a:solidFill>
                <a:schemeClr val="bg2"/>
              </a:solidFill>
            </a:endParaRPr>
          </a:p>
          <a:p>
            <a:r>
              <a:rPr lang="en-US" sz="4800" b="1" dirty="0">
                <a:solidFill>
                  <a:schemeClr val="bg2"/>
                </a:solidFill>
              </a:rPr>
              <a:t>1:</a:t>
            </a:r>
            <a:r>
              <a:rPr lang="en-US" sz="4800" b="1" dirty="0">
                <a:solidFill>
                  <a:schemeClr val="accent3"/>
                </a:solidFill>
              </a:rPr>
              <a:t>Type Safety</a:t>
            </a:r>
            <a:r>
              <a:rPr lang="en-US" sz="4800" dirty="0">
                <a:solidFill>
                  <a:schemeClr val="bg2"/>
                </a:solidFill>
              </a:rPr>
              <a:t>: TypeScript adds static typing, which helps catch errors during </a:t>
            </a:r>
            <a:r>
              <a:rPr lang="en-US" sz="4800" dirty="0">
                <a:solidFill>
                  <a:schemeClr val="accent3"/>
                </a:solidFill>
              </a:rPr>
              <a:t>development</a:t>
            </a:r>
            <a:r>
              <a:rPr lang="en-US" sz="4800" dirty="0">
                <a:solidFill>
                  <a:schemeClr val="bg2"/>
                </a:solidFill>
              </a:rPr>
              <a:t> rather than at runtime.</a:t>
            </a:r>
          </a:p>
          <a:p>
            <a:endParaRPr lang="en-US" sz="4800" dirty="0">
              <a:solidFill>
                <a:schemeClr val="bg2"/>
              </a:solidFill>
            </a:endParaRPr>
          </a:p>
          <a:p>
            <a:r>
              <a:rPr lang="en-US" sz="4800" b="1" dirty="0">
                <a:solidFill>
                  <a:schemeClr val="bg2"/>
                </a:solidFill>
              </a:rPr>
              <a:t>2: </a:t>
            </a:r>
            <a:r>
              <a:rPr lang="en-US" sz="4800" b="1" dirty="0">
                <a:solidFill>
                  <a:schemeClr val="accent3"/>
                </a:solidFill>
              </a:rPr>
              <a:t>Scalability and Maintainability</a:t>
            </a:r>
            <a:r>
              <a:rPr lang="en-US" sz="4800" dirty="0">
                <a:solidFill>
                  <a:schemeClr val="accent3"/>
                </a:solidFill>
              </a:rPr>
              <a:t>: </a:t>
            </a:r>
            <a:r>
              <a:rPr lang="en-US" sz="4800" dirty="0">
                <a:solidFill>
                  <a:schemeClr val="bg2"/>
                </a:solidFill>
              </a:rPr>
              <a:t>TypeScript enforces cleaner, more structured code, which is crucial for scaling applications.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47700"/>
            <a:ext cx="9525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2"/>
                </a:solidFill>
              </a:rPr>
              <a:t>2- </a:t>
            </a:r>
            <a:r>
              <a:rPr lang="en-US" sz="5400" dirty="0">
                <a:solidFill>
                  <a:schemeClr val="accent1"/>
                </a:solidFill>
              </a:rPr>
              <a:t>Why using TS instead of JS</a:t>
            </a:r>
            <a:endParaRPr lang="en-US" sz="5400" dirty="0">
              <a:solidFill>
                <a:schemeClr val="bg2"/>
              </a:solidFill>
            </a:endParaRPr>
          </a:p>
        </p:txBody>
      </p:sp>
      <p:pic>
        <p:nvPicPr>
          <p:cNvPr id="7" name="Picture 6" descr="A blue and black logo&#10;&#10;AI-generated content may be incorrect.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7417" y="8873"/>
            <a:ext cx="1065783" cy="1143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757732" y="8839722"/>
            <a:ext cx="457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 Black" panose="020B0A04020102020204" pitchFamily="34" charset="0"/>
              </a:rPr>
              <a:t>15</a:t>
            </a:r>
          </a:p>
        </p:txBody>
      </p:sp>
    </p:spTree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08022" y="1593568"/>
            <a:ext cx="2514600" cy="2514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48080" y="2326310"/>
            <a:ext cx="1350652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2"/>
                </a:solidFill>
              </a:rPr>
              <a:t>PostgreSQL is a powerful, open-source relational database known for its </a:t>
            </a:r>
          </a:p>
          <a:p>
            <a:r>
              <a:rPr lang="en-US" sz="4800" dirty="0">
                <a:solidFill>
                  <a:schemeClr val="accent3"/>
                </a:solidFill>
              </a:rPr>
              <a:t>ACID-compliance</a:t>
            </a:r>
          </a:p>
          <a:p>
            <a:r>
              <a:rPr lang="en-US" sz="4800" dirty="0">
                <a:solidFill>
                  <a:schemeClr val="accent3"/>
                </a:solidFill>
              </a:rPr>
              <a:t>    1- Atomicity		3- Isolation</a:t>
            </a:r>
          </a:p>
          <a:p>
            <a:r>
              <a:rPr lang="en-US" sz="4800" dirty="0">
                <a:solidFill>
                  <a:schemeClr val="accent3"/>
                </a:solidFill>
              </a:rPr>
              <a:t>    2- Consistency	4- Durability</a:t>
            </a:r>
          </a:p>
          <a:p>
            <a:r>
              <a:rPr lang="en-US" sz="4800" dirty="0">
                <a:solidFill>
                  <a:schemeClr val="bg1"/>
                </a:solidFill>
              </a:rPr>
              <a:t>It is known also by its </a:t>
            </a:r>
            <a:r>
              <a:rPr lang="en-US" sz="4800" dirty="0">
                <a:solidFill>
                  <a:schemeClr val="bg2"/>
                </a:solidFill>
              </a:rPr>
              <a:t>reliability, scalability, and support for complex queries, making it ideal for managing structured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48080" y="1035717"/>
            <a:ext cx="47628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bg2"/>
                </a:solidFill>
              </a:rPr>
              <a:t>3- </a:t>
            </a:r>
            <a:r>
              <a:rPr lang="en-US" sz="5400" dirty="0">
                <a:solidFill>
                  <a:schemeClr val="accent1"/>
                </a:solidFill>
              </a:rPr>
              <a:t>PostgreSQL</a:t>
            </a:r>
          </a:p>
        </p:txBody>
      </p:sp>
      <p:pic>
        <p:nvPicPr>
          <p:cNvPr id="9" name="Picture 8" descr="A blue and black logo&#10;&#10;AI-generated content may be incorrect.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7417" y="8873"/>
            <a:ext cx="1065783" cy="1143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754600" y="8789618"/>
            <a:ext cx="457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 Black" panose="020B0A04020102020204" pitchFamily="34" charset="0"/>
              </a:rPr>
              <a:t>16</a:t>
            </a:r>
          </a:p>
        </p:txBody>
      </p:sp>
    </p:spTree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7800" y="1795058"/>
            <a:ext cx="2514600" cy="2514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00600" y="876300"/>
            <a:ext cx="31470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bg2"/>
                </a:solidFill>
              </a:rPr>
              <a:t>4- </a:t>
            </a:r>
            <a:r>
              <a:rPr lang="en-US" sz="5400" dirty="0">
                <a:solidFill>
                  <a:schemeClr val="accent1"/>
                </a:solidFill>
              </a:rPr>
              <a:t>Prisma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2095500"/>
            <a:ext cx="109728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2"/>
                </a:solidFill>
              </a:rPr>
              <a:t>Prisma ORM complements PostgreSQL by providing a </a:t>
            </a:r>
            <a:r>
              <a:rPr lang="en-US" sz="5400" dirty="0">
                <a:solidFill>
                  <a:schemeClr val="accent3"/>
                </a:solidFill>
              </a:rPr>
              <a:t>type-safe</a:t>
            </a:r>
            <a:r>
              <a:rPr lang="en-US" sz="5400" dirty="0">
                <a:solidFill>
                  <a:schemeClr val="bg2"/>
                </a:solidFill>
              </a:rPr>
              <a:t>, developer-friendly interface that simplifies database operations, </a:t>
            </a:r>
            <a:r>
              <a:rPr lang="en-US" sz="5400" dirty="0">
                <a:solidFill>
                  <a:schemeClr val="accent3"/>
                </a:solidFill>
              </a:rPr>
              <a:t>enhances performance</a:t>
            </a:r>
            <a:r>
              <a:rPr lang="en-US" sz="5400" dirty="0">
                <a:solidFill>
                  <a:schemeClr val="bg2"/>
                </a:solidFill>
              </a:rPr>
              <a:t>, and reduces runtime errors.</a:t>
            </a:r>
          </a:p>
        </p:txBody>
      </p:sp>
      <p:pic>
        <p:nvPicPr>
          <p:cNvPr id="9" name="Picture 8" descr="A blue and black logo&#10;&#10;AI-generated content may be incorrect.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7417" y="8873"/>
            <a:ext cx="1065783" cy="1143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754600" y="8789618"/>
            <a:ext cx="457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 Black" panose="020B0A04020102020204" pitchFamily="34" charset="0"/>
              </a:rPr>
              <a:t>17</a:t>
            </a:r>
          </a:p>
        </p:txBody>
      </p:sp>
    </p:spTree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903724" y="952500"/>
            <a:ext cx="146160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accent1"/>
                </a:solidFill>
              </a:rPr>
              <a:t>cont..</a:t>
            </a:r>
          </a:p>
          <a:p>
            <a:r>
              <a:rPr lang="en-US" sz="5400" dirty="0">
                <a:solidFill>
                  <a:schemeClr val="accent1"/>
                </a:solidFill>
              </a:rPr>
              <a:t>Why using ORM </a:t>
            </a:r>
            <a:r>
              <a:rPr lang="en-US" sz="5400" dirty="0">
                <a:solidFill>
                  <a:schemeClr val="bg2"/>
                </a:solidFill>
              </a:rPr>
              <a:t>(Object-Relation Mapping)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3724" y="2857500"/>
            <a:ext cx="7935419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1) Boosts Productivity</a:t>
            </a:r>
          </a:p>
          <a:p>
            <a:endParaRPr lang="en-US" sz="4400" b="1" dirty="0">
              <a:solidFill>
                <a:schemeClr val="bg2"/>
              </a:solidFill>
            </a:endParaRPr>
          </a:p>
          <a:p>
            <a:endParaRPr lang="en-US" sz="4400" b="1" dirty="0">
              <a:solidFill>
                <a:schemeClr val="bg2"/>
              </a:solidFill>
            </a:endParaRPr>
          </a:p>
          <a:p>
            <a:r>
              <a:rPr lang="en-US" sz="5400" b="1" dirty="0">
                <a:solidFill>
                  <a:schemeClr val="bg2"/>
                </a:solidFill>
              </a:rPr>
              <a:t>2) Reduce runtime   errors</a:t>
            </a:r>
            <a:endParaRPr lang="en-US" sz="5400" dirty="0">
              <a:solidFill>
                <a:schemeClr val="bg2"/>
              </a:solidFill>
            </a:endParaRPr>
          </a:p>
        </p:txBody>
      </p:sp>
      <p:pic>
        <p:nvPicPr>
          <p:cNvPr id="9" name="Picture 8" descr="A blue and black logo&#10;&#10;AI-generated content may be incorrect.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7417" y="8873"/>
            <a:ext cx="1065783" cy="1143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754600" y="8773404"/>
            <a:ext cx="457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 Black" panose="020B0A04020102020204" pitchFamily="34" charset="0"/>
              </a:rPr>
              <a:t>18</a:t>
            </a:r>
          </a:p>
        </p:txBody>
      </p:sp>
      <p:pic>
        <p:nvPicPr>
          <p:cNvPr id="4" name="Picture 3" descr="A diagram of a graph&#10;&#10;AI-generated content may be incorrect.">
            <a:extLst>
              <a:ext uri="{FF2B5EF4-FFF2-40B4-BE49-F238E27FC236}">
                <a16:creationId xmlns:a16="http://schemas.microsoft.com/office/drawing/2014/main" id="{B5C046FC-75CF-2AF5-2C22-94B4D3EC0F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58" y="2369837"/>
            <a:ext cx="7772400" cy="593937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1257300"/>
            <a:ext cx="2514600" cy="2514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67200" y="822209"/>
            <a:ext cx="95718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bg2"/>
                </a:solidFill>
              </a:rPr>
              <a:t>5- </a:t>
            </a:r>
            <a:r>
              <a:rPr lang="en-US" sz="5400" dirty="0">
                <a:solidFill>
                  <a:schemeClr val="accent1"/>
                </a:solidFill>
              </a:rPr>
              <a:t>Docker and containerization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67200" y="1962365"/>
            <a:ext cx="12573000" cy="754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2"/>
                </a:solidFill>
              </a:rPr>
              <a:t>Docker: is an open-source platform that uses </a:t>
            </a:r>
            <a:r>
              <a:rPr lang="en-US" sz="4400" dirty="0">
                <a:solidFill>
                  <a:schemeClr val="accent3"/>
                </a:solidFill>
              </a:rPr>
              <a:t>containerization</a:t>
            </a:r>
            <a:r>
              <a:rPr lang="en-US" sz="4400" dirty="0">
                <a:solidFill>
                  <a:schemeClr val="bg2"/>
                </a:solidFill>
              </a:rPr>
              <a:t> to package applications and their dependencies into </a:t>
            </a:r>
            <a:r>
              <a:rPr lang="en-US" sz="4400" b="1" dirty="0">
                <a:solidFill>
                  <a:schemeClr val="bg2"/>
                </a:solidFill>
              </a:rPr>
              <a:t>isolated</a:t>
            </a:r>
            <a:r>
              <a:rPr lang="en-US" sz="4400" dirty="0">
                <a:solidFill>
                  <a:schemeClr val="bg2"/>
                </a:solidFill>
              </a:rPr>
              <a:t>, </a:t>
            </a:r>
            <a:r>
              <a:rPr lang="en-US" sz="4400" b="1" dirty="0">
                <a:solidFill>
                  <a:schemeClr val="bg2"/>
                </a:solidFill>
              </a:rPr>
              <a:t>portable</a:t>
            </a:r>
            <a:r>
              <a:rPr lang="en-US" sz="4400" dirty="0">
                <a:solidFill>
                  <a:schemeClr val="bg2"/>
                </a:solidFill>
              </a:rPr>
              <a:t> environments, ensuring consistency across </a:t>
            </a:r>
            <a:r>
              <a:rPr lang="en-US" sz="4400" dirty="0">
                <a:solidFill>
                  <a:schemeClr val="accent3"/>
                </a:solidFill>
              </a:rPr>
              <a:t>different environment.</a:t>
            </a:r>
          </a:p>
          <a:p>
            <a:endParaRPr lang="en-US" sz="4400" dirty="0"/>
          </a:p>
          <a:p>
            <a:r>
              <a:rPr lang="en-US" sz="4400" dirty="0">
                <a:solidFill>
                  <a:schemeClr val="bg2"/>
                </a:solidFill>
              </a:rPr>
              <a:t>It improves </a:t>
            </a:r>
            <a:r>
              <a:rPr lang="en-US" sz="4400" b="1" dirty="0">
                <a:solidFill>
                  <a:schemeClr val="bg2"/>
                </a:solidFill>
              </a:rPr>
              <a:t>portability</a:t>
            </a:r>
            <a:r>
              <a:rPr lang="en-US" sz="4400" dirty="0">
                <a:solidFill>
                  <a:schemeClr val="bg2"/>
                </a:solidFill>
              </a:rPr>
              <a:t>, </a:t>
            </a:r>
            <a:r>
              <a:rPr lang="en-US" sz="4400" b="1" dirty="0">
                <a:solidFill>
                  <a:schemeClr val="bg2"/>
                </a:solidFill>
              </a:rPr>
              <a:t>scalability</a:t>
            </a:r>
            <a:r>
              <a:rPr lang="en-US" sz="4400" dirty="0">
                <a:solidFill>
                  <a:schemeClr val="bg2"/>
                </a:solidFill>
              </a:rPr>
              <a:t>, and </a:t>
            </a:r>
            <a:r>
              <a:rPr lang="en-US" sz="4400" b="1" dirty="0">
                <a:solidFill>
                  <a:schemeClr val="bg2"/>
                </a:solidFill>
              </a:rPr>
              <a:t>resource efficiency</a:t>
            </a:r>
            <a:r>
              <a:rPr lang="en-US" sz="4400" dirty="0">
                <a:solidFill>
                  <a:schemeClr val="bg2"/>
                </a:solidFill>
              </a:rPr>
              <a:t>, and simplifies </a:t>
            </a:r>
            <a:r>
              <a:rPr lang="en-US" sz="4400" b="1" dirty="0">
                <a:solidFill>
                  <a:schemeClr val="bg2"/>
                </a:solidFill>
              </a:rPr>
              <a:t>deployment and management</a:t>
            </a:r>
            <a:r>
              <a:rPr lang="en-US" sz="4400" dirty="0">
                <a:solidFill>
                  <a:schemeClr val="bg2"/>
                </a:solidFill>
              </a:rPr>
              <a:t>. This makes it ideal for modern development workflows, especially in projects requiring quick setup and reliable performance.</a:t>
            </a:r>
          </a:p>
        </p:txBody>
      </p:sp>
      <p:pic>
        <p:nvPicPr>
          <p:cNvPr id="9" name="Picture 8" descr="A blue and black logo&#10;&#10;AI-generated content may be incorrect.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7417" y="8873"/>
            <a:ext cx="1065783" cy="1143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754600" y="8814670"/>
            <a:ext cx="457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 Black" panose="020B0A04020102020204" pitchFamily="34" charset="0"/>
              </a:rPr>
              <a:t>19</a:t>
            </a:r>
          </a:p>
        </p:txBody>
      </p:sp>
    </p:spTree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64995" y="2960914"/>
            <a:ext cx="142494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2"/>
                </a:solidFill>
              </a:rPr>
              <a:t>Express.js is a minimalist and efficient web framework for Node.js that simplifies building server-side applications by providing built-in support for routing, middleware, and RESTful APIs.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995" y="2960914"/>
            <a:ext cx="142494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2"/>
                </a:solidFill>
              </a:rPr>
              <a:t>Express.js is a minimalist and efficient web </a:t>
            </a:r>
            <a:r>
              <a:rPr lang="en-US" sz="5400" dirty="0">
                <a:solidFill>
                  <a:schemeClr val="accent3"/>
                </a:solidFill>
              </a:rPr>
              <a:t>framework</a:t>
            </a:r>
            <a:r>
              <a:rPr lang="en-US" sz="5400" dirty="0">
                <a:solidFill>
                  <a:schemeClr val="bg2"/>
                </a:solidFill>
              </a:rPr>
              <a:t> for Node.js that simplifies building server-side applications by providing built-in support for routing, middleware, and </a:t>
            </a:r>
            <a:r>
              <a:rPr lang="en-US" sz="5400" dirty="0">
                <a:solidFill>
                  <a:schemeClr val="accent3"/>
                </a:solidFill>
              </a:rPr>
              <a:t>RESTful APIs.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5299" y="1525610"/>
            <a:ext cx="453337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bg2"/>
                </a:solidFill>
              </a:rPr>
              <a:t>6- </a:t>
            </a:r>
            <a:r>
              <a:rPr lang="en-US" sz="6600" dirty="0">
                <a:solidFill>
                  <a:schemeClr val="accent1"/>
                </a:solidFill>
              </a:rPr>
              <a:t>Express</a:t>
            </a:r>
          </a:p>
        </p:txBody>
      </p:sp>
      <p:pic>
        <p:nvPicPr>
          <p:cNvPr id="12" name="Picture 11" descr="A blue and black logo&#10;&#10;AI-generated content may be incorrect.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7417" y="8873"/>
            <a:ext cx="1065783" cy="1143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754600" y="8802144"/>
            <a:ext cx="457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 Black" panose="020B0A04020102020204" pitchFamily="34" charset="0"/>
              </a:rPr>
              <a:t>20</a:t>
            </a:r>
          </a:p>
        </p:txBody>
      </p:sp>
    </p:spTree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1257300"/>
            <a:ext cx="3186684" cy="2590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92600" y="3019841"/>
            <a:ext cx="124206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2"/>
                </a:solidFill>
              </a:rPr>
              <a:t>RESTful APIs are a </a:t>
            </a:r>
            <a:r>
              <a:rPr lang="en-US" sz="5400" dirty="0">
                <a:solidFill>
                  <a:schemeClr val="accent3"/>
                </a:solidFill>
              </a:rPr>
              <a:t>standardized</a:t>
            </a:r>
            <a:r>
              <a:rPr lang="en-US" sz="5400" dirty="0">
                <a:solidFill>
                  <a:schemeClr val="bg2"/>
                </a:solidFill>
              </a:rPr>
              <a:t> way of building web services using HTTP methods (GET, POST, PUT, PATCH, DELETE) to perform operations on resources identified by URLs.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1629" y="1257300"/>
            <a:ext cx="55999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2"/>
                </a:solidFill>
              </a:rPr>
              <a:t>7- </a:t>
            </a:r>
            <a:r>
              <a:rPr lang="en-US" sz="6000" dirty="0">
                <a:solidFill>
                  <a:schemeClr val="accent1"/>
                </a:solidFill>
              </a:rPr>
              <a:t>RESTful API</a:t>
            </a:r>
            <a:endParaRPr lang="en-US" sz="5400" dirty="0">
              <a:solidFill>
                <a:schemeClr val="accent1"/>
              </a:solidFill>
            </a:endParaRPr>
          </a:p>
        </p:txBody>
      </p:sp>
      <p:pic>
        <p:nvPicPr>
          <p:cNvPr id="8" name="Picture 7" descr="A blue and black logo&#10;&#10;AI-generated content may be incorrect.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7417" y="8873"/>
            <a:ext cx="1065783" cy="1143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754600" y="8814670"/>
            <a:ext cx="457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 Black" panose="020B0A04020102020204" pitchFamily="34" charset="0"/>
              </a:rPr>
              <a:t>21</a:t>
            </a:r>
          </a:p>
        </p:txBody>
      </p:sp>
    </p:spTree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95400" y="647700"/>
            <a:ext cx="15468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u="sng" dirty="0">
                <a:solidFill>
                  <a:srgbClr val="62F1F9"/>
                </a:solidFill>
              </a:rPr>
              <a:t>Lab Title</a:t>
            </a:r>
            <a:r>
              <a:rPr lang="en-US" sz="3500" b="1" u="sng" dirty="0">
                <a:solidFill>
                  <a:srgbClr val="62F1F9"/>
                </a:solidFill>
              </a:rPr>
              <a:t>:</a:t>
            </a:r>
            <a:r>
              <a:rPr lang="en-US" sz="3500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4800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Top Secret</a:t>
            </a:r>
          </a:p>
          <a:p>
            <a:br>
              <a:rPr lang="ar-EG" sz="3000" b="1" dirty="0">
                <a:solidFill>
                  <a:schemeClr val="bg1"/>
                </a:solidFill>
              </a:rPr>
            </a:br>
            <a:br>
              <a:rPr lang="ar-EG" sz="3000" b="1" dirty="0">
                <a:solidFill>
                  <a:schemeClr val="bg1"/>
                </a:solidFill>
              </a:rPr>
            </a:br>
            <a:r>
              <a:rPr lang="en-US" sz="3000" b="1" dirty="0">
                <a:solidFill>
                  <a:schemeClr val="bg1"/>
                </a:solidFill>
              </a:rPr>
              <a:t>Objective:</a:t>
            </a:r>
            <a:r>
              <a:rPr lang="ar-EG" sz="3000" b="1" dirty="0">
                <a:solidFill>
                  <a:schemeClr val="bg1"/>
                </a:solidFill>
              </a:rPr>
              <a:t> </a:t>
            </a:r>
            <a:r>
              <a:rPr lang="en-US" sz="3000" dirty="0">
                <a:solidFill>
                  <a:schemeClr val="bg1"/>
                </a:solidFill>
              </a:rPr>
              <a:t>Investigate a corrupted image file and uncover a hidden multi-layered message using digital forensics techniques.</a:t>
            </a:r>
            <a:endParaRPr lang="ar-EG" sz="3000" dirty="0">
              <a:solidFill>
                <a:schemeClr val="bg1"/>
              </a:solidFill>
            </a:endParaRPr>
          </a:p>
          <a:p>
            <a:endParaRPr lang="ar-EG" dirty="0">
              <a:solidFill>
                <a:schemeClr val="bg1"/>
              </a:solidFill>
            </a:endParaRPr>
          </a:p>
          <a:p>
            <a:endParaRPr lang="ar-EG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295400" y="3450528"/>
            <a:ext cx="16459200" cy="2477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Scenario</a:t>
            </a:r>
            <a:r>
              <a:rPr kumimoji="0" lang="ar-EG" altLang="en-US" sz="2500" b="1" i="0" u="none" strike="noStrike" cap="none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EG" altLang="en-US" sz="25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5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Ali found a USB labeled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"Top Secret"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containing a file: 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lost_image.jpg</a:t>
            </a:r>
            <a:r>
              <a:rPr kumimoji="0" lang="ar-EG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 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The image fails to open</a:t>
            </a:r>
            <a:r>
              <a:rPr kumimoji="0" lang="ar-EG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appearing corrupted</a:t>
            </a:r>
            <a:r>
              <a:rPr kumimoji="0" lang="ar-EG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Ali suspects hidden data is embedded.</a:t>
            </a:r>
            <a:endParaRPr kumimoji="0" lang="ar-EG" altLang="en-US" sz="2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Your mission: </a:t>
            </a: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Analyze and extract the hidden message.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296537" y="6250975"/>
            <a:ext cx="14499609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Step 1: Analyze the File Header</a:t>
            </a:r>
            <a:endParaRPr kumimoji="0" lang="ar-EG" altLang="en-US" sz="3000" b="1" i="0" u="none" strike="noStrike" cap="none" normalizeH="0" baseline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3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Open the file in a hex editor.</a:t>
            </a:r>
            <a:endParaRPr kumimoji="0" lang="ar-EG" altLang="en-US" sz="3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Inspect the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first 8 bytes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(magic number / file signature).</a:t>
            </a:r>
            <a:endParaRPr kumimoji="0" lang="ar-EG" altLang="en-US" sz="3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3400" y="5154304"/>
            <a:ext cx="5515678" cy="2893101"/>
          </a:xfrm>
          <a:prstGeom prst="rect">
            <a:avLst/>
          </a:prstGeom>
        </p:spPr>
      </p:pic>
      <p:pic>
        <p:nvPicPr>
          <p:cNvPr id="3" name="Picture 2" descr="A blue and black logo&#10;&#10;AI-generated content may be incorrect.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400" y="26068"/>
            <a:ext cx="1065783" cy="114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753583" y="8839722"/>
            <a:ext cx="457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 Black" panose="020B0A04020102020204" pitchFamily="34" charset="0"/>
              </a:rPr>
              <a:t>22</a:t>
            </a:r>
          </a:p>
        </p:txBody>
      </p:sp>
    </p:spTree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811852"/>
            <a:ext cx="15011400" cy="8663295"/>
          </a:xfrm>
          <a:prstGeom prst="rect">
            <a:avLst/>
          </a:prstGeom>
        </p:spPr>
      </p:pic>
      <p:pic>
        <p:nvPicPr>
          <p:cNvPr id="2" name="Picture 1" descr="A blue and black logo&#10;&#10;AI-generated content may be incorrect.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400" y="14037"/>
            <a:ext cx="1065783" cy="114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311" y="14037"/>
            <a:ext cx="7109791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800" b="1" u="sng" dirty="0">
                <a:solidFill>
                  <a:srgbClr val="62F1F9"/>
                </a:solidFill>
              </a:rPr>
              <a:t>Cont.....: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66109" y="8839722"/>
            <a:ext cx="457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 Black" panose="020B0A04020102020204" pitchFamily="34" charset="0"/>
              </a:rPr>
              <a:t>23</a:t>
            </a:r>
          </a:p>
        </p:txBody>
      </p:sp>
    </p:spTree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86000" y="1562100"/>
            <a:ext cx="10134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457200" algn="l" rtl="0" eaLnBrk="0" fontAlgn="base" latinLnBrk="0" hangingPunct="0">
              <a:buClrTx/>
              <a:buSzPts val="3000"/>
              <a:buFont typeface="Wingdings" panose="05000000000000000000" pitchFamily="2" charset="2"/>
              <a:buChar char="Ø"/>
            </a:pPr>
            <a:r>
              <a:rPr lang="en-US" sz="3000" b="0" i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Found header: </a:t>
            </a:r>
            <a:r>
              <a:rPr lang="en-US" sz="3000" b="0" i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00 00 4E 47 ...</a:t>
            </a:r>
            <a:r>
              <a:rPr lang="en-US" sz="3000" b="0" i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 → </a:t>
            </a:r>
            <a:r>
              <a:rPr lang="en-US" sz="3000" b="1" i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Invalid</a:t>
            </a:r>
            <a:endParaRPr lang="ar-EG" sz="3000" b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457200" marR="0" indent="-457200" algn="l" rtl="0" eaLnBrk="0" fontAlgn="base" latinLnBrk="0" hangingPunct="0">
              <a:buClrTx/>
              <a:buSzPts val="3000"/>
              <a:buFont typeface="Wingdings" panose="05000000000000000000" pitchFamily="2" charset="2"/>
              <a:buChar char="Ø"/>
            </a:pPr>
            <a:endParaRPr lang="en-US" sz="3000" dirty="0">
              <a:effectLst/>
            </a:endParaRPr>
          </a:p>
          <a:p>
            <a:pPr marL="457200" marR="0" indent="-457200" algn="l" rtl="0" eaLnBrk="0" fontAlgn="base" latinLnBrk="0" hangingPunct="0">
              <a:buFont typeface="Wingdings" panose="05000000000000000000" pitchFamily="2" charset="2"/>
              <a:buChar char="Ø"/>
            </a:pPr>
            <a:r>
              <a:rPr lang="en-US" sz="3000" b="0" i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Expected PNG header: </a:t>
            </a:r>
            <a:r>
              <a:rPr lang="en-US" sz="3000" b="0" i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89 50 4E 47 0D 0A 1A 0A</a:t>
            </a:r>
            <a:endParaRPr lang="en-US" sz="3000" dirty="0">
              <a:effectLst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286000" y="4152900"/>
            <a:ext cx="1135380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Step 2: Fix the File Signature</a:t>
            </a:r>
            <a:endParaRPr kumimoji="0" lang="ar-EG" altLang="en-US" sz="3000" b="1" i="0" u="none" strike="noStrike" cap="none" normalizeH="0" baseline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3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manually modify the first 8 bytes to match the valid </a:t>
            </a:r>
            <a:r>
              <a:rPr kumimoji="0" lang="en-US" altLang="en-US" sz="3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png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signature using hex editor.</a:t>
            </a:r>
            <a:endParaRPr kumimoji="0" lang="ar-EG" altLang="en-US" sz="3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kumimoji="0" lang="ar-EG" altLang="en-US" sz="3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From: 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00 00 4E 47 ...</a:t>
            </a:r>
            <a:r>
              <a:rPr lang="ar-EG" altLang="en-US" sz="3000" dirty="0">
                <a:solidFill>
                  <a:schemeClr val="bg1"/>
                </a:solidFill>
                <a:latin typeface="Arial Unicode MS"/>
              </a:rPr>
              <a:t>   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To: 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89 50 4E 47 0D 0A 1A 0A</a:t>
            </a:r>
            <a:endParaRPr kumimoji="0" lang="ar-EG" altLang="en-US" sz="3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 Unicode M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ar-EG" altLang="en-US" sz="3000" dirty="0">
              <a:solidFill>
                <a:schemeClr val="bg1"/>
              </a:solidFill>
              <a:latin typeface="Arial Unicode MS"/>
            </a:endParaRPr>
          </a:p>
          <a:p>
            <a:pPr marL="457200" indent="-457200" algn="l" rt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Save the changes.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 descr="A blue and black logo&#10;&#10;AI-generated content may be incorrect.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400" y="6016"/>
            <a:ext cx="1065783" cy="114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197" y="33129"/>
            <a:ext cx="7109791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800" b="1" u="sng" dirty="0">
                <a:solidFill>
                  <a:srgbClr val="62F1F9"/>
                </a:solidFill>
              </a:rPr>
              <a:t>Cont.....: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753583" y="8814670"/>
            <a:ext cx="457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 Black" panose="020B0A04020102020204" pitchFamily="34" charset="0"/>
              </a:rPr>
              <a:t>24</a:t>
            </a:r>
          </a:p>
        </p:txBody>
      </p:sp>
    </p:spTree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/>
          <p:cNvSpPr txBox="1"/>
          <p:nvPr/>
        </p:nvSpPr>
        <p:spPr>
          <a:xfrm>
            <a:off x="17889343" y="8841172"/>
            <a:ext cx="200025" cy="20774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z="1200" spc="-95" dirty="0">
                <a:solidFill>
                  <a:srgbClr val="FFFFFF"/>
                </a:solidFill>
                <a:latin typeface="Arial Black" panose="020B0A04020102020204"/>
                <a:cs typeface="Arial Black" panose="020B0A04020102020204"/>
              </a:rPr>
              <a:t>25</a:t>
            </a:r>
            <a:endParaRPr sz="1200" dirty="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81200" y="1577647"/>
            <a:ext cx="111252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>
                <a:solidFill>
                  <a:schemeClr val="tx2">
                    <a:lumMod val="60000"/>
                    <a:lumOff val="40000"/>
                  </a:schemeClr>
                </a:solidFill>
              </a:rPr>
              <a:t>Step 3: View the Image</a:t>
            </a:r>
            <a:endParaRPr lang="ar-EG" sz="3000" b="1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US" sz="3000" b="1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US" sz="3000">
                <a:solidFill>
                  <a:schemeClr val="bg1"/>
                </a:solidFill>
              </a:rPr>
              <a:t>After fixing, the image opens successfully</a:t>
            </a:r>
            <a:r>
              <a:rPr lang="ar-EG" sz="3000">
                <a:solidFill>
                  <a:schemeClr val="bg1"/>
                </a:solidFill>
              </a:rPr>
              <a:t> </a:t>
            </a:r>
            <a:r>
              <a:rPr lang="en-US" sz="3000">
                <a:solidFill>
                  <a:schemeClr val="bg1"/>
                </a:solidFill>
              </a:rPr>
              <a:t>It contains a </a:t>
            </a:r>
            <a:r>
              <a:rPr lang="en-US" sz="3000" b="1">
                <a:solidFill>
                  <a:schemeClr val="bg1"/>
                </a:solidFill>
              </a:rPr>
              <a:t>QR code</a:t>
            </a:r>
            <a:r>
              <a:rPr lang="en-US" sz="300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1200" y="4475546"/>
            <a:ext cx="7239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>
                <a:solidFill>
                  <a:schemeClr val="tx2">
                    <a:lumMod val="60000"/>
                    <a:lumOff val="40000"/>
                  </a:schemeClr>
                </a:solidFill>
              </a:rPr>
              <a:t>Step 4: Scan the QR Code</a:t>
            </a:r>
            <a:endParaRPr lang="ar-EG" sz="3000" b="1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US" sz="3000" b="1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>
                <a:solidFill>
                  <a:schemeClr val="bg1"/>
                </a:solidFill>
              </a:rPr>
              <a:t>Use any QR scanner.</a:t>
            </a:r>
            <a:endParaRPr lang="ar-EG" sz="300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00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>
                <a:solidFill>
                  <a:schemeClr val="bg1"/>
                </a:solidFill>
              </a:rPr>
              <a:t>The QR reveals a </a:t>
            </a:r>
            <a:r>
              <a:rPr lang="en-US" sz="3000" b="1">
                <a:solidFill>
                  <a:schemeClr val="bg1"/>
                </a:solidFill>
              </a:rPr>
              <a:t>Morse code</a:t>
            </a:r>
            <a:r>
              <a:rPr lang="en-US" sz="3000">
                <a:solidFill>
                  <a:schemeClr val="bg1"/>
                </a:solidFill>
              </a:rPr>
              <a:t> message.</a:t>
            </a:r>
          </a:p>
        </p:txBody>
      </p:sp>
      <p:pic>
        <p:nvPicPr>
          <p:cNvPr id="9" name="Picture 8" descr="A qr code on a white background&#10;&#10;Description automatically generate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0" y="3552996"/>
            <a:ext cx="5495925" cy="549592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  <a:headEnd/>
            <a:tailEnd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2" name="Picture 1" descr="A blue and black logo&#10;&#10;AI-generated content may be incorrect.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5925" y="0"/>
            <a:ext cx="1065783" cy="114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0362" y="0"/>
            <a:ext cx="7109791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800" b="1" u="sng" dirty="0">
                <a:solidFill>
                  <a:srgbClr val="62F1F9"/>
                </a:solidFill>
              </a:rPr>
              <a:t>Cont.....:</a:t>
            </a:r>
          </a:p>
        </p:txBody>
      </p:sp>
    </p:spTree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47800" y="1028700"/>
            <a:ext cx="1417320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>
                <a:solidFill>
                  <a:schemeClr val="tx2">
                    <a:lumMod val="60000"/>
                    <a:lumOff val="40000"/>
                  </a:schemeClr>
                </a:solidFill>
              </a:rPr>
              <a:t>Step 5: Decode the Morse Code</a:t>
            </a:r>
            <a:endParaRPr lang="ar-EG" sz="3000" b="1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US" sz="3000" b="1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>
                <a:solidFill>
                  <a:schemeClr val="bg1"/>
                </a:solidFill>
              </a:rPr>
              <a:t>Paste the Morse string into an online decoder.</a:t>
            </a:r>
            <a:endParaRPr lang="ar-EG" sz="300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00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>
                <a:solidFill>
                  <a:schemeClr val="bg1"/>
                </a:solidFill>
              </a:rPr>
              <a:t>The output reveals the </a:t>
            </a:r>
            <a:r>
              <a:rPr lang="en-US" sz="3000" b="1">
                <a:solidFill>
                  <a:schemeClr val="bg1"/>
                </a:solidFill>
              </a:rPr>
              <a:t>hidden Flag</a:t>
            </a:r>
            <a:r>
              <a:rPr lang="ar-EG" sz="3000" b="1">
                <a:solidFill>
                  <a:schemeClr val="bg1"/>
                </a:solidFill>
              </a:rPr>
              <a:t> </a:t>
            </a:r>
            <a:r>
              <a:rPr lang="en-US" sz="3000">
                <a:solidFill>
                  <a:schemeClr val="bg1"/>
                </a:solidFill>
              </a:rPr>
              <a:t>:</a:t>
            </a:r>
            <a:r>
              <a:rPr lang="ar-EG" sz="3000">
                <a:solidFill>
                  <a:schemeClr val="bg1"/>
                </a:solidFill>
              </a:rPr>
              <a:t> </a:t>
            </a:r>
            <a:r>
              <a:rPr lang="en-US" sz="3000" b="1">
                <a:solidFill>
                  <a:schemeClr val="bg1"/>
                </a:solidFill>
              </a:rPr>
              <a:t>FLAG(CYBER_LAB_SECRET_LAYER)</a:t>
            </a:r>
            <a:endParaRPr lang="en-US" sz="300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378" y="3887273"/>
            <a:ext cx="12801600" cy="5940742"/>
          </a:xfrm>
          <a:prstGeom prst="rect">
            <a:avLst/>
          </a:prstGeom>
        </p:spPr>
      </p:pic>
      <p:pic>
        <p:nvPicPr>
          <p:cNvPr id="2" name="Picture 1" descr="A blue and black logo&#10;&#10;AI-generated content may be incorrect.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400" y="0"/>
            <a:ext cx="1065783" cy="114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5261" y="43486"/>
            <a:ext cx="7109791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800" b="1" u="sng" dirty="0">
                <a:solidFill>
                  <a:srgbClr val="62F1F9"/>
                </a:solidFill>
              </a:rPr>
              <a:t>Cont.....: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753583" y="8802144"/>
            <a:ext cx="457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 Black" panose="020B0A04020102020204" pitchFamily="34" charset="0"/>
              </a:rPr>
              <a:t>26</a:t>
            </a:r>
          </a:p>
        </p:txBody>
      </p:sp>
    </p:spTree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676400" y="1181101"/>
            <a:ext cx="14706600" cy="7958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500" b="1" dirty="0">
                <a:solidFill>
                  <a:schemeClr val="accent1"/>
                </a:solidFill>
              </a:rPr>
              <a:t>Conclusion</a:t>
            </a:r>
            <a:r>
              <a:rPr lang="en-US" sz="3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: </a:t>
            </a:r>
          </a:p>
          <a:p>
            <a:endParaRPr lang="en-US" sz="3000" b="1" dirty="0">
              <a:solidFill>
                <a:schemeClr val="bg1"/>
              </a:solidFill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3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This lab simulates a real-world digital forensics case involving</a:t>
            </a:r>
            <a:r>
              <a:rPr lang="ar-EG" sz="3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3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  <a:endParaRPr lang="en-US" sz="3000" kern="100" dirty="0">
              <a:solidFill>
                <a:schemeClr val="bg1"/>
              </a:solidFill>
              <a:effectLst/>
              <a:latin typeface="Aptos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en-US" sz="30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chemeClr val="bg1"/>
                </a:solidFill>
              </a:rPr>
              <a:t> </a:t>
            </a:r>
            <a:r>
              <a:rPr lang="en-US" sz="3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File header manipulation</a:t>
            </a:r>
            <a:endParaRPr lang="ar-EG" sz="3000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ar-EG" sz="3000" kern="1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Signature verification</a:t>
            </a:r>
            <a:endParaRPr lang="ar-EG" sz="3000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ar-EG" sz="3000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kern="100" dirty="0">
                <a:solidFill>
                  <a:schemeClr val="bg1"/>
                </a:solidFill>
                <a:effectLst/>
                <a:latin typeface="Aptos" charset="0"/>
                <a:ea typeface="Times New Roman" panose="02020603050405020304" pitchFamily="18" charset="0"/>
                <a:cs typeface="Arial" panose="020B0604020202020204" pitchFamily="34" charset="0"/>
              </a:rPr>
              <a:t>QR code analysis</a:t>
            </a:r>
            <a:endParaRPr lang="ar-EG" sz="3000" kern="100" dirty="0">
              <a:solidFill>
                <a:schemeClr val="bg1"/>
              </a:solidFill>
              <a:effectLst/>
              <a:latin typeface="Aptos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ar-EG" sz="3000" kern="100" dirty="0">
              <a:solidFill>
                <a:schemeClr val="bg1"/>
              </a:solidFill>
              <a:latin typeface="Aptos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kern="100" dirty="0">
                <a:solidFill>
                  <a:schemeClr val="bg1"/>
                </a:solidFill>
                <a:effectLst/>
                <a:latin typeface="Aptos" charset="0"/>
                <a:ea typeface="Times New Roman" panose="02020603050405020304" pitchFamily="18" charset="0"/>
                <a:cs typeface="Arial" panose="020B0604020202020204" pitchFamily="34" charset="0"/>
              </a:rPr>
              <a:t>Morse code decoding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000" kern="100" dirty="0">
              <a:solidFill>
                <a:schemeClr val="bg1"/>
              </a:solidFill>
              <a:effectLst/>
              <a:latin typeface="Aptos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500" b="1" u="sng" dirty="0">
                <a:solidFill>
                  <a:srgbClr val="62F1F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teaches how a small change (like corrupted file headers) can hide or break access to valuable data, and how layered obfuscation can be used both for legitimate and malicious purposes.</a:t>
            </a:r>
          </a:p>
        </p:txBody>
      </p:sp>
      <p:pic>
        <p:nvPicPr>
          <p:cNvPr id="2" name="Picture 1" descr="A blue and black logo&#10;&#10;AI-generated content may be incorrect.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400" y="76201"/>
            <a:ext cx="1065783" cy="114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753583" y="8775009"/>
            <a:ext cx="457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 Black" panose="020B0A04020102020204" pitchFamily="34" charset="0"/>
              </a:rPr>
              <a:t>27</a:t>
            </a:r>
          </a:p>
        </p:txBody>
      </p:sp>
    </p:spTree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04357" y="4767943"/>
            <a:ext cx="1615440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en-US" sz="2800" i="1" dirty="0">
                <a:solidFill>
                  <a:srgbClr val="0070C0"/>
                </a:solidFill>
                <a:latin typeface="Arial" panose="020B0604020202020204"/>
                <a:cs typeface="Arial" panose="020B0604020202020204"/>
              </a:rPr>
              <a:t>It can allow:</a:t>
            </a:r>
            <a:endParaRPr lang="en-US" sz="3200" b="1" i="1">
              <a:solidFill>
                <a:srgbClr val="0070C0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2" name="Picture 1" descr="A blue and black logo&#10;&#10;AI-generated content may be incorrect.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400" y="10026"/>
            <a:ext cx="1065783" cy="114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0486"/>
            <a:ext cx="537210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4800" u="sng">
                <a:solidFill>
                  <a:srgbClr val="62F1F9"/>
                </a:solidFill>
                <a:latin typeface="Arial" panose="020B0604020202020204"/>
              </a:rPr>
              <a:t>SQL Injection</a:t>
            </a: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453243" y="1649186"/>
            <a:ext cx="57476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457200" indent="-457200">
              <a:buFont typeface="Wingdings" panose="05000000000000000000"/>
              <a:buChar char="Ø"/>
            </a:pPr>
            <a:r>
              <a:rPr lang="en-US" sz="3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What is SQL Injection :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779814" y="2237014"/>
            <a:ext cx="9454242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800">
                <a:solidFill>
                  <a:srgbClr val="D9D9D9"/>
                </a:solidFill>
                <a:latin typeface="Arial" panose="020B0604020202020204"/>
              </a:rPr>
              <a:t>An injection attack that allows an attacker to interfere with the queries an application makes to its database.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453243" y="3771900"/>
            <a:ext cx="6580413" cy="7897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rtl="0"/>
            <a:r>
              <a:rPr lang="en-US" sz="2800" dirty="0">
                <a:latin typeface="Arial" panose="020B0604020202020204"/>
                <a:cs typeface="Segoe UI" panose="020B0502040204020203"/>
              </a:rPr>
              <a:t>​</a:t>
            </a:r>
          </a:p>
          <a:p>
            <a:pPr marL="457200" indent="-457200" rtl="0">
              <a:lnSpc>
                <a:spcPts val="1800"/>
              </a:lnSpc>
              <a:buFont typeface="Wingdings" panose="05000000000000000000"/>
              <a:buChar char="Ø"/>
            </a:pPr>
            <a:r>
              <a:rPr lang="en-US" sz="3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Why is it dangerous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98271" y="5290456"/>
            <a:ext cx="6645728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457200" indent="-457200" rtl="0">
              <a:buFont typeface="Wingdings" panose="05000000000000000000"/>
              <a:buChar char="ü"/>
            </a:pPr>
            <a:r>
              <a:rPr lang="en-US" sz="2800" b="1" dirty="0">
                <a:solidFill>
                  <a:srgbClr val="D9D9D9"/>
                </a:solidFill>
                <a:latin typeface="Arial" panose="020B0604020202020204"/>
                <a:cs typeface="Segoe UI" panose="020B0502040204020203"/>
              </a:rPr>
              <a:t>Authentication bypass</a:t>
            </a:r>
            <a:r>
              <a:rPr lang="en-US" sz="2800" b="1" dirty="0">
                <a:latin typeface="Arial" panose="020B0604020202020204"/>
                <a:cs typeface="Segoe UI" panose="020B0502040204020203"/>
              </a:rPr>
              <a:t>​</a:t>
            </a:r>
            <a:endParaRPr lang="en-US" sz="2800" b="1" dirty="0">
              <a:solidFill>
                <a:srgbClr val="000000"/>
              </a:solidFill>
              <a:latin typeface="Arial" panose="020B0604020202020204"/>
              <a:cs typeface="Segoe UI" panose="020B0502040204020203"/>
            </a:endParaRPr>
          </a:p>
          <a:p>
            <a:pPr marL="457200" indent="-457200" rtl="0">
              <a:buFont typeface="Wingdings" panose="05000000000000000000"/>
              <a:buChar char="ü"/>
            </a:pPr>
            <a:r>
              <a:rPr lang="en-US" sz="2800" b="1" dirty="0">
                <a:solidFill>
                  <a:srgbClr val="D9D9D9"/>
                </a:solidFill>
                <a:latin typeface="Arial" panose="020B0604020202020204"/>
                <a:cs typeface="Segoe UI" panose="020B0502040204020203"/>
              </a:rPr>
              <a:t>Data leakage</a:t>
            </a:r>
            <a:r>
              <a:rPr lang="en-US" sz="2800" b="1" dirty="0">
                <a:latin typeface="Arial" panose="020B0604020202020204"/>
                <a:cs typeface="Segoe UI" panose="020B0502040204020203"/>
              </a:rPr>
              <a:t>​</a:t>
            </a:r>
          </a:p>
          <a:p>
            <a:pPr marL="457200" indent="-457200" rtl="0">
              <a:buFont typeface="Wingdings" panose="05000000000000000000"/>
              <a:buChar char="ü"/>
            </a:pPr>
            <a:r>
              <a:rPr lang="en-US" sz="2800" b="1" dirty="0">
                <a:solidFill>
                  <a:srgbClr val="D9D9D9"/>
                </a:solidFill>
                <a:latin typeface="Arial" panose="020B0604020202020204"/>
                <a:cs typeface="Segoe UI" panose="020B0502040204020203"/>
              </a:rPr>
              <a:t>Full system compromise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98271" y="7837714"/>
            <a:ext cx="832757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457200" indent="-457200" algn="l">
              <a:buFont typeface="Wingdings" panose="05000000000000000000"/>
              <a:buChar char="ü"/>
            </a:pPr>
            <a:r>
              <a:rPr lang="en-US" sz="2800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vulnerability allowing login bypass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53243" y="6858000"/>
            <a:ext cx="6237513" cy="7897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rtl="0"/>
            <a:r>
              <a:rPr lang="en-US" sz="2800" dirty="0">
                <a:latin typeface="Arial" panose="020B0604020202020204"/>
                <a:cs typeface="Segoe UI" panose="020B0502040204020203"/>
              </a:rPr>
              <a:t>​</a:t>
            </a:r>
          </a:p>
          <a:p>
            <a:pPr marL="457200" indent="-457200" rtl="0">
              <a:lnSpc>
                <a:spcPts val="1800"/>
              </a:lnSpc>
              <a:buFont typeface="Wingdings" panose="05000000000000000000"/>
              <a:buChar char="Ø"/>
            </a:pPr>
            <a:r>
              <a:rPr lang="en-US" sz="3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SQL-Injection Labs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799485" y="8877300"/>
            <a:ext cx="457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 Black" panose="020B0A04020102020204" pitchFamily="34" charset="0"/>
              </a:rPr>
              <a:t>28</a:t>
            </a:r>
          </a:p>
        </p:txBody>
      </p:sp>
    </p:spTree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8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7399" y="5447207"/>
            <a:ext cx="7244442" cy="3510643"/>
          </a:xfrm>
          <a:prstGeom prst="roundRect">
            <a:avLst>
              <a:gd name="adj" fmla="val 16667"/>
            </a:avLst>
          </a:prstGeom>
          <a:ln>
            <a:solidFill>
              <a:srgbClr val="62F1F9"/>
            </a:solidFill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blue and black logo&#10;&#10;AI-generated content may be incorrect.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400" y="0"/>
            <a:ext cx="1065783" cy="114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71500"/>
            <a:ext cx="1338942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4800" b="1" u="sng" dirty="0">
                <a:solidFill>
                  <a:srgbClr val="62F1F9"/>
                </a:solidFill>
                <a:latin typeface="Arial" panose="020B0604020202020204"/>
              </a:rPr>
              <a:t>Lab1</a:t>
            </a:r>
            <a:r>
              <a:rPr lang="en-US" sz="4800" u="sng" dirty="0">
                <a:solidFill>
                  <a:srgbClr val="62F1F9"/>
                </a:solidFill>
                <a:latin typeface="Arial" panose="020B0604020202020204"/>
              </a:rPr>
              <a:t>: </a:t>
            </a:r>
            <a:r>
              <a:rPr lang="en-US" sz="4800" b="1" u="sng" dirty="0">
                <a:solidFill>
                  <a:srgbClr val="00B0F0"/>
                </a:solidFill>
                <a:latin typeface="Arial" panose="020B0604020202020204"/>
              </a:rPr>
              <a:t>vulnerability allowing login bypass</a:t>
            </a:r>
            <a:endParaRPr lang="en-US" b="1">
              <a:solidFill>
                <a:srgbClr val="00B0F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40971" y="4914900"/>
            <a:ext cx="9356271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457200" indent="-457200" rtl="0">
              <a:buFont typeface="Wingdings" panose="05000000000000000000"/>
              <a:buChar char="Ø"/>
            </a:pPr>
            <a:r>
              <a:rPr lang="en-US" sz="3200" b="1">
                <a:solidFill>
                  <a:srgbClr val="4F81BD"/>
                </a:solidFill>
                <a:latin typeface="Calibri" panose="020F0502020204030204"/>
                <a:cs typeface="Segoe UI" panose="020B0502040204020203"/>
              </a:rPr>
              <a:t>Step</a:t>
            </a:r>
            <a:r>
              <a:rPr lang="en-US" sz="3200" b="1">
                <a:solidFill>
                  <a:srgbClr val="558ED5"/>
                </a:solidFill>
                <a:latin typeface="Calibri" panose="020F0502020204030204"/>
                <a:cs typeface="Segoe UI" panose="020B0502040204020203"/>
              </a:rPr>
              <a:t> 2: </a:t>
            </a:r>
            <a:r>
              <a:rPr lang="en-US" sz="3200">
                <a:solidFill>
                  <a:srgbClr val="D9D9D9"/>
                </a:solidFill>
                <a:latin typeface="Calibri" panose="020F0502020204030204"/>
                <a:cs typeface="Segoe UI" panose="020B0502040204020203"/>
              </a:rPr>
              <a:t>Enter Payload: In the username field, enter:</a:t>
            </a:r>
            <a:r>
              <a:rPr lang="en-US" sz="3200">
                <a:latin typeface="Calibri" panose="020F0502020204030204"/>
                <a:cs typeface="Segoe UI" panose="020B0502040204020203"/>
              </a:rPr>
              <a:t>​</a:t>
            </a:r>
          </a:p>
          <a:p>
            <a:pPr rtl="0"/>
            <a:r>
              <a:rPr lang="en-US" sz="3200" dirty="0" err="1">
                <a:solidFill>
                  <a:srgbClr val="0070C0"/>
                </a:solidFill>
                <a:latin typeface="Calibri" panose="020F0502020204030204"/>
                <a:cs typeface="Segoe UI" panose="020B0502040204020203"/>
              </a:rPr>
              <a:t>CyberLabs</a:t>
            </a:r>
            <a:r>
              <a:rPr lang="en-US" sz="3200" dirty="0">
                <a:solidFill>
                  <a:srgbClr val="D9D9D9"/>
                </a:solidFill>
                <a:latin typeface="Calibri" panose="020F0502020204030204"/>
                <a:cs typeface="Segoe UI" panose="020B0502040204020203"/>
              </a:rPr>
              <a:t>’--</a:t>
            </a:r>
            <a:endParaRPr lang="en-US" sz="3200" dirty="0">
              <a:solidFill>
                <a:srgbClr val="D9D9D9"/>
              </a:solidFill>
              <a:latin typeface="Calibri" panose="020F0502020204030204"/>
              <a:ea typeface="Calibri" panose="020F0502020204030204"/>
              <a:cs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40971" y="3755572"/>
            <a:ext cx="9846128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457200" indent="-457200">
              <a:buFont typeface="Wingdings" panose="05000000000000000000"/>
              <a:buChar char="Ø"/>
            </a:pPr>
            <a:r>
              <a:rPr lang="en-US" sz="3200" b="1" dirty="0">
                <a:solidFill>
                  <a:srgbClr val="558ED5"/>
                </a:solidFill>
                <a:latin typeface="Calibri" panose="020F0502020204030204"/>
              </a:rPr>
              <a:t>Step 1:</a:t>
            </a:r>
            <a:r>
              <a:rPr lang="en-US" sz="2800" dirty="0">
                <a:solidFill>
                  <a:srgbClr val="D9D9D9"/>
                </a:solidFill>
                <a:latin typeface="Calibri" panose="020F0502020204030204"/>
              </a:rPr>
              <a:t>Go to Login Page: Click the Login button or link to reach the login form.</a:t>
            </a:r>
            <a:r>
              <a:rPr lang="en-US" sz="2800" dirty="0">
                <a:latin typeface="Calibri" panose="020F0502020204030204"/>
                <a:ea typeface="Calibri" panose="020F0502020204030204"/>
                <a:cs typeface="Calibri" panose="020F0502020204030204"/>
              </a:rPr>
              <a:t>​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257300" y="1894114"/>
            <a:ext cx="13389428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457200" indent="-457200">
              <a:buFont typeface="Wingdings" panose="05000000000000000000"/>
              <a:buChar char="Ø"/>
            </a:pPr>
            <a:r>
              <a:rPr lang="en-US" sz="3200" b="1" dirty="0">
                <a:solidFill>
                  <a:srgbClr val="0070C0"/>
                </a:solidFill>
                <a:latin typeface="Arial" panose="020B0604020202020204"/>
                <a:cs typeface="Segoe UI" panose="020B0502040204020203"/>
              </a:rPr>
              <a:t>Objective:</a:t>
            </a:r>
            <a:r>
              <a:rPr lang="en-US" sz="3200" b="1" dirty="0">
                <a:solidFill>
                  <a:srgbClr val="D9D9D9"/>
                </a:solidFill>
                <a:latin typeface="Arial" panose="020B0604020202020204"/>
                <a:cs typeface="Segoe UI" panose="020B0502040204020203"/>
              </a:rPr>
              <a:t> </a:t>
            </a:r>
            <a:r>
              <a:rPr lang="en-US" sz="3200" dirty="0">
                <a:solidFill>
                  <a:srgbClr val="D9D9D9"/>
                </a:solidFill>
                <a:latin typeface="Arial" panose="020B0604020202020204"/>
                <a:cs typeface="Segoe UI" panose="020B0502040204020203"/>
              </a:rPr>
              <a:t>Exploit a SQL injection vulnerability in the login form to log in as the administrator </a:t>
            </a:r>
            <a:r>
              <a:rPr lang="en-US" sz="3200" err="1">
                <a:solidFill>
                  <a:srgbClr val="D9D9D9"/>
                </a:solidFill>
                <a:latin typeface="Arial" panose="020B0604020202020204"/>
                <a:cs typeface="Segoe UI" panose="020B0502040204020203"/>
              </a:rPr>
              <a:t>withoutknowing</a:t>
            </a:r>
            <a:r>
              <a:rPr lang="en-US" sz="3200" dirty="0">
                <a:solidFill>
                  <a:srgbClr val="D9D9D9"/>
                </a:solidFill>
                <a:latin typeface="Arial" panose="020B0604020202020204"/>
                <a:cs typeface="Segoe UI" panose="020B0502040204020203"/>
              </a:rPr>
              <a:t> the password.</a:t>
            </a:r>
            <a:endParaRPr lang="en-US" sz="3200" dirty="0"/>
          </a:p>
        </p:txBody>
      </p:sp>
      <p:sp>
        <p:nvSpPr>
          <p:cNvPr id="9" name="TextBox 8"/>
          <p:cNvSpPr txBox="1"/>
          <p:nvPr/>
        </p:nvSpPr>
        <p:spPr>
          <a:xfrm>
            <a:off x="1240971" y="6123215"/>
            <a:ext cx="9829800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457200" indent="-457200" rtl="0">
              <a:buFont typeface="Wingdings" panose="05000000000000000000"/>
              <a:buChar char="Ø"/>
            </a:pPr>
            <a:r>
              <a:rPr lang="en-US" sz="3200">
                <a:solidFill>
                  <a:srgbClr val="D9D9D9"/>
                </a:solidFill>
                <a:latin typeface="Calibri" panose="020F0502020204030204"/>
                <a:cs typeface="Segoe UI" panose="020B0502040204020203"/>
              </a:rPr>
              <a:t>Leave</a:t>
            </a:r>
            <a:r>
              <a:rPr lang="en-US" sz="3200" dirty="0">
                <a:solidFill>
                  <a:srgbClr val="D9D9D9"/>
                </a:solidFill>
                <a:latin typeface="Calibri" panose="020F0502020204030204"/>
                <a:cs typeface="Segoe UI" panose="020B0502040204020203"/>
              </a:rPr>
              <a:t> the password field blank or enter any text.</a:t>
            </a:r>
            <a:r>
              <a:rPr lang="en-US" sz="3200" dirty="0">
                <a:latin typeface="Calibri" panose="020F0502020204030204"/>
                <a:cs typeface="Segoe UI" panose="020B0502040204020203"/>
              </a:rPr>
              <a:t>​</a:t>
            </a:r>
          </a:p>
          <a:p>
            <a:pPr rtl="0"/>
            <a:r>
              <a:rPr lang="en-US" sz="3200" dirty="0">
                <a:latin typeface="Calibri" panose="020F0502020204030204"/>
                <a:cs typeface="Segoe UI" panose="020B0502040204020203"/>
              </a:rPr>
              <a:t>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753583" y="8819350"/>
            <a:ext cx="457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 Black" panose="020B0A04020102020204" pitchFamily="34" charset="0"/>
              </a:rPr>
              <a:t>29</a:t>
            </a:r>
          </a:p>
        </p:txBody>
      </p:sp>
    </p:spTree>
  </p:cSld>
  <p:clrMapOvr>
    <a:masterClrMapping/>
  </p:clrMapOvr>
  <p:transition spd="slow">
    <p:push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480458" y="6689272"/>
            <a:ext cx="1318260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 rtl="0">
              <a:spcBef>
                <a:spcPts val="1400"/>
              </a:spcBef>
              <a:spcAft>
                <a:spcPts val="400"/>
              </a:spcAft>
              <a:buFont typeface="Wingdings" panose="05000000000000000000"/>
              <a:buChar char="q"/>
            </a:pPr>
            <a:r>
              <a:rPr lang="en-US" sz="2800" dirty="0">
                <a:solidFill>
                  <a:srgbClr val="0070C0"/>
                </a:solidFill>
                <a:latin typeface="Arial" panose="020B0604020202020204"/>
              </a:rPr>
              <a:t>After injection: </a:t>
            </a:r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2672" y="4572000"/>
            <a:ext cx="11049000" cy="1940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2671" y="7723414"/>
            <a:ext cx="1104900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blue and black logo&#10;&#10;AI-generated content may be incorrect.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400" y="70184"/>
            <a:ext cx="1065783" cy="1143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9471" y="636814"/>
            <a:ext cx="364127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457200" indent="-457200">
              <a:buFont typeface="Wingdings" panose="05000000000000000000"/>
              <a:buChar char="Ø"/>
            </a:pPr>
            <a:r>
              <a:rPr lang="en-US" sz="2800" b="1">
                <a:solidFill>
                  <a:srgbClr val="00B0F0"/>
                </a:solidFill>
                <a:latin typeface="Arial" panose="020B0604020202020204"/>
              </a:rPr>
              <a:t> Explanation:</a:t>
            </a: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143000" y="1355272"/>
            <a:ext cx="13520056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457200" indent="-457200" rtl="0">
              <a:buFont typeface="Wingdings" panose="05000000000000000000"/>
              <a:buChar char="q"/>
            </a:pPr>
            <a:r>
              <a:rPr lang="en-US" sz="2800" dirty="0">
                <a:solidFill>
                  <a:srgbClr val="4F81BD"/>
                </a:solidFill>
                <a:latin typeface="Arial" panose="020B0604020202020204"/>
                <a:cs typeface="Segoe UI" panose="020B0502040204020203"/>
              </a:rPr>
              <a:t>' </a:t>
            </a:r>
            <a:r>
              <a:rPr lang="en-US" sz="2800" dirty="0">
                <a:solidFill>
                  <a:srgbClr val="FFFFFF"/>
                </a:solidFill>
                <a:latin typeface="Arial" panose="020B0604020202020204"/>
                <a:cs typeface="Segoe UI" panose="020B0502040204020203"/>
              </a:rPr>
              <a:t>closes the existing query string.​</a:t>
            </a:r>
            <a:endParaRPr lang="en-US" sz="2800" dirty="0">
              <a:latin typeface="Arial" panose="020B0604020202020204"/>
              <a:cs typeface="Arial" panose="020B0604020202020204"/>
            </a:endParaRPr>
          </a:p>
          <a:p>
            <a:pPr marL="457200" indent="-457200" rtl="0">
              <a:buFont typeface="Wingdings" panose="05000000000000000000"/>
              <a:buChar char="q"/>
            </a:pPr>
            <a:r>
              <a:rPr lang="en-US" sz="2800" dirty="0">
                <a:solidFill>
                  <a:srgbClr val="4F81BD"/>
                </a:solidFill>
                <a:latin typeface="Arial" panose="020B0604020202020204"/>
                <a:cs typeface="Arial" panose="020B0604020202020204"/>
              </a:rPr>
              <a:t>OR 1=1 </a:t>
            </a:r>
            <a:r>
              <a:rPr lang="en-US" sz="28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makes the condition always </a:t>
            </a:r>
            <a:r>
              <a:rPr lang="en-US" sz="28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true</a:t>
            </a:r>
            <a:r>
              <a:rPr lang="en-US" sz="28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.</a:t>
            </a:r>
            <a:r>
              <a:rPr lang="en-US" sz="2800" dirty="0">
                <a:latin typeface="Arial" panose="020B0604020202020204"/>
                <a:cs typeface="Arial" panose="020B0604020202020204"/>
              </a:rPr>
              <a:t>​</a:t>
            </a:r>
          </a:p>
          <a:p>
            <a:pPr marL="457200" indent="-457200" rtl="0">
              <a:buFont typeface="Wingdings" panose="05000000000000000000"/>
              <a:buChar char="q"/>
            </a:pPr>
            <a:r>
              <a:rPr lang="en-US" sz="2800" dirty="0">
                <a:solidFill>
                  <a:srgbClr val="4F81BD"/>
                </a:solidFill>
                <a:latin typeface="Arial" panose="020B0604020202020204"/>
                <a:cs typeface="Arial" panose="020B0604020202020204"/>
              </a:rPr>
              <a:t>--</a:t>
            </a:r>
            <a:r>
              <a:rPr lang="en-US" sz="28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comments out the rest of the SQL query (password check).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9471" y="3167743"/>
            <a:ext cx="60579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457200" indent="-457200">
              <a:buFont typeface="Wingdings" panose="05000000000000000000"/>
              <a:buChar char="Ø"/>
            </a:pPr>
            <a:r>
              <a:rPr lang="en-US" sz="2800" b="1" dirty="0">
                <a:solidFill>
                  <a:srgbClr val="00B0F0"/>
                </a:solidFill>
                <a:latin typeface="Arial" panose="020B0604020202020204"/>
              </a:rPr>
              <a:t>What Happens Internally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65514" y="3837214"/>
            <a:ext cx="64008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342900" indent="-342900">
              <a:buFont typeface="Wingdings" panose="05000000000000000000"/>
              <a:buChar char="q"/>
            </a:pPr>
            <a:r>
              <a:rPr lang="en-US" sz="2800" dirty="0">
                <a:solidFill>
                  <a:srgbClr val="0070C0"/>
                </a:solidFill>
                <a:latin typeface="Arial" panose="020B0604020202020204"/>
              </a:rPr>
              <a:t> The query likely looks like:</a:t>
            </a:r>
            <a:endParaRPr lang="en-US" sz="2800" dirty="0">
              <a:solidFill>
                <a:srgbClr val="0070C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753583" y="8852248"/>
            <a:ext cx="457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 Black" panose="020B0A04020102020204" pitchFamily="34" charset="0"/>
              </a:rPr>
              <a:t>30</a:t>
            </a:r>
          </a:p>
        </p:txBody>
      </p:sp>
    </p:spTree>
  </p:cSld>
  <p:clrMapOvr>
    <a:masterClrMapping/>
  </p:clrMapOvr>
  <p:transition spd="slow">
    <p:push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72" y="4142014"/>
            <a:ext cx="10640785" cy="465908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78328" y="2574472"/>
            <a:ext cx="8382000" cy="22170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rtl="0" fontAlgn="base">
              <a:lnSpc>
                <a:spcPct val="150000"/>
              </a:lnSpc>
            </a:pPr>
            <a:r>
              <a:rPr lang="en-US" sz="3200" b="0" i="0" u="none" strike="noStrike" dirty="0">
                <a:solidFill>
                  <a:schemeClr val="bg1"/>
                </a:solidFill>
                <a:effectLst/>
                <a:latin typeface="Arial" panose="020B0604020202020204"/>
                <a:cs typeface="Arial" panose="020B0604020202020204"/>
              </a:rPr>
              <a:t>View Success Flag: You should see the “</a:t>
            </a:r>
            <a:r>
              <a:rPr lang="en-US" sz="3200" b="0" i="1" u="sng" strike="noStrike" dirty="0">
                <a:solidFill>
                  <a:srgbClr val="2CACBB"/>
                </a:solidFill>
                <a:effectLst/>
                <a:latin typeface="Arial" panose="020B0604020202020204"/>
                <a:cs typeface="Arial" panose="020B0604020202020204"/>
              </a:rPr>
              <a:t>Welcome To Our Page</a:t>
            </a:r>
            <a:r>
              <a:rPr lang="en-US" sz="3200" b="0" i="0" u="none" strike="noStrike" dirty="0">
                <a:solidFill>
                  <a:schemeClr val="bg1"/>
                </a:solidFill>
                <a:effectLst/>
                <a:latin typeface="Arial" panose="020B0604020202020204"/>
                <a:cs typeface="Arial" panose="020B0604020202020204"/>
              </a:rPr>
              <a:t>” message indicating the lab is solved.</a:t>
            </a:r>
            <a:endParaRPr lang="en-US" sz="3200" b="0" i="0" u="none" strike="noStrike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 descr="A blue and black logo&#10;&#10;AI-generated content may be incorrect.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400" y="26068"/>
            <a:ext cx="1065783" cy="114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3772" y="979714"/>
            <a:ext cx="1484267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3200" b="1">
                <a:solidFill>
                  <a:srgbClr val="558ED5"/>
                </a:solidFill>
                <a:latin typeface="Calibri" panose="020F0502020204030204"/>
                <a:cs typeface="Segoe UI" panose="020B0502040204020203"/>
              </a:rPr>
              <a:t>Step 3: </a:t>
            </a:r>
            <a:r>
              <a:rPr lang="en-US" sz="2800">
                <a:solidFill>
                  <a:srgbClr val="FFFFFF"/>
                </a:solidFill>
                <a:latin typeface="Arial" panose="020B0604020202020204"/>
                <a:cs typeface="Segoe UI" panose="020B0502040204020203"/>
              </a:rPr>
              <a:t>Submit the Form: Click Login. The injected payload will bypass authentication, logging youin successfully.</a:t>
            </a: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7753583" y="8801099"/>
            <a:ext cx="457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 Black" panose="020B0A04020102020204" pitchFamily="34" charset="0"/>
              </a:rPr>
              <a:t>31</a:t>
            </a:r>
          </a:p>
        </p:txBody>
      </p:sp>
    </p:spTree>
  </p:cSld>
  <p:clrMapOvr>
    <a:masterClrMapping/>
  </p:clrMapOvr>
  <p:transition spd="slow">
    <p:push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990600" y="1104900"/>
            <a:ext cx="1463040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 rtl="0">
              <a:spcBef>
                <a:spcPts val="1400"/>
              </a:spcBef>
              <a:spcAft>
                <a:spcPts val="400"/>
              </a:spcAft>
              <a:buFont typeface="Wingdings" panose="05000000000000000000"/>
              <a:buChar char="Ø"/>
            </a:pPr>
            <a:r>
              <a:rPr lang="en-US" sz="2800" b="1" dirty="0">
                <a:solidFill>
                  <a:srgbClr val="00B0F0"/>
                </a:solidFill>
                <a:latin typeface="Arial" panose="020B0604020202020204"/>
              </a:rPr>
              <a:t> Why This Happens</a:t>
            </a:r>
            <a:endParaRPr lang="en-US"/>
          </a:p>
        </p:txBody>
      </p:sp>
      <p:pic>
        <p:nvPicPr>
          <p:cNvPr id="2" name="Picture 1" descr="A blue and black logo&#10;&#10;AI-generated content may be incorrect.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400" y="14037"/>
            <a:ext cx="1065783" cy="1143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96043" y="4098472"/>
            <a:ext cx="142385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457200" indent="-457200" rtl="0">
              <a:buFont typeface="Wingdings" panose="05000000000000000000"/>
              <a:buChar char="Ø"/>
            </a:pPr>
            <a:r>
              <a:rPr lang="en-US" sz="2800" b="1" dirty="0">
                <a:solidFill>
                  <a:srgbClr val="00B0F0"/>
                </a:solidFill>
                <a:latin typeface="Arial" panose="020B0604020202020204"/>
                <a:cs typeface="Segoe UI" panose="020B0502040204020203"/>
              </a:rPr>
              <a:t>How to </a:t>
            </a:r>
            <a:r>
              <a:rPr lang="en-US" sz="2800" b="1" dirty="0">
                <a:solidFill>
                  <a:srgbClr val="00B0F0"/>
                </a:solidFill>
                <a:latin typeface="Arial" panose="020B0604020202020204"/>
              </a:rPr>
              <a:t>Prevent</a:t>
            </a:r>
            <a:r>
              <a:rPr lang="en-US" sz="2800" b="1" dirty="0">
                <a:solidFill>
                  <a:srgbClr val="00B0F0"/>
                </a:solidFill>
                <a:latin typeface="Arial" panose="020B0604020202020204"/>
                <a:cs typeface="Segoe UI" panose="020B0502040204020203"/>
              </a:rPr>
              <a:t> It</a:t>
            </a:r>
            <a:r>
              <a:rPr lang="en-US" sz="2800" dirty="0">
                <a:latin typeface="Arial" panose="020B0604020202020204"/>
                <a:cs typeface="Segoe UI" panose="020B0502040204020203"/>
              </a:rPr>
              <a:t>​</a:t>
            </a:r>
            <a:r>
              <a:rPr lang="en-US" sz="2400" dirty="0">
                <a:latin typeface="Arial" panose="020B0604020202020204"/>
                <a:cs typeface="Segoe UI" panose="020B0502040204020203"/>
              </a:rPr>
              <a:t>​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649186" y="1812471"/>
            <a:ext cx="15250883" cy="13051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342900" indent="-342900" rtl="0">
              <a:lnSpc>
                <a:spcPct val="150000"/>
              </a:lnSpc>
              <a:buFont typeface="Wingdings" panose="05000000000000000000"/>
              <a:buChar char="q"/>
            </a:pPr>
            <a:r>
              <a:rPr lang="en-US" sz="28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The application </a:t>
            </a:r>
            <a:r>
              <a:rPr lang="en-US" sz="28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fails to sanitize</a:t>
            </a:r>
            <a:r>
              <a:rPr lang="en-US" sz="28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 or </a:t>
            </a:r>
            <a:r>
              <a:rPr lang="en-US" sz="28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parameterize</a:t>
            </a:r>
            <a:r>
              <a:rPr lang="en-US" sz="28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 the input before using it in SQL queries.</a:t>
            </a:r>
            <a:r>
              <a:rPr lang="en-US" sz="2800" dirty="0">
                <a:latin typeface="Arial" panose="020B0604020202020204"/>
                <a:cs typeface="Arial" panose="020B0604020202020204"/>
              </a:rPr>
              <a:t>​</a:t>
            </a:r>
            <a:endParaRPr lang="en-US" sz="2800" dirty="0">
              <a:solidFill>
                <a:srgbClr val="000000"/>
              </a:solidFill>
              <a:latin typeface="Arial" panose="020B0604020202020204"/>
              <a:cs typeface="Arial" panose="020B0604020202020204"/>
            </a:endParaRPr>
          </a:p>
          <a:p>
            <a:pPr marL="342900" indent="-342900" rtl="0">
              <a:lnSpc>
                <a:spcPct val="150000"/>
              </a:lnSpc>
              <a:buFont typeface="Wingdings" panose="05000000000000000000"/>
              <a:buChar char="q"/>
            </a:pPr>
            <a:r>
              <a:rPr lang="en-US" sz="28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User input is directly injected into SQL logic = </a:t>
            </a:r>
            <a:r>
              <a:rPr lang="en-US" sz="28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vulnerability</a:t>
            </a:r>
            <a:r>
              <a:rPr lang="en-US" sz="28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2229" y="4620986"/>
            <a:ext cx="11691257" cy="25978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342900" indent="-342900" rtl="0">
              <a:lnSpc>
                <a:spcPct val="150000"/>
              </a:lnSpc>
              <a:buFont typeface="Wingdings" panose="05000000000000000000"/>
              <a:buChar char="q"/>
            </a:pPr>
            <a:r>
              <a:rPr lang="en-US" sz="28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 Use Prepared Statements (ex: PDO or </a:t>
            </a:r>
            <a:r>
              <a:rPr lang="en-US" sz="2800" dirty="0" err="1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mysqli</a:t>
            </a:r>
            <a:r>
              <a:rPr lang="en-US" sz="28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 with </a:t>
            </a:r>
            <a:r>
              <a:rPr lang="en-US" sz="2800" dirty="0" err="1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bind_param</a:t>
            </a:r>
            <a:r>
              <a:rPr lang="en-US" sz="28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)</a:t>
            </a:r>
            <a:r>
              <a:rPr lang="en-US" sz="2800" dirty="0">
                <a:latin typeface="Arial" panose="020B0604020202020204"/>
                <a:cs typeface="Arial" panose="020B0604020202020204"/>
              </a:rPr>
              <a:t>​​</a:t>
            </a:r>
            <a:endParaRPr lang="en-US" sz="2800" dirty="0">
              <a:solidFill>
                <a:srgbClr val="000000"/>
              </a:solidFill>
              <a:latin typeface="Arial" panose="020B0604020202020204"/>
              <a:cs typeface="Arial" panose="020B0604020202020204"/>
            </a:endParaRPr>
          </a:p>
          <a:p>
            <a:pPr marL="342900" indent="-342900" rtl="0">
              <a:lnSpc>
                <a:spcPct val="150000"/>
              </a:lnSpc>
              <a:buFont typeface="Wingdings" panose="05000000000000000000"/>
              <a:buChar char="q"/>
            </a:pPr>
            <a:r>
              <a:rPr lang="en-US" sz="28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 Apply input validation and sanitization</a:t>
            </a:r>
            <a:r>
              <a:rPr lang="en-US" sz="2800" dirty="0">
                <a:latin typeface="Arial" panose="020B0604020202020204"/>
                <a:cs typeface="Arial" panose="020B0604020202020204"/>
              </a:rPr>
              <a:t>​​</a:t>
            </a:r>
          </a:p>
          <a:p>
            <a:pPr marL="342900" indent="-342900" rtl="0">
              <a:lnSpc>
                <a:spcPct val="150000"/>
              </a:lnSpc>
              <a:buFont typeface="Wingdings" panose="05000000000000000000"/>
              <a:buChar char="q"/>
            </a:pPr>
            <a:r>
              <a:rPr lang="en-US" sz="28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 Implement least privilege on the database</a:t>
            </a:r>
            <a:r>
              <a:rPr lang="en-US" sz="2800" dirty="0">
                <a:latin typeface="Arial" panose="020B0604020202020204"/>
                <a:cs typeface="Arial" panose="020B0604020202020204"/>
              </a:rPr>
              <a:t>​​</a:t>
            </a:r>
          </a:p>
          <a:p>
            <a:pPr marL="342900" indent="-342900" rtl="0">
              <a:lnSpc>
                <a:spcPct val="150000"/>
              </a:lnSpc>
              <a:buFont typeface="Wingdings" panose="05000000000000000000"/>
              <a:buChar char="q"/>
            </a:pPr>
            <a:r>
              <a:rPr lang="en-US" sz="28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 Use Web Application Firewalls (WAFs) to block known attack patterns</a:t>
            </a:r>
            <a:r>
              <a:rPr lang="en-US" sz="2800" dirty="0">
                <a:latin typeface="Arial" panose="020B0604020202020204"/>
                <a:cs typeface="Arial" panose="020B0604020202020204"/>
              </a:rPr>
              <a:t>​​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753583" y="8852248"/>
            <a:ext cx="457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 Black" panose="020B0A04020102020204" pitchFamily="34" charset="0"/>
              </a:rPr>
              <a:t>32</a:t>
            </a:r>
          </a:p>
        </p:txBody>
      </p:sp>
    </p:spTree>
  </p:cSld>
  <p:clrMapOvr>
    <a:masterClrMapping/>
  </p:clrMapOvr>
  <p:transition spd="slow">
    <p:push dir="u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81100" y="2286000"/>
            <a:ext cx="15925800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US" altLang="en-GB" sz="2800" b="0" dirty="0">
                <a:solidFill>
                  <a:schemeClr val="bg1"/>
                </a:solidFill>
                <a:latin typeface="Arial" panose="020B0604020202020204"/>
                <a:cs typeface="Times New Roman" panose="02020603050405020304"/>
              </a:rPr>
              <a:t>Learn to exploit a Race Condition vulnerability by sending multiple concurrent registration requests using the same email address, bypassing validation checks and creating multiple accounts.</a:t>
            </a:r>
            <a:endParaRPr lang="en-US" altLang="en-GB" sz="2000" b="1">
              <a:solidFill>
                <a:schemeClr val="bg1"/>
              </a:solidFill>
              <a:latin typeface="Arial" panose="020B0604020202020204"/>
              <a:cs typeface="Times New Roman" panose="02020603050405020304" pitchFamily="18" charset="0"/>
            </a:endParaRPr>
          </a:p>
        </p:txBody>
      </p:sp>
      <p:pic>
        <p:nvPicPr>
          <p:cNvPr id="4" name="Picture 3" descr="A blue and black logo&#10;&#10;AI-generated content may be incorrect.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400" y="0"/>
            <a:ext cx="1065783" cy="1143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9471" y="310243"/>
            <a:ext cx="1536518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4800" b="1" u="sng" dirty="0">
                <a:solidFill>
                  <a:srgbClr val="62F1F9"/>
                </a:solidFill>
                <a:latin typeface="Arial" panose="020B0604020202020204"/>
              </a:rPr>
              <a:t>Lab1</a:t>
            </a:r>
            <a:r>
              <a:rPr lang="en-US" sz="4800" u="sng" dirty="0">
                <a:solidFill>
                  <a:srgbClr val="62F1F9"/>
                </a:solidFill>
                <a:latin typeface="Arial" panose="020B0604020202020204"/>
              </a:rPr>
              <a:t>: </a:t>
            </a:r>
            <a:r>
              <a:rPr lang="en-US" sz="4800" b="1" u="sng" dirty="0">
                <a:solidFill>
                  <a:srgbClr val="00B0F0"/>
                </a:solidFill>
                <a:latin typeface="Arial" panose="020B0604020202020204"/>
              </a:rPr>
              <a:t>Race Attack: Multi-Accounts, One Email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757" y="3233058"/>
            <a:ext cx="14385471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rtl="0"/>
            <a:r>
              <a:rPr lang="en-US" dirty="0">
                <a:latin typeface="Arial" panose="020B0604020202020204"/>
                <a:cs typeface="Segoe UI" panose="020B0502040204020203"/>
              </a:rPr>
              <a:t>​</a:t>
            </a:r>
          </a:p>
          <a:p>
            <a:pPr marL="457200" indent="-457200" rtl="0">
              <a:buFont typeface="Wingdings" panose="05000000000000000000"/>
              <a:buChar char="Ø"/>
            </a:pPr>
            <a:r>
              <a:rPr lang="en-US" sz="2800" b="1" dirty="0">
                <a:solidFill>
                  <a:srgbClr val="00B0F0"/>
                </a:solidFill>
                <a:latin typeface="Arial" panose="020B0604020202020204"/>
                <a:cs typeface="Arial" panose="020B0604020202020204"/>
              </a:rPr>
              <a:t>Scenario:​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890658"/>
            <a:ext cx="9699171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457200" indent="-457200" rtl="0">
              <a:buFont typeface="Wingdings" panose="05000000000000000000"/>
              <a:buChar char="Ø"/>
            </a:pPr>
            <a:r>
              <a:rPr lang="en-US" sz="2800" b="1" dirty="0">
                <a:solidFill>
                  <a:srgbClr val="00B0F0"/>
                </a:solidFill>
                <a:latin typeface="Arial" panose="020B0604020202020204"/>
              </a:rPr>
              <a:t>The lab environment includes :​</a:t>
            </a:r>
            <a:endParaRPr lang="en-US" dirty="0"/>
          </a:p>
          <a:p>
            <a:pPr rtl="0"/>
            <a:r>
              <a:rPr lang="en-US" dirty="0">
                <a:latin typeface="Arial" panose="020B0604020202020204"/>
                <a:cs typeface="Segoe UI" panose="020B0502040204020203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757" y="1485900"/>
            <a:ext cx="27432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457200" indent="-457200">
              <a:buFont typeface="Wingdings" panose="05000000000000000000"/>
              <a:buChar char="Ø"/>
            </a:pPr>
            <a:r>
              <a:rPr lang="en-US" sz="2800" b="1" dirty="0">
                <a:solidFill>
                  <a:srgbClr val="00B0F0"/>
                </a:solidFill>
                <a:latin typeface="Arial" panose="020B0604020202020204"/>
              </a:rPr>
              <a:t>Objective:</a:t>
            </a:r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175657" y="4033157"/>
            <a:ext cx="16099970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800" dirty="0">
                <a:solidFill>
                  <a:srgbClr val="FFFFFF"/>
                </a:solidFill>
                <a:latin typeface="Arial" panose="020B0604020202020204"/>
                <a:cs typeface="Segoe UI" panose="020B0502040204020203"/>
              </a:rPr>
              <a:t>You are a penetration tester evaluating a web application that allows users to register with a unique email address. The system checks whether an email is already registered before creating a new account. However, due to a lack of proper concurrency control, it is vulnerable to a Race Condition—specifically a TOCTOU flaw (Time-of-Check to Time-of-Use). By sending several registration requests simultaneously, you can overwhelm the server and create multiple accounts using the same email address before the database finishes updating.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322614" y="7511144"/>
            <a:ext cx="14042570" cy="19514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457200" indent="-457200" rtl="0">
              <a:lnSpc>
                <a:spcPct val="150000"/>
              </a:lnSpc>
              <a:buFont typeface="Wingdings" panose="05000000000000000000"/>
              <a:buChar char="§"/>
            </a:pPr>
            <a:r>
              <a:rPr lang="en-US" sz="28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A vulnerable web application</a:t>
            </a:r>
            <a:r>
              <a:rPr lang="en-US" sz="2800" dirty="0">
                <a:latin typeface="Arial" panose="020B0604020202020204"/>
                <a:cs typeface="Arial" panose="020B0604020202020204"/>
              </a:rPr>
              <a:t>​​</a:t>
            </a:r>
          </a:p>
          <a:p>
            <a:pPr marL="457200" indent="-457200" rtl="0">
              <a:lnSpc>
                <a:spcPct val="150000"/>
              </a:lnSpc>
              <a:buFont typeface="Wingdings" panose="05000000000000000000"/>
              <a:buChar char="§"/>
            </a:pPr>
            <a:r>
              <a:rPr lang="en-US" sz="28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A browser</a:t>
            </a:r>
            <a:r>
              <a:rPr lang="en-US" sz="2800" dirty="0">
                <a:latin typeface="Arial" panose="020B0604020202020204"/>
                <a:cs typeface="Arial" panose="020B0604020202020204"/>
              </a:rPr>
              <a:t>​​</a:t>
            </a:r>
          </a:p>
          <a:p>
            <a:pPr marL="457200" indent="-457200" rtl="0">
              <a:lnSpc>
                <a:spcPct val="150000"/>
              </a:lnSpc>
              <a:buFont typeface="Wingdings" panose="05000000000000000000"/>
              <a:buChar char="§"/>
            </a:pPr>
            <a:r>
              <a:rPr lang="en-US" sz="28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Burp Suite Community Edition or any tool capable of sending parallel requests</a:t>
            </a:r>
            <a:r>
              <a:rPr lang="en-US" sz="2800" dirty="0">
                <a:latin typeface="Arial" panose="020B0604020202020204"/>
                <a:cs typeface="Arial" panose="020B0604020202020204"/>
              </a:rPr>
              <a:t>​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7753583" y="8802144"/>
            <a:ext cx="457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 Black" panose="020B0A04020102020204" pitchFamily="34" charset="0"/>
              </a:rPr>
              <a:t>33</a:t>
            </a:r>
          </a:p>
        </p:txBody>
      </p:sp>
    </p:spTree>
  </p:cSld>
  <p:clrMapOvr>
    <a:masterClrMapping/>
  </p:clrMapOvr>
  <p:transition spd="slow">
    <p:push dir="u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A screenshot of a login form&#10;&#10;AI-generated content may be incorrect."/>
          <p:cNvPicPr>
            <a:picLocks noChangeAspect="1"/>
          </p:cNvPicPr>
          <p:nvPr/>
        </p:nvPicPr>
        <p:blipFill>
          <a:blip r:embed="rId2"/>
          <a:srcRect l="9496" t="1012" r="121" b="-223"/>
          <a:stretch>
            <a:fillRect/>
          </a:stretch>
        </p:blipFill>
        <p:spPr>
          <a:xfrm>
            <a:off x="9685192" y="1549038"/>
            <a:ext cx="7830156" cy="72635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TextBox 1"/>
          <p:cNvSpPr txBox="1"/>
          <p:nvPr/>
        </p:nvSpPr>
        <p:spPr>
          <a:xfrm>
            <a:off x="1665515" y="5927272"/>
            <a:ext cx="5910943" cy="19514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/>
              <a:buChar char="ü"/>
            </a:pPr>
            <a:r>
              <a:rPr lang="en-US" altLang="en-GB" sz="2800" b="0">
                <a:solidFill>
                  <a:schemeClr val="bg1"/>
                </a:solidFill>
                <a:latin typeface="Arial" panose="020B0604020202020204"/>
                <a:cs typeface="Times New Roman" panose="02020603050405020304"/>
              </a:rPr>
              <a:t>Once the registration request is captured, send it to the Repeater.</a:t>
            </a:r>
            <a:endParaRPr lang="en-US">
              <a:solidFill>
                <a:schemeClr val="bg1"/>
              </a:solidFill>
              <a:latin typeface="Arial" panose="020B0604020202020204"/>
              <a:cs typeface="Times New Roman" panose="02020603050405020304"/>
            </a:endParaRPr>
          </a:p>
        </p:txBody>
      </p:sp>
      <p:pic>
        <p:nvPicPr>
          <p:cNvPr id="4" name="Picture 3" descr="A blue and black logo&#10;&#10;AI-generated content may be incorrect.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2600" y="29349"/>
            <a:ext cx="1065783" cy="114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3143" y="653143"/>
            <a:ext cx="568234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800" b="1">
                <a:solidFill>
                  <a:srgbClr val="00B0F0"/>
                </a:solidFill>
                <a:latin typeface="Arial" panose="020B0604020202020204"/>
              </a:rPr>
              <a:t>Solution Steps: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763486" y="2237014"/>
            <a:ext cx="6858001" cy="19514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457200" indent="-457200" rtl="0">
              <a:lnSpc>
                <a:spcPct val="150000"/>
              </a:lnSpc>
              <a:buFont typeface="Wingdings" panose="05000000000000000000"/>
              <a:buChar char="ü"/>
            </a:pPr>
            <a:r>
              <a:rPr lang="en-US" sz="28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Enable intercept in Burp Suite.</a:t>
            </a:r>
            <a:r>
              <a:rPr lang="en-US" sz="2800" dirty="0">
                <a:latin typeface="Arial" panose="020B0604020202020204"/>
                <a:cs typeface="Arial" panose="020B0604020202020204"/>
              </a:rPr>
              <a:t>​</a:t>
            </a:r>
            <a:endParaRPr lang="en-US" sz="2800" dirty="0">
              <a:latin typeface="Arial" panose="020B0604020202020204"/>
              <a:cs typeface="Segoe UI" panose="020B0502040204020203"/>
            </a:endParaRPr>
          </a:p>
          <a:p>
            <a:pPr marL="457200" indent="-457200" rtl="0">
              <a:lnSpc>
                <a:spcPct val="150000"/>
              </a:lnSpc>
              <a:buFont typeface="Wingdings" panose="05000000000000000000"/>
              <a:buChar char="ü"/>
            </a:pPr>
            <a:r>
              <a:rPr lang="en-US" sz="28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Begin the registration process with a valid email address.</a:t>
            </a:r>
            <a:r>
              <a:rPr lang="en-US" sz="2800" dirty="0">
                <a:latin typeface="Arial" panose="020B0604020202020204"/>
                <a:cs typeface="Arial" panose="020B0604020202020204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6671" y="1567543"/>
            <a:ext cx="751114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457200" indent="-457200">
              <a:buFont typeface="Wingdings" panose="05000000000000000000"/>
              <a:buChar char="Ø"/>
            </a:pPr>
            <a:r>
              <a:rPr lang="en-US" sz="2800" b="1" dirty="0">
                <a:solidFill>
                  <a:srgbClr val="0070C0"/>
                </a:solidFill>
                <a:latin typeface="Arial" panose="020B0604020202020204"/>
              </a:rPr>
              <a:t>Step 1: Start Intercepting</a:t>
            </a:r>
            <a:r>
              <a:rPr lang="en-US" sz="2800" dirty="0">
                <a:latin typeface="Arial" panose="020B0604020202020204"/>
              </a:rPr>
              <a:t>​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028700" y="4980215"/>
            <a:ext cx="751114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457200" indent="-457200">
              <a:buFont typeface="Wingdings" panose="05000000000000000000"/>
              <a:buChar char="Ø"/>
            </a:pPr>
            <a:r>
              <a:rPr lang="en-US" sz="2800" b="1" dirty="0">
                <a:solidFill>
                  <a:srgbClr val="0070C0"/>
                </a:solidFill>
                <a:latin typeface="Arial" panose="020B0604020202020204"/>
              </a:rPr>
              <a:t>Step 2: Send Request to Repeater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7724329" y="8812587"/>
            <a:ext cx="457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 Black" panose="020B0A04020102020204" pitchFamily="34" charset="0"/>
              </a:rPr>
              <a:t>34</a:t>
            </a:r>
          </a:p>
        </p:txBody>
      </p:sp>
    </p:spTree>
  </p:cSld>
  <p:clrMapOvr>
    <a:masterClrMapping/>
  </p:clrMapOvr>
  <p:transition spd="slow">
    <p:push dir="u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 descr="A screenshot of a computer&#10;&#10;AI-generated content may be incorrect."/>
          <p:cNvPicPr>
            <a:picLocks noChangeAspect="1"/>
          </p:cNvPicPr>
          <p:nvPr/>
        </p:nvPicPr>
        <p:blipFill>
          <a:blip r:embed="rId2"/>
          <a:srcRect l="23" r="34353"/>
          <a:stretch>
            <a:fillRect/>
          </a:stretch>
        </p:blipFill>
        <p:spPr>
          <a:xfrm>
            <a:off x="7640844" y="1223554"/>
            <a:ext cx="10513681" cy="4475829"/>
          </a:xfrm>
          <a:prstGeom prst="rect">
            <a:avLst/>
          </a:prstGeom>
        </p:spPr>
      </p:pic>
      <p:pic>
        <p:nvPicPr>
          <p:cNvPr id="6" name="Picture 1" descr="A screenshot of a computer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858" y="6689271"/>
            <a:ext cx="9809480" cy="3183437"/>
          </a:xfrm>
          <a:prstGeom prst="rect">
            <a:avLst/>
          </a:prstGeom>
        </p:spPr>
      </p:pic>
      <p:pic>
        <p:nvPicPr>
          <p:cNvPr id="7" name="Picture 6" descr="A blue and black logo&#10;&#10;AI-generated content may be incorrect.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400" y="80211"/>
            <a:ext cx="1065783" cy="1143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91885" y="391886"/>
            <a:ext cx="1337309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457200" indent="-457200">
              <a:buFont typeface="Wingdings" panose="05000000000000000000"/>
              <a:buChar char="Ø"/>
            </a:pPr>
            <a:r>
              <a:rPr lang="en-US" sz="2800" b="1" dirty="0">
                <a:solidFill>
                  <a:srgbClr val="0070C0"/>
                </a:solidFill>
                <a:latin typeface="Arial" panose="020B0604020202020204"/>
              </a:rPr>
              <a:t>Step 3: Create a Group of Requests at Intercepting​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7686" y="1061357"/>
            <a:ext cx="6286500" cy="32441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457200" indent="-457200" rtl="0">
              <a:lnSpc>
                <a:spcPct val="150000"/>
              </a:lnSpc>
              <a:buFont typeface="Wingdings" panose="05000000000000000000"/>
              <a:buChar char="ü"/>
            </a:pPr>
            <a:r>
              <a:rPr lang="en-US" sz="2800" dirty="0">
                <a:solidFill>
                  <a:srgbClr val="FFFFFF"/>
                </a:solidFill>
                <a:latin typeface="Arial" panose="020B0604020202020204"/>
                <a:cs typeface="Segoe UI" panose="020B0502040204020203"/>
              </a:rPr>
              <a:t>Repeat the request multiple times (ex: 10–20 copies).</a:t>
            </a:r>
            <a:r>
              <a:rPr lang="en-US" sz="2800" dirty="0">
                <a:latin typeface="Arial" panose="020B0604020202020204"/>
                <a:cs typeface="Segoe UI" panose="020B0502040204020203"/>
              </a:rPr>
              <a:t>​</a:t>
            </a:r>
            <a:endParaRPr lang="en-US" dirty="0">
              <a:solidFill>
                <a:srgbClr val="000000"/>
              </a:solidFill>
              <a:latin typeface="Arial" panose="020B0604020202020204"/>
              <a:cs typeface="Arial" panose="020B0604020202020204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/>
              <a:buChar char="ü"/>
            </a:pPr>
            <a:r>
              <a:rPr lang="en-US" sz="28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Use Burp’s Intruder or Turbo Intruder extension (or other tools) to prepare them</a:t>
            </a:r>
            <a:endParaRPr lang="en-US" dirty="0">
              <a:solidFill>
                <a:srgbClr val="00000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1886" y="6694715"/>
            <a:ext cx="7249884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457200" indent="-457200" rtl="0">
              <a:buFont typeface="Wingdings" panose="05000000000000000000"/>
              <a:buChar char="Ø"/>
            </a:pPr>
            <a:r>
              <a:rPr lang="en-US" sz="2800" b="1" dirty="0">
                <a:solidFill>
                  <a:srgbClr val="0070C0"/>
                </a:solidFill>
                <a:latin typeface="Arial" panose="020B0604020202020204"/>
              </a:rPr>
              <a:t>Step 4:Send Simultaneous Requests​</a:t>
            </a:r>
            <a:endParaRPr lang="en-US" dirty="0"/>
          </a:p>
          <a:p>
            <a:pPr rtl="0"/>
            <a:r>
              <a:rPr lang="en-US" dirty="0">
                <a:latin typeface="Arial" panose="020B0604020202020204"/>
                <a:cs typeface="Segoe UI" panose="020B0502040204020203"/>
              </a:rPr>
              <a:t>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7494814"/>
            <a:ext cx="666205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800">
                <a:solidFill>
                  <a:srgbClr val="FFFFFF"/>
                </a:solidFill>
                <a:latin typeface="Arial" panose="020B0604020202020204"/>
              </a:rPr>
              <a:t>Fire the group of requests in parallel.</a:t>
            </a:r>
            <a:r>
              <a:rPr lang="en-US" sz="2800">
                <a:latin typeface="Arial" panose="020B0604020202020204"/>
              </a:rPr>
              <a:t>​</a:t>
            </a:r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7799485" y="8877300"/>
            <a:ext cx="457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 Black" panose="020B0A04020102020204" pitchFamily="34" charset="0"/>
              </a:rPr>
              <a:t>35</a:t>
            </a:r>
          </a:p>
        </p:txBody>
      </p:sp>
    </p:spTree>
  </p:cSld>
  <p:clrMapOvr>
    <a:masterClrMapping/>
  </p:clrMapOvr>
  <p:transition spd="slow">
    <p:push dir="u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A screenshot of a computer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014" y="2356757"/>
            <a:ext cx="17338040" cy="4397375"/>
          </a:xfrm>
          <a:prstGeom prst="rect">
            <a:avLst/>
          </a:prstGeom>
        </p:spPr>
      </p:pic>
      <p:pic>
        <p:nvPicPr>
          <p:cNvPr id="4" name="Picture 3" descr="A blue and black logo&#10;&#10;AI-generated content may be incorrect.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75329" y="22058"/>
            <a:ext cx="1065783" cy="1143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10243" y="359229"/>
            <a:ext cx="7249884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457200" indent="-457200" rtl="0">
              <a:buFont typeface="Wingdings" panose="05000000000000000000"/>
              <a:buChar char="Ø"/>
            </a:pPr>
            <a:r>
              <a:rPr lang="en-US" sz="2800" b="1" dirty="0">
                <a:solidFill>
                  <a:srgbClr val="0070C0"/>
                </a:solidFill>
                <a:latin typeface="Arial" panose="020B0604020202020204"/>
              </a:rPr>
              <a:t>Step 5: Observe the Outcome​</a:t>
            </a:r>
          </a:p>
          <a:p>
            <a:pPr rtl="0"/>
            <a:r>
              <a:rPr lang="en-US" dirty="0">
                <a:latin typeface="Arial" panose="020B0604020202020204"/>
                <a:cs typeface="Segoe UI" panose="020B0502040204020203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734786" y="783772"/>
            <a:ext cx="17389928" cy="13070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2286000" lvl="4" indent="-457200" rtl="0">
              <a:lnSpc>
                <a:spcPct val="150000"/>
              </a:lnSpc>
              <a:buFont typeface="Wingdings" panose="05000000000000000000"/>
              <a:buChar char="ü"/>
            </a:pPr>
            <a:r>
              <a:rPr lang="en-US" sz="2800" dirty="0">
                <a:solidFill>
                  <a:srgbClr val="FFFFFF"/>
                </a:solidFill>
                <a:latin typeface="Times New Roman" panose="02020603050405020304"/>
                <a:cs typeface="Arial" panose="020B0604020202020204"/>
              </a:rPr>
              <a:t>Check the responses or user list.</a:t>
            </a:r>
            <a:r>
              <a:rPr lang="en-US" sz="2800" dirty="0">
                <a:latin typeface="Times New Roman" panose="02020603050405020304"/>
                <a:cs typeface="Arial" panose="020B0604020202020204"/>
              </a:rPr>
              <a:t>​</a:t>
            </a:r>
            <a:endParaRPr lang="en-US" dirty="0"/>
          </a:p>
          <a:p>
            <a:pPr marL="2286000" lvl="4" indent="-457200">
              <a:lnSpc>
                <a:spcPct val="150000"/>
              </a:lnSpc>
              <a:buFont typeface="Wingdings" panose="05000000000000000000"/>
              <a:buChar char="ü"/>
            </a:pPr>
            <a:r>
              <a:rPr lang="en-US" sz="2800" dirty="0">
                <a:solidFill>
                  <a:srgbClr val="FFFFFF"/>
                </a:solidFill>
                <a:latin typeface="Times New Roman" panose="02020603050405020304"/>
                <a:cs typeface="Arial" panose="020B0604020202020204"/>
              </a:rPr>
              <a:t>You will notice that multiple accounts have been successfully created with the same email address.</a:t>
            </a: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10243" y="7021286"/>
            <a:ext cx="597625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Arial" panose="020B0604020202020204"/>
              </a:rPr>
              <a:t>Expected Outcome:​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734786" y="7282543"/>
            <a:ext cx="16132628" cy="17851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rtl="0"/>
            <a:endParaRPr lang="en-US" sz="2800" b="1" dirty="0">
              <a:solidFill>
                <a:srgbClr val="0070C0"/>
              </a:solidFill>
              <a:latin typeface="Arial" panose="020B0604020202020204"/>
            </a:endParaRPr>
          </a:p>
          <a:p>
            <a:pPr marL="2400300" lvl="4" indent="-571500" rtl="0">
              <a:buFont typeface="Wingdings" panose="05000000000000000000"/>
              <a:buChar char="ü"/>
            </a:pPr>
            <a:r>
              <a:rPr lang="en-US" sz="3200" dirty="0">
                <a:solidFill>
                  <a:srgbClr val="FFFFFF"/>
                </a:solidFill>
                <a:latin typeface="Times New Roman" panose="02020603050405020304"/>
                <a:cs typeface="Arial" panose="020B0604020202020204"/>
              </a:rPr>
              <a:t>The application fails to enforce the unique email constraint underload.</a:t>
            </a:r>
            <a:r>
              <a:rPr lang="en-US" sz="3200" dirty="0">
                <a:latin typeface="Times New Roman" panose="02020603050405020304"/>
                <a:cs typeface="Arial" panose="020B0604020202020204"/>
              </a:rPr>
              <a:t>​​</a:t>
            </a:r>
          </a:p>
          <a:p>
            <a:pPr marL="2400300" lvl="4" indent="-571500" rtl="0">
              <a:buFont typeface="Wingdings" panose="05000000000000000000"/>
              <a:buChar char="ü"/>
            </a:pPr>
            <a:endParaRPr lang="en-US" dirty="0">
              <a:latin typeface="Arial" panose="020B0604020202020204"/>
              <a:cs typeface="Arial" panose="020B0604020202020204"/>
            </a:endParaRPr>
          </a:p>
          <a:p>
            <a:pPr marL="2400300" lvl="4" indent="-571500" rtl="0">
              <a:buFont typeface="Wingdings" panose="05000000000000000000"/>
              <a:buChar char="ü"/>
            </a:pPr>
            <a:r>
              <a:rPr lang="en-US" sz="3200" dirty="0">
                <a:solidFill>
                  <a:srgbClr val="FFFFFF"/>
                </a:solidFill>
                <a:latin typeface="Times New Roman" panose="02020603050405020304"/>
                <a:cs typeface="Arial" panose="020B0604020202020204"/>
              </a:rPr>
              <a:t>Multiple accounts using the same email are created.</a:t>
            </a:r>
            <a:r>
              <a:rPr lang="en-US" sz="3200" dirty="0">
                <a:latin typeface="Times New Roman" panose="02020603050405020304"/>
                <a:cs typeface="Arial" panose="020B0604020202020204"/>
              </a:rPr>
              <a:t>​​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7724329" y="8790648"/>
            <a:ext cx="457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 Black" panose="020B0A04020102020204" pitchFamily="34" charset="0"/>
              </a:rPr>
              <a:t>36</a:t>
            </a:r>
          </a:p>
        </p:txBody>
      </p:sp>
    </p:spTree>
  </p:cSld>
  <p:clrMapOvr>
    <a:masterClrMapping/>
  </p:clrMapOvr>
  <p:transition spd="slow">
    <p:push dir="u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black logo&#10;&#10;AI-generated content may be incorrect.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908" y="0"/>
            <a:ext cx="1065783" cy="114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8457" y="620486"/>
            <a:ext cx="360861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3200" b="1" dirty="0">
                <a:solidFill>
                  <a:srgbClr val="00B0F0"/>
                </a:solidFill>
                <a:latin typeface="Arial" panose="020B0604020202020204"/>
              </a:rPr>
              <a:t>Conclusion:</a:t>
            </a:r>
            <a:endParaRPr lang="en-US" sz="3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87929" y="1567543"/>
            <a:ext cx="15495813" cy="19514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FFFFFF"/>
                </a:solidFill>
                <a:latin typeface="Arial" panose="020B0604020202020204"/>
                <a:cs typeface="Segoe UI" panose="020B0502040204020203"/>
              </a:rPr>
              <a:t>This lab demonstrated how Race Condition vulnerabilities arise when a system does not handle concurrent requests safely. By sending parallel registration requests, you exploited a gap between the email check and database update, known as </a:t>
            </a:r>
            <a:r>
              <a:rPr lang="en-US" sz="2800" dirty="0" err="1">
                <a:solidFill>
                  <a:srgbClr val="FFFFFF"/>
                </a:solidFill>
                <a:latin typeface="Arial" panose="020B0604020202020204"/>
                <a:cs typeface="Segoe UI" panose="020B0502040204020203"/>
              </a:rPr>
              <a:t>aTOCTOU</a:t>
            </a:r>
            <a:r>
              <a:rPr lang="en-US" sz="2800" dirty="0">
                <a:solidFill>
                  <a:srgbClr val="FFFFFF"/>
                </a:solidFill>
                <a:latin typeface="Arial" panose="020B0604020202020204"/>
                <a:cs typeface="Segoe UI" panose="020B0502040204020203"/>
              </a:rPr>
              <a:t> flaw.</a:t>
            </a:r>
            <a:endParaRPr lang="en-US" sz="28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87929" y="4016829"/>
            <a:ext cx="793568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Arial" panose="020B0604020202020204"/>
              </a:rPr>
              <a:t>To mitigate this issue, developers should:</a:t>
            </a:r>
            <a:endParaRPr lang="en-US" sz="2800">
              <a:solidFill>
                <a:srgbClr val="0070C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7971" y="4718957"/>
            <a:ext cx="8964385" cy="22398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2286000" lvl="4" indent="-457200" rtl="0">
              <a:lnSpc>
                <a:spcPct val="150000"/>
              </a:lnSpc>
              <a:buFont typeface="Wingdings" panose="05000000000000000000"/>
              <a:buChar char="ü"/>
            </a:pPr>
            <a:r>
              <a:rPr lang="en-US" sz="24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Use atomic database operations</a:t>
            </a:r>
            <a:r>
              <a:rPr lang="en-US" sz="2400" dirty="0">
                <a:latin typeface="Arial" panose="020B0604020202020204"/>
                <a:cs typeface="Arial" panose="020B0604020202020204"/>
              </a:rPr>
              <a:t>​</a:t>
            </a:r>
          </a:p>
          <a:p>
            <a:pPr marL="2286000" lvl="4" indent="-457200" rtl="0">
              <a:lnSpc>
                <a:spcPct val="150000"/>
              </a:lnSpc>
              <a:buFont typeface="Wingdings" panose="05000000000000000000"/>
              <a:buChar char="ü"/>
            </a:pPr>
            <a:r>
              <a:rPr lang="en-US" sz="24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Implement locking mechanisms or mutexes</a:t>
            </a:r>
            <a:r>
              <a:rPr lang="en-US" sz="2400" dirty="0">
                <a:latin typeface="Arial" panose="020B0604020202020204"/>
                <a:cs typeface="Arial" panose="020B0604020202020204"/>
              </a:rPr>
              <a:t>​</a:t>
            </a:r>
          </a:p>
          <a:p>
            <a:pPr marL="2286000" lvl="4" indent="-457200" rtl="0">
              <a:lnSpc>
                <a:spcPct val="150000"/>
              </a:lnSpc>
              <a:buFont typeface="Wingdings" panose="05000000000000000000"/>
              <a:buChar char="ü"/>
            </a:pPr>
            <a:r>
              <a:rPr lang="en-US" sz="240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Validate constraints at the database level, not just in application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456" y="7707086"/>
            <a:ext cx="1668779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ctr"/>
            <a:r>
              <a:rPr lang="en-US" sz="3600" u="sng" dirty="0">
                <a:solidFill>
                  <a:srgbClr val="62F1F9"/>
                </a:solidFill>
                <a:latin typeface="Arial" panose="020B0604020202020204"/>
                <a:cs typeface="Segoe UI" panose="020B0502040204020203"/>
              </a:rPr>
              <a:t>Race Conditions can lead to privilege escalation, data inconsistency, and resource abuse, and are a serious threat outlined in the OWASP Top 10.</a:t>
            </a:r>
            <a:endParaRPr lang="en-US" sz="3600" u="sng" dirty="0">
              <a:solidFill>
                <a:srgbClr val="62F1F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754091" y="8768915"/>
            <a:ext cx="457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 Black" panose="020B0A04020102020204" pitchFamily="34" charset="0"/>
              </a:rPr>
              <a:t>37</a:t>
            </a:r>
          </a:p>
        </p:txBody>
      </p:sp>
    </p:spTree>
  </p:cSld>
  <p:clrMapOvr>
    <a:masterClrMapping/>
  </p:clrMapOvr>
  <p:transition spd="slow">
    <p:push dir="u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EDC933-E499-8D8C-1475-1D6A7E7B9282}"/>
              </a:ext>
            </a:extLst>
          </p:cNvPr>
          <p:cNvSpPr txBox="1"/>
          <p:nvPr/>
        </p:nvSpPr>
        <p:spPr>
          <a:xfrm>
            <a:off x="4669397" y="605308"/>
            <a:ext cx="8646919" cy="20159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500" dirty="0">
                <a:solidFill>
                  <a:schemeClr val="accent1"/>
                </a:solidFill>
              </a:rPr>
              <a:t>Future work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BA7BD9-FC7B-9E94-5DF8-E82B1236CA54}"/>
              </a:ext>
            </a:extLst>
          </p:cNvPr>
          <p:cNvSpPr txBox="1"/>
          <p:nvPr/>
        </p:nvSpPr>
        <p:spPr>
          <a:xfrm>
            <a:off x="1719697" y="2928334"/>
            <a:ext cx="1601451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1- Website Deployment</a:t>
            </a:r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Launch the </a:t>
            </a:r>
            <a:r>
              <a:rPr lang="en-US" sz="3200" dirty="0" err="1">
                <a:solidFill>
                  <a:schemeClr val="bg1"/>
                </a:solidFill>
              </a:rPr>
              <a:t>CyberLabs</a:t>
            </a:r>
            <a:r>
              <a:rPr lang="en-US" sz="3200" dirty="0">
                <a:solidFill>
                  <a:schemeClr val="bg1"/>
                </a:solidFill>
              </a:rPr>
              <a:t> platform online to make it accessible to users.</a:t>
            </a:r>
          </a:p>
          <a:p>
            <a:endParaRPr lang="en-US" sz="3200" b="1" dirty="0">
              <a:solidFill>
                <a:schemeClr val="bg1"/>
              </a:solidFill>
            </a:endParaRPr>
          </a:p>
          <a:p>
            <a:r>
              <a:rPr lang="en-US" sz="3200" b="1" dirty="0">
                <a:solidFill>
                  <a:schemeClr val="bg1"/>
                </a:solidFill>
              </a:rPr>
              <a:t>2- Mobile Application Development:</a:t>
            </a:r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Build a mobile version of the platform to enhance accessibility and usability on smartphones.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b="1" dirty="0">
                <a:solidFill>
                  <a:schemeClr val="bg1"/>
                </a:solidFill>
              </a:rPr>
              <a:t>3- Expansion of Content:</a:t>
            </a:r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Add more cybersecurity topics and interactive labs to cover a broader range of skills and concepts.</a:t>
            </a:r>
          </a:p>
        </p:txBody>
      </p:sp>
    </p:spTree>
    <p:extLst>
      <p:ext uri="{BB962C8B-B14F-4D97-AF65-F5344CB8AC3E}">
        <p14:creationId xmlns:p14="http://schemas.microsoft.com/office/powerpoint/2010/main" val="4267378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3983117" y="2351808"/>
            <a:ext cx="10321925" cy="3956852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algn="ctr">
              <a:spcBef>
                <a:spcPts val="135"/>
              </a:spcBef>
            </a:pPr>
            <a:r>
              <a:rPr sz="25600" spc="-5865" dirty="0">
                <a:solidFill>
                  <a:srgbClr val="62F1F9"/>
                </a:solidFill>
                <a:latin typeface="Trebuchet MS" panose="020B0603020202020204"/>
                <a:cs typeface="Trebuchet MS" panose="020B0603020202020204"/>
              </a:rPr>
              <a:t>THANK</a:t>
            </a:r>
            <a:r>
              <a:rPr lang="en-US" sz="25600" spc="-3975" dirty="0">
                <a:solidFill>
                  <a:srgbClr val="62F1F9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25600" spc="-6700" dirty="0">
                <a:solidFill>
                  <a:srgbClr val="62F1F9"/>
                </a:solidFill>
                <a:latin typeface="Trebuchet MS" panose="020B0603020202020204"/>
                <a:cs typeface="Trebuchet MS" panose="020B0603020202020204"/>
              </a:rPr>
              <a:t>YOU</a:t>
            </a:r>
            <a:endParaRPr lang="en-US" sz="25600" dirty="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2" name="Picture 1" descr="A blue and black logo&#10;&#10;AI-generated content may be incorrect.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7417" y="8873"/>
            <a:ext cx="1065783" cy="1143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799485" y="8877300"/>
            <a:ext cx="457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 Black" panose="020B0A04020102020204" pitchFamily="34" charset="0"/>
              </a:rPr>
              <a:t>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1329</TotalTime>
  <Words>2262</Words>
  <Application>Microsoft Office PowerPoint</Application>
  <PresentationFormat>Custom</PresentationFormat>
  <Paragraphs>337</Paragraphs>
  <Slides>46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8" baseType="lpstr">
      <vt:lpstr>Aptos</vt:lpstr>
      <vt:lpstr>Arabic Typesetting</vt:lpstr>
      <vt:lpstr>Arial</vt:lpstr>
      <vt:lpstr>Arial Black</vt:lpstr>
      <vt:lpstr>Arial Unicode MS</vt:lpstr>
      <vt:lpstr>Calibri</vt:lpstr>
      <vt:lpstr>Consolas</vt:lpstr>
      <vt:lpstr>Tahoma</vt:lpstr>
      <vt:lpstr>Times New Roman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Problem Statement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Futuristic Cyber Security Presentation</dc:title>
  <dc:creator>Ahmed Sherif</dc:creator>
  <cp:keywords>DAGsv25JTJM,BAFrto06bno,0</cp:keywords>
  <cp:lastModifiedBy>احمد ابراهيم السيد رضوان</cp:lastModifiedBy>
  <cp:revision>992</cp:revision>
  <dcterms:created xsi:type="dcterms:W3CDTF">2025-07-10T07:05:00Z</dcterms:created>
  <dcterms:modified xsi:type="dcterms:W3CDTF">2025-07-15T23:18:07Z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2025-07-10T03:00:00Z</vt:filetime>
  </property>
  <property fmtid="{D5CDD505-2E9C-101B-9397-08002B2CF9AE}" pid="3" name="Creator">
    <vt:lpwstr>Canva</vt:lpwstr>
  </property>
  <property fmtid="{D5CDD505-2E9C-101B-9397-08002B2CF9AE}" pid="4" name="LastSaved">
    <vt:filetime>2025-07-10T03:00:00Z</vt:filetime>
  </property>
  <property fmtid="{D5CDD505-2E9C-101B-9397-08002B2CF9AE}" pid="5" name="Producer">
    <vt:lpwstr>Canva</vt:lpwstr>
  </property>
  <property fmtid="{D5CDD505-2E9C-101B-9397-08002B2CF9AE}" pid="6" name="ICV">
    <vt:lpwstr>57DA1AB65E4F4CB9B4AEDCE7D9F91041_12</vt:lpwstr>
  </property>
  <property fmtid="{D5CDD505-2E9C-101B-9397-08002B2CF9AE}" pid="7" name="KSOProductBuildVer">
    <vt:lpwstr>2057-12.2.0.21602</vt:lpwstr>
  </property>
</Properties>
</file>